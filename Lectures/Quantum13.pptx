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0" r:id="rId2"/>
    <p:sldId id="405" r:id="rId3"/>
    <p:sldId id="371" r:id="rId4"/>
    <p:sldId id="372" r:id="rId5"/>
    <p:sldId id="373" r:id="rId6"/>
    <p:sldId id="414" r:id="rId7"/>
    <p:sldId id="415" r:id="rId8"/>
    <p:sldId id="416" r:id="rId9"/>
    <p:sldId id="375" r:id="rId10"/>
    <p:sldId id="378" r:id="rId11"/>
    <p:sldId id="380" r:id="rId12"/>
    <p:sldId id="379" r:id="rId13"/>
    <p:sldId id="381" r:id="rId14"/>
    <p:sldId id="382" r:id="rId15"/>
    <p:sldId id="384" r:id="rId16"/>
    <p:sldId id="369" r:id="rId17"/>
    <p:sldId id="41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AE7"/>
    <a:srgbClr val="FF8887"/>
    <a:srgbClr val="E1DFE2"/>
    <a:srgbClr val="FBFBFB"/>
    <a:srgbClr val="93549F"/>
    <a:srgbClr val="F7F7F5"/>
    <a:srgbClr val="F9FBF8"/>
    <a:srgbClr val="660874"/>
    <a:srgbClr val="5C307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52"/>
    <p:restoredTop sz="96534"/>
  </p:normalViewPr>
  <p:slideViewPr>
    <p:cSldViewPr snapToGrid="0" snapToObjects="1">
      <p:cViewPr varScale="1">
        <p:scale>
          <a:sx n="222" d="100"/>
          <a:sy n="222" d="100"/>
        </p:scale>
        <p:origin x="34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3" d="100"/>
          <a:sy n="103" d="100"/>
        </p:scale>
        <p:origin x="383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70349-95C4-E845-995E-F1D6AE6221DD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F5500F-B79D-DD44-A2E7-BFBD63E69757}">
      <dgm:prSet phldrT="[Text]"/>
      <dgm:spPr/>
      <dgm:t>
        <a:bodyPr/>
        <a:lstStyle/>
        <a:p>
          <a:r>
            <a:rPr lang="en-US" dirty="0" err="1"/>
            <a:t>量子信息</a:t>
          </a:r>
          <a:endParaRPr lang="en-US" dirty="0"/>
        </a:p>
      </dgm:t>
    </dgm:pt>
    <dgm:pt modelId="{C590102C-0925-624F-AC6D-1501411F927B}" type="parTrans" cxnId="{F54E7F45-C20F-6148-BD2C-DFFE9D7E7C57}">
      <dgm:prSet/>
      <dgm:spPr/>
      <dgm:t>
        <a:bodyPr/>
        <a:lstStyle/>
        <a:p>
          <a:endParaRPr lang="en-US"/>
        </a:p>
      </dgm:t>
    </dgm:pt>
    <dgm:pt modelId="{5BE95C84-620D-CC4B-AEE0-449E854E1605}" type="sibTrans" cxnId="{F54E7F45-C20F-6148-BD2C-DFFE9D7E7C57}">
      <dgm:prSet/>
      <dgm:spPr/>
      <dgm:t>
        <a:bodyPr/>
        <a:lstStyle/>
        <a:p>
          <a:endParaRPr lang="en-US"/>
        </a:p>
      </dgm:t>
    </dgm:pt>
    <dgm:pt modelId="{CDEE4630-1B17-604D-8CB6-B62FEF787F63}">
      <dgm:prSet phldrT="[Text]"/>
      <dgm:spPr/>
      <dgm:t>
        <a:bodyPr/>
        <a:lstStyle/>
        <a:p>
          <a:r>
            <a:rPr lang="en-US" dirty="0" err="1"/>
            <a:t>噪声</a:t>
          </a:r>
          <a:endParaRPr lang="en-US" dirty="0"/>
        </a:p>
      </dgm:t>
    </dgm:pt>
    <dgm:pt modelId="{4E9C6D63-BC3F-A54B-B550-ACEE3D156BA4}" type="parTrans" cxnId="{043EA117-7053-474C-94F5-B1C974B4F03D}">
      <dgm:prSet/>
      <dgm:spPr/>
      <dgm:t>
        <a:bodyPr/>
        <a:lstStyle/>
        <a:p>
          <a:endParaRPr lang="en-US"/>
        </a:p>
      </dgm:t>
    </dgm:pt>
    <dgm:pt modelId="{63F75940-C346-B34D-AE8B-F9DF062B1E2B}" type="sibTrans" cxnId="{043EA117-7053-474C-94F5-B1C974B4F03D}">
      <dgm:prSet/>
      <dgm:spPr/>
      <dgm:t>
        <a:bodyPr/>
        <a:lstStyle/>
        <a:p>
          <a:endParaRPr lang="en-US"/>
        </a:p>
      </dgm:t>
    </dgm:pt>
    <dgm:pt modelId="{E3FA1DAC-3169-C24B-B206-05B3BF4CF67E}">
      <dgm:prSet phldrT="[Text]"/>
      <dgm:spPr/>
      <dgm:t>
        <a:bodyPr/>
        <a:lstStyle/>
        <a:p>
          <a:r>
            <a:rPr lang="en-US" dirty="0" err="1"/>
            <a:t>含噪量子信息</a:t>
          </a:r>
          <a:endParaRPr lang="en-US" dirty="0"/>
        </a:p>
      </dgm:t>
    </dgm:pt>
    <dgm:pt modelId="{E3846886-FCB4-4846-B078-7764ED9B6B91}" type="parTrans" cxnId="{747DD62B-BF8E-CF41-A2F7-F4120440BB84}">
      <dgm:prSet/>
      <dgm:spPr/>
      <dgm:t>
        <a:bodyPr/>
        <a:lstStyle/>
        <a:p>
          <a:endParaRPr lang="en-US"/>
        </a:p>
      </dgm:t>
    </dgm:pt>
    <dgm:pt modelId="{54417E6B-0C35-1A41-80F4-799A80BE58CE}" type="sibTrans" cxnId="{747DD62B-BF8E-CF41-A2F7-F4120440BB84}">
      <dgm:prSet/>
      <dgm:spPr/>
      <dgm:t>
        <a:bodyPr/>
        <a:lstStyle/>
        <a:p>
          <a:endParaRPr lang="en-US"/>
        </a:p>
      </dgm:t>
    </dgm:pt>
    <dgm:pt modelId="{49DD7161-E294-DA4C-91BB-4B4CE48A1B7E}">
      <dgm:prSet phldrT="[Text]"/>
      <dgm:spPr/>
      <dgm:t>
        <a:bodyPr/>
        <a:lstStyle/>
        <a:p>
          <a:r>
            <a:rPr lang="en-CN" dirty="0"/>
            <a:t>恢复后的量子信息</a:t>
          </a:r>
          <a:endParaRPr lang="en-US" dirty="0"/>
        </a:p>
      </dgm:t>
    </dgm:pt>
    <dgm:pt modelId="{AF199CA3-FFEB-9F48-868D-8081FE4BC9E5}" type="parTrans" cxnId="{7754554A-E495-6647-80EE-5983D11A999C}">
      <dgm:prSet/>
      <dgm:spPr/>
      <dgm:t>
        <a:bodyPr/>
        <a:lstStyle/>
        <a:p>
          <a:endParaRPr lang="en-US"/>
        </a:p>
      </dgm:t>
    </dgm:pt>
    <dgm:pt modelId="{89F00BC1-7FBC-3E48-A6F8-D5A9ECEAD718}" type="sibTrans" cxnId="{7754554A-E495-6647-80EE-5983D11A999C}">
      <dgm:prSet/>
      <dgm:spPr/>
      <dgm:t>
        <a:bodyPr/>
        <a:lstStyle/>
        <a:p>
          <a:endParaRPr lang="en-US"/>
        </a:p>
      </dgm:t>
    </dgm:pt>
    <dgm:pt modelId="{9CD9A680-FAD8-A74A-9E06-C3D69CF15E86}">
      <dgm:prSet phldrT="[Text]"/>
      <dgm:spPr/>
      <dgm:t>
        <a:bodyPr/>
        <a:lstStyle/>
        <a:p>
          <a:r>
            <a:rPr lang="en-US" dirty="0" err="1"/>
            <a:t>错误检测</a:t>
          </a:r>
          <a:endParaRPr lang="en-US" dirty="0"/>
        </a:p>
      </dgm:t>
    </dgm:pt>
    <dgm:pt modelId="{B687DE1A-BB75-A54F-A395-F2F39CB5D2A3}" type="parTrans" cxnId="{3CB38250-D92C-404A-A57D-7D1D9878AA2A}">
      <dgm:prSet/>
      <dgm:spPr/>
      <dgm:t>
        <a:bodyPr/>
        <a:lstStyle/>
        <a:p>
          <a:endParaRPr lang="en-US"/>
        </a:p>
      </dgm:t>
    </dgm:pt>
    <dgm:pt modelId="{F0579EC2-7BF8-E14B-8D59-60B935E1410E}" type="sibTrans" cxnId="{3CB38250-D92C-404A-A57D-7D1D9878AA2A}">
      <dgm:prSet/>
      <dgm:spPr/>
      <dgm:t>
        <a:bodyPr/>
        <a:lstStyle/>
        <a:p>
          <a:endParaRPr lang="en-US"/>
        </a:p>
      </dgm:t>
    </dgm:pt>
    <dgm:pt modelId="{A778376F-EB1B-C943-8DCA-761C62F96820}">
      <dgm:prSet phldrT="[Text]"/>
      <dgm:spPr/>
      <dgm:t>
        <a:bodyPr/>
        <a:lstStyle/>
        <a:p>
          <a:r>
            <a:rPr lang="en-US" dirty="0" err="1"/>
            <a:t>状态恢复</a:t>
          </a:r>
          <a:endParaRPr lang="en-US" dirty="0"/>
        </a:p>
      </dgm:t>
    </dgm:pt>
    <dgm:pt modelId="{2ECA06A2-6797-0445-BDA9-F7F2FC332B1A}" type="parTrans" cxnId="{F468C227-0A50-2641-8637-C5AE3F182020}">
      <dgm:prSet/>
      <dgm:spPr/>
      <dgm:t>
        <a:bodyPr/>
        <a:lstStyle/>
        <a:p>
          <a:endParaRPr lang="en-US"/>
        </a:p>
      </dgm:t>
    </dgm:pt>
    <dgm:pt modelId="{743228AA-4E91-9045-9D28-BA48B999C5A5}" type="sibTrans" cxnId="{F468C227-0A50-2641-8637-C5AE3F182020}">
      <dgm:prSet/>
      <dgm:spPr/>
      <dgm:t>
        <a:bodyPr/>
        <a:lstStyle/>
        <a:p>
          <a:endParaRPr lang="en-US"/>
        </a:p>
      </dgm:t>
    </dgm:pt>
    <dgm:pt modelId="{0F1217E1-9D62-8642-B050-B48C51ACFD13}" type="pres">
      <dgm:prSet presAssocID="{94170349-95C4-E845-995E-F1D6AE6221DD}" presName="theList" presStyleCnt="0">
        <dgm:presLayoutVars>
          <dgm:dir/>
          <dgm:animLvl val="lvl"/>
          <dgm:resizeHandles val="exact"/>
        </dgm:presLayoutVars>
      </dgm:prSet>
      <dgm:spPr/>
    </dgm:pt>
    <dgm:pt modelId="{8C8E87EB-87F2-354F-A927-402ECEF756C7}" type="pres">
      <dgm:prSet presAssocID="{DFF5500F-B79D-DD44-A2E7-BFBD63E69757}" presName="compNode" presStyleCnt="0"/>
      <dgm:spPr/>
    </dgm:pt>
    <dgm:pt modelId="{1CC99E96-DBCB-BB40-AE1E-F7AF87E98DE8}" type="pres">
      <dgm:prSet presAssocID="{DFF5500F-B79D-DD44-A2E7-BFBD63E69757}" presName="noGeometry" presStyleCnt="0"/>
      <dgm:spPr/>
    </dgm:pt>
    <dgm:pt modelId="{A50819C4-6068-DE43-88D0-C9BB70CC7AA6}" type="pres">
      <dgm:prSet presAssocID="{DFF5500F-B79D-DD44-A2E7-BFBD63E69757}" presName="childTextVisible" presStyleLbl="bgAccFollowNode1" presStyleIdx="0" presStyleCnt="3">
        <dgm:presLayoutVars>
          <dgm:bulletEnabled val="1"/>
        </dgm:presLayoutVars>
      </dgm:prSet>
      <dgm:spPr/>
    </dgm:pt>
    <dgm:pt modelId="{9C2AF330-E84E-0140-8DDA-CA2C2818DBC4}" type="pres">
      <dgm:prSet presAssocID="{DFF5500F-B79D-DD44-A2E7-BFBD63E69757}" presName="childTextHidden" presStyleLbl="bgAccFollowNode1" presStyleIdx="0" presStyleCnt="3"/>
      <dgm:spPr/>
    </dgm:pt>
    <dgm:pt modelId="{2053D846-0027-5F43-AEEC-359ED69F65C9}" type="pres">
      <dgm:prSet presAssocID="{DFF5500F-B79D-DD44-A2E7-BFBD63E6975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2013DE4-0338-624A-808E-999C2ACE9336}" type="pres">
      <dgm:prSet presAssocID="{DFF5500F-B79D-DD44-A2E7-BFBD63E69757}" presName="aSpace" presStyleCnt="0"/>
      <dgm:spPr/>
    </dgm:pt>
    <dgm:pt modelId="{4D78F50A-7ACE-1C47-A494-663A0C5E4273}" type="pres">
      <dgm:prSet presAssocID="{E3FA1DAC-3169-C24B-B206-05B3BF4CF67E}" presName="compNode" presStyleCnt="0"/>
      <dgm:spPr/>
    </dgm:pt>
    <dgm:pt modelId="{4787C681-D76F-0649-94B8-88F02CE08369}" type="pres">
      <dgm:prSet presAssocID="{E3FA1DAC-3169-C24B-B206-05B3BF4CF67E}" presName="noGeometry" presStyleCnt="0"/>
      <dgm:spPr/>
    </dgm:pt>
    <dgm:pt modelId="{E0396F39-677F-2347-8150-2F8880AED660}" type="pres">
      <dgm:prSet presAssocID="{E3FA1DAC-3169-C24B-B206-05B3BF4CF67E}" presName="childTextVisible" presStyleLbl="bgAccFollowNode1" presStyleIdx="1" presStyleCnt="3">
        <dgm:presLayoutVars>
          <dgm:bulletEnabled val="1"/>
        </dgm:presLayoutVars>
      </dgm:prSet>
      <dgm:spPr/>
    </dgm:pt>
    <dgm:pt modelId="{1F1F158D-971D-564C-8414-3F891944CE66}" type="pres">
      <dgm:prSet presAssocID="{E3FA1DAC-3169-C24B-B206-05B3BF4CF67E}" presName="childTextHidden" presStyleLbl="bgAccFollowNode1" presStyleIdx="1" presStyleCnt="3"/>
      <dgm:spPr/>
    </dgm:pt>
    <dgm:pt modelId="{1D385F9E-BF15-1646-AFFF-0FE2F17EF1C8}" type="pres">
      <dgm:prSet presAssocID="{E3FA1DAC-3169-C24B-B206-05B3BF4CF67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833F46A-31CB-F748-94CF-57B751591442}" type="pres">
      <dgm:prSet presAssocID="{E3FA1DAC-3169-C24B-B206-05B3BF4CF67E}" presName="aSpace" presStyleCnt="0"/>
      <dgm:spPr/>
    </dgm:pt>
    <dgm:pt modelId="{AB1736D7-4EE0-7247-8404-8ED4A5680B03}" type="pres">
      <dgm:prSet presAssocID="{49DD7161-E294-DA4C-91BB-4B4CE48A1B7E}" presName="compNode" presStyleCnt="0"/>
      <dgm:spPr/>
    </dgm:pt>
    <dgm:pt modelId="{F661B848-0A64-DE4D-AC47-B7871B46C74F}" type="pres">
      <dgm:prSet presAssocID="{49DD7161-E294-DA4C-91BB-4B4CE48A1B7E}" presName="noGeometry" presStyleCnt="0"/>
      <dgm:spPr/>
    </dgm:pt>
    <dgm:pt modelId="{C2DA4CDC-3302-894A-9C2D-F6B471D46399}" type="pres">
      <dgm:prSet presAssocID="{49DD7161-E294-DA4C-91BB-4B4CE48A1B7E}" presName="childTextVisible" presStyleLbl="bgAccFollowNode1" presStyleIdx="2" presStyleCnt="3">
        <dgm:presLayoutVars>
          <dgm:bulletEnabled val="1"/>
        </dgm:presLayoutVars>
      </dgm:prSet>
      <dgm:spPr/>
    </dgm:pt>
    <dgm:pt modelId="{002FBF82-F2EA-CD4D-ADF2-2F3816C967E4}" type="pres">
      <dgm:prSet presAssocID="{49DD7161-E294-DA4C-91BB-4B4CE48A1B7E}" presName="childTextHidden" presStyleLbl="bgAccFollowNode1" presStyleIdx="2" presStyleCnt="3"/>
      <dgm:spPr/>
    </dgm:pt>
    <dgm:pt modelId="{D27078BC-4786-E64C-AE83-47A9021D43F9}" type="pres">
      <dgm:prSet presAssocID="{49DD7161-E294-DA4C-91BB-4B4CE48A1B7E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043EA117-7053-474C-94F5-B1C974B4F03D}" srcId="{DFF5500F-B79D-DD44-A2E7-BFBD63E69757}" destId="{CDEE4630-1B17-604D-8CB6-B62FEF787F63}" srcOrd="0" destOrd="0" parTransId="{4E9C6D63-BC3F-A54B-B550-ACEE3D156BA4}" sibTransId="{63F75940-C346-B34D-AE8B-F9DF062B1E2B}"/>
    <dgm:cxn modelId="{F468C227-0A50-2641-8637-C5AE3F182020}" srcId="{E3FA1DAC-3169-C24B-B206-05B3BF4CF67E}" destId="{A778376F-EB1B-C943-8DCA-761C62F96820}" srcOrd="1" destOrd="0" parTransId="{2ECA06A2-6797-0445-BDA9-F7F2FC332B1A}" sibTransId="{743228AA-4E91-9045-9D28-BA48B999C5A5}"/>
    <dgm:cxn modelId="{643AB929-D196-BF4A-AA74-118173BA9CDD}" type="presOf" srcId="{DFF5500F-B79D-DD44-A2E7-BFBD63E69757}" destId="{2053D846-0027-5F43-AEEC-359ED69F65C9}" srcOrd="0" destOrd="0" presId="urn:microsoft.com/office/officeart/2005/8/layout/hProcess6"/>
    <dgm:cxn modelId="{747DD62B-BF8E-CF41-A2F7-F4120440BB84}" srcId="{94170349-95C4-E845-995E-F1D6AE6221DD}" destId="{E3FA1DAC-3169-C24B-B206-05B3BF4CF67E}" srcOrd="1" destOrd="0" parTransId="{E3846886-FCB4-4846-B078-7764ED9B6B91}" sibTransId="{54417E6B-0C35-1A41-80F4-799A80BE58CE}"/>
    <dgm:cxn modelId="{6435B343-697B-484F-A3CA-D8B19152EAF0}" type="presOf" srcId="{49DD7161-E294-DA4C-91BB-4B4CE48A1B7E}" destId="{D27078BC-4786-E64C-AE83-47A9021D43F9}" srcOrd="0" destOrd="0" presId="urn:microsoft.com/office/officeart/2005/8/layout/hProcess6"/>
    <dgm:cxn modelId="{F54E7F45-C20F-6148-BD2C-DFFE9D7E7C57}" srcId="{94170349-95C4-E845-995E-F1D6AE6221DD}" destId="{DFF5500F-B79D-DD44-A2E7-BFBD63E69757}" srcOrd="0" destOrd="0" parTransId="{C590102C-0925-624F-AC6D-1501411F927B}" sibTransId="{5BE95C84-620D-CC4B-AEE0-449E854E1605}"/>
    <dgm:cxn modelId="{7754554A-E495-6647-80EE-5983D11A999C}" srcId="{94170349-95C4-E845-995E-F1D6AE6221DD}" destId="{49DD7161-E294-DA4C-91BB-4B4CE48A1B7E}" srcOrd="2" destOrd="0" parTransId="{AF199CA3-FFEB-9F48-868D-8081FE4BC9E5}" sibTransId="{89F00BC1-7FBC-3E48-A6F8-D5A9ECEAD718}"/>
    <dgm:cxn modelId="{3CB38250-D92C-404A-A57D-7D1D9878AA2A}" srcId="{E3FA1DAC-3169-C24B-B206-05B3BF4CF67E}" destId="{9CD9A680-FAD8-A74A-9E06-C3D69CF15E86}" srcOrd="0" destOrd="0" parTransId="{B687DE1A-BB75-A54F-A395-F2F39CB5D2A3}" sibTransId="{F0579EC2-7BF8-E14B-8D59-60B935E1410E}"/>
    <dgm:cxn modelId="{90F0DA61-3B45-654A-8C8C-956E97996551}" type="presOf" srcId="{A778376F-EB1B-C943-8DCA-761C62F96820}" destId="{1F1F158D-971D-564C-8414-3F891944CE66}" srcOrd="1" destOrd="1" presId="urn:microsoft.com/office/officeart/2005/8/layout/hProcess6"/>
    <dgm:cxn modelId="{B2BDAF84-452E-074B-9B64-BA7202DDC801}" type="presOf" srcId="{A778376F-EB1B-C943-8DCA-761C62F96820}" destId="{E0396F39-677F-2347-8150-2F8880AED660}" srcOrd="0" destOrd="1" presId="urn:microsoft.com/office/officeart/2005/8/layout/hProcess6"/>
    <dgm:cxn modelId="{29E9ED93-D7F2-9A49-B64A-C89E03CED2CD}" type="presOf" srcId="{CDEE4630-1B17-604D-8CB6-B62FEF787F63}" destId="{9C2AF330-E84E-0140-8DDA-CA2C2818DBC4}" srcOrd="1" destOrd="0" presId="urn:microsoft.com/office/officeart/2005/8/layout/hProcess6"/>
    <dgm:cxn modelId="{7512F497-E045-0646-9524-CB5DDB4CE573}" type="presOf" srcId="{9CD9A680-FAD8-A74A-9E06-C3D69CF15E86}" destId="{1F1F158D-971D-564C-8414-3F891944CE66}" srcOrd="1" destOrd="0" presId="urn:microsoft.com/office/officeart/2005/8/layout/hProcess6"/>
    <dgm:cxn modelId="{9654D0B5-46E4-D544-9758-679A37482519}" type="presOf" srcId="{CDEE4630-1B17-604D-8CB6-B62FEF787F63}" destId="{A50819C4-6068-DE43-88D0-C9BB70CC7AA6}" srcOrd="0" destOrd="0" presId="urn:microsoft.com/office/officeart/2005/8/layout/hProcess6"/>
    <dgm:cxn modelId="{31B9ACE2-E60A-0C49-B702-7596FACB35C2}" type="presOf" srcId="{9CD9A680-FAD8-A74A-9E06-C3D69CF15E86}" destId="{E0396F39-677F-2347-8150-2F8880AED660}" srcOrd="0" destOrd="0" presId="urn:microsoft.com/office/officeart/2005/8/layout/hProcess6"/>
    <dgm:cxn modelId="{CD1A6EEB-D244-064F-9B3C-36BF43A5E407}" type="presOf" srcId="{94170349-95C4-E845-995E-F1D6AE6221DD}" destId="{0F1217E1-9D62-8642-B050-B48C51ACFD13}" srcOrd="0" destOrd="0" presId="urn:microsoft.com/office/officeart/2005/8/layout/hProcess6"/>
    <dgm:cxn modelId="{B589FAF4-7F3F-0743-B597-1AAF42F659A2}" type="presOf" srcId="{E3FA1DAC-3169-C24B-B206-05B3BF4CF67E}" destId="{1D385F9E-BF15-1646-AFFF-0FE2F17EF1C8}" srcOrd="0" destOrd="0" presId="urn:microsoft.com/office/officeart/2005/8/layout/hProcess6"/>
    <dgm:cxn modelId="{742B2A54-1FC1-A044-8D56-11D34084E648}" type="presParOf" srcId="{0F1217E1-9D62-8642-B050-B48C51ACFD13}" destId="{8C8E87EB-87F2-354F-A927-402ECEF756C7}" srcOrd="0" destOrd="0" presId="urn:microsoft.com/office/officeart/2005/8/layout/hProcess6"/>
    <dgm:cxn modelId="{A56BE4C5-A896-D04C-9CCE-0877A8995077}" type="presParOf" srcId="{8C8E87EB-87F2-354F-A927-402ECEF756C7}" destId="{1CC99E96-DBCB-BB40-AE1E-F7AF87E98DE8}" srcOrd="0" destOrd="0" presId="urn:microsoft.com/office/officeart/2005/8/layout/hProcess6"/>
    <dgm:cxn modelId="{9FA62DD0-38E1-FB41-8BE2-1D581954B24A}" type="presParOf" srcId="{8C8E87EB-87F2-354F-A927-402ECEF756C7}" destId="{A50819C4-6068-DE43-88D0-C9BB70CC7AA6}" srcOrd="1" destOrd="0" presId="urn:microsoft.com/office/officeart/2005/8/layout/hProcess6"/>
    <dgm:cxn modelId="{CDEE71CF-404C-1C49-8FC1-C87EF42230C5}" type="presParOf" srcId="{8C8E87EB-87F2-354F-A927-402ECEF756C7}" destId="{9C2AF330-E84E-0140-8DDA-CA2C2818DBC4}" srcOrd="2" destOrd="0" presId="urn:microsoft.com/office/officeart/2005/8/layout/hProcess6"/>
    <dgm:cxn modelId="{7280AFE8-94E7-0643-A258-088AD23C626E}" type="presParOf" srcId="{8C8E87EB-87F2-354F-A927-402ECEF756C7}" destId="{2053D846-0027-5F43-AEEC-359ED69F65C9}" srcOrd="3" destOrd="0" presId="urn:microsoft.com/office/officeart/2005/8/layout/hProcess6"/>
    <dgm:cxn modelId="{D3CC9A1D-3213-7046-9EC2-B16530412525}" type="presParOf" srcId="{0F1217E1-9D62-8642-B050-B48C51ACFD13}" destId="{42013DE4-0338-624A-808E-999C2ACE9336}" srcOrd="1" destOrd="0" presId="urn:microsoft.com/office/officeart/2005/8/layout/hProcess6"/>
    <dgm:cxn modelId="{834B30CA-AEA6-EB47-B2A6-7D5F60AAFC57}" type="presParOf" srcId="{0F1217E1-9D62-8642-B050-B48C51ACFD13}" destId="{4D78F50A-7ACE-1C47-A494-663A0C5E4273}" srcOrd="2" destOrd="0" presId="urn:microsoft.com/office/officeart/2005/8/layout/hProcess6"/>
    <dgm:cxn modelId="{EFF5DDF1-4641-1441-A519-1281EF895640}" type="presParOf" srcId="{4D78F50A-7ACE-1C47-A494-663A0C5E4273}" destId="{4787C681-D76F-0649-94B8-88F02CE08369}" srcOrd="0" destOrd="0" presId="urn:microsoft.com/office/officeart/2005/8/layout/hProcess6"/>
    <dgm:cxn modelId="{0EE342DA-22F9-6948-B806-1CBC73B6905B}" type="presParOf" srcId="{4D78F50A-7ACE-1C47-A494-663A0C5E4273}" destId="{E0396F39-677F-2347-8150-2F8880AED660}" srcOrd="1" destOrd="0" presId="urn:microsoft.com/office/officeart/2005/8/layout/hProcess6"/>
    <dgm:cxn modelId="{7E217955-BEDA-E740-B372-B6FFE5DE3510}" type="presParOf" srcId="{4D78F50A-7ACE-1C47-A494-663A0C5E4273}" destId="{1F1F158D-971D-564C-8414-3F891944CE66}" srcOrd="2" destOrd="0" presId="urn:microsoft.com/office/officeart/2005/8/layout/hProcess6"/>
    <dgm:cxn modelId="{F07E6C1E-2034-A548-9AB9-6A8C891F1557}" type="presParOf" srcId="{4D78F50A-7ACE-1C47-A494-663A0C5E4273}" destId="{1D385F9E-BF15-1646-AFFF-0FE2F17EF1C8}" srcOrd="3" destOrd="0" presId="urn:microsoft.com/office/officeart/2005/8/layout/hProcess6"/>
    <dgm:cxn modelId="{BC14DDC8-7E90-5F4C-A511-A3A79F6C9D53}" type="presParOf" srcId="{0F1217E1-9D62-8642-B050-B48C51ACFD13}" destId="{B833F46A-31CB-F748-94CF-57B751591442}" srcOrd="3" destOrd="0" presId="urn:microsoft.com/office/officeart/2005/8/layout/hProcess6"/>
    <dgm:cxn modelId="{5B7922EF-6656-2245-A71B-B8A0B5F7EEC8}" type="presParOf" srcId="{0F1217E1-9D62-8642-B050-B48C51ACFD13}" destId="{AB1736D7-4EE0-7247-8404-8ED4A5680B03}" srcOrd="4" destOrd="0" presId="urn:microsoft.com/office/officeart/2005/8/layout/hProcess6"/>
    <dgm:cxn modelId="{C6D83A09-CC2B-EB42-9AF8-795E6AD6D539}" type="presParOf" srcId="{AB1736D7-4EE0-7247-8404-8ED4A5680B03}" destId="{F661B848-0A64-DE4D-AC47-B7871B46C74F}" srcOrd="0" destOrd="0" presId="urn:microsoft.com/office/officeart/2005/8/layout/hProcess6"/>
    <dgm:cxn modelId="{96CA6C29-9940-534F-8A9C-086F35723C4C}" type="presParOf" srcId="{AB1736D7-4EE0-7247-8404-8ED4A5680B03}" destId="{C2DA4CDC-3302-894A-9C2D-F6B471D46399}" srcOrd="1" destOrd="0" presId="urn:microsoft.com/office/officeart/2005/8/layout/hProcess6"/>
    <dgm:cxn modelId="{605A4DBA-EC4A-F94E-BFFA-A3CD3FB16E7A}" type="presParOf" srcId="{AB1736D7-4EE0-7247-8404-8ED4A5680B03}" destId="{002FBF82-F2EA-CD4D-ADF2-2F3816C967E4}" srcOrd="2" destOrd="0" presId="urn:microsoft.com/office/officeart/2005/8/layout/hProcess6"/>
    <dgm:cxn modelId="{601D44C9-F687-A443-824C-13D17C8AAD8E}" type="presParOf" srcId="{AB1736D7-4EE0-7247-8404-8ED4A5680B03}" destId="{D27078BC-4786-E64C-AE83-47A9021D43F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5FF702-3241-4360-81D8-501AD3E82D5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B77411-EB07-4FC5-A6BE-78E0E3B35E32}">
      <dgm:prSet/>
      <dgm:spPr/>
      <dgm:t>
        <a:bodyPr/>
        <a:lstStyle/>
        <a:p>
          <a:r>
            <a:rPr lang="en-US" dirty="0"/>
            <a:t>The Quantum LDPC Codes</a:t>
          </a:r>
        </a:p>
      </dgm:t>
    </dgm:pt>
    <dgm:pt modelId="{76830B46-0B5D-4BEC-8C4A-36B99522A4BD}" type="parTrans" cxnId="{6BCAA1D5-BFAE-4051-B5BD-6C3A242AF298}">
      <dgm:prSet/>
      <dgm:spPr/>
      <dgm:t>
        <a:bodyPr/>
        <a:lstStyle/>
        <a:p>
          <a:endParaRPr lang="en-US"/>
        </a:p>
      </dgm:t>
    </dgm:pt>
    <dgm:pt modelId="{B3EA40D8-9BB5-4390-9E34-1B9F52859198}" type="sibTrans" cxnId="{6BCAA1D5-BFAE-4051-B5BD-6C3A242AF298}">
      <dgm:prSet/>
      <dgm:spPr/>
      <dgm:t>
        <a:bodyPr/>
        <a:lstStyle/>
        <a:p>
          <a:endParaRPr lang="en-US"/>
        </a:p>
      </dgm:t>
    </dgm:pt>
    <dgm:pt modelId="{F66B0CB8-84D6-4498-AF03-204ED03D4237}">
      <dgm:prSet/>
      <dgm:spPr/>
      <dgm:t>
        <a:bodyPr/>
        <a:lstStyle/>
        <a:p>
          <a:r>
            <a:rPr lang="en-US" dirty="0"/>
            <a:t>Towards a Robust Quantum Memory</a:t>
          </a:r>
        </a:p>
      </dgm:t>
    </dgm:pt>
    <dgm:pt modelId="{4D046672-D2E8-4B80-A905-0850EA3D3350}" type="parTrans" cxnId="{9DFFDE60-511A-4970-8E69-0FF60EBB671A}">
      <dgm:prSet/>
      <dgm:spPr/>
      <dgm:t>
        <a:bodyPr/>
        <a:lstStyle/>
        <a:p>
          <a:endParaRPr lang="en-US"/>
        </a:p>
      </dgm:t>
    </dgm:pt>
    <dgm:pt modelId="{7D99F696-B01B-4674-810E-AE22953C6F43}" type="sibTrans" cxnId="{9DFFDE60-511A-4970-8E69-0FF60EBB671A}">
      <dgm:prSet/>
      <dgm:spPr/>
      <dgm:t>
        <a:bodyPr/>
        <a:lstStyle/>
        <a:p>
          <a:endParaRPr lang="en-US"/>
        </a:p>
      </dgm:t>
    </dgm:pt>
    <dgm:pt modelId="{C331A2F6-FE50-DC46-8623-BEF4790D3D9D}">
      <dgm:prSet/>
      <dgm:spPr/>
      <dgm:t>
        <a:bodyPr/>
        <a:lstStyle/>
        <a:p>
          <a:r>
            <a:rPr lang="en-US" dirty="0"/>
            <a:t>The Surface Code</a:t>
          </a:r>
        </a:p>
      </dgm:t>
    </dgm:pt>
    <dgm:pt modelId="{94103392-C037-1549-B4EE-34477ED59352}" type="parTrans" cxnId="{0B83EF77-B4F9-1648-97C7-12543E71A817}">
      <dgm:prSet/>
      <dgm:spPr/>
      <dgm:t>
        <a:bodyPr/>
        <a:lstStyle/>
        <a:p>
          <a:endParaRPr lang="en-US"/>
        </a:p>
      </dgm:t>
    </dgm:pt>
    <dgm:pt modelId="{6CDD65DE-9D98-064A-9D97-567F1A17DFFA}" type="sibTrans" cxnId="{0B83EF77-B4F9-1648-97C7-12543E71A817}">
      <dgm:prSet/>
      <dgm:spPr/>
      <dgm:t>
        <a:bodyPr/>
        <a:lstStyle/>
        <a:p>
          <a:endParaRPr lang="en-US"/>
        </a:p>
      </dgm:t>
    </dgm:pt>
    <dgm:pt modelId="{6B3BDCF8-2487-4E4C-AA79-F59EB51F44E0}" type="pres">
      <dgm:prSet presAssocID="{915FF702-3241-4360-81D8-501AD3E82D58}" presName="linear" presStyleCnt="0">
        <dgm:presLayoutVars>
          <dgm:dir/>
          <dgm:animLvl val="lvl"/>
          <dgm:resizeHandles val="exact"/>
        </dgm:presLayoutVars>
      </dgm:prSet>
      <dgm:spPr/>
    </dgm:pt>
    <dgm:pt modelId="{25FBC94E-9F7A-4F45-9230-BCA40B065DEA}" type="pres">
      <dgm:prSet presAssocID="{C331A2F6-FE50-DC46-8623-BEF4790D3D9D}" presName="parentLin" presStyleCnt="0"/>
      <dgm:spPr/>
    </dgm:pt>
    <dgm:pt modelId="{3260A808-F713-6445-B27A-7DE7F8BF2B43}" type="pres">
      <dgm:prSet presAssocID="{C331A2F6-FE50-DC46-8623-BEF4790D3D9D}" presName="parentLeftMargin" presStyleLbl="node1" presStyleIdx="0" presStyleCnt="3"/>
      <dgm:spPr/>
    </dgm:pt>
    <dgm:pt modelId="{B24F77E0-CAF5-3B4E-96B1-ED6B7F883427}" type="pres">
      <dgm:prSet presAssocID="{C331A2F6-FE50-DC46-8623-BEF4790D3D9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F7DF85-9ADC-2140-9A43-8CB60DAC7AE3}" type="pres">
      <dgm:prSet presAssocID="{C331A2F6-FE50-DC46-8623-BEF4790D3D9D}" presName="negativeSpace" presStyleCnt="0"/>
      <dgm:spPr/>
    </dgm:pt>
    <dgm:pt modelId="{7C9DBC8F-5824-5442-B830-0A8F2FFF28BA}" type="pres">
      <dgm:prSet presAssocID="{C331A2F6-FE50-DC46-8623-BEF4790D3D9D}" presName="childText" presStyleLbl="conFgAcc1" presStyleIdx="0" presStyleCnt="3">
        <dgm:presLayoutVars>
          <dgm:bulletEnabled val="1"/>
        </dgm:presLayoutVars>
      </dgm:prSet>
      <dgm:spPr/>
    </dgm:pt>
    <dgm:pt modelId="{A741F27E-6B8E-3B4B-8440-56F5173DCC30}" type="pres">
      <dgm:prSet presAssocID="{6CDD65DE-9D98-064A-9D97-567F1A17DFFA}" presName="spaceBetweenRectangles" presStyleCnt="0"/>
      <dgm:spPr/>
    </dgm:pt>
    <dgm:pt modelId="{4986AF58-BBCA-4A4C-BDC4-7F594FE91CB3}" type="pres">
      <dgm:prSet presAssocID="{A8B77411-EB07-4FC5-A6BE-78E0E3B35E32}" presName="parentLin" presStyleCnt="0"/>
      <dgm:spPr/>
    </dgm:pt>
    <dgm:pt modelId="{F949B41E-B390-9140-8AF8-72B84D752B3C}" type="pres">
      <dgm:prSet presAssocID="{A8B77411-EB07-4FC5-A6BE-78E0E3B35E32}" presName="parentLeftMargin" presStyleLbl="node1" presStyleIdx="0" presStyleCnt="3"/>
      <dgm:spPr/>
    </dgm:pt>
    <dgm:pt modelId="{875DAD47-C63D-4149-8888-A53CC373774C}" type="pres">
      <dgm:prSet presAssocID="{A8B77411-EB07-4FC5-A6BE-78E0E3B35E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B5B54E-C0BF-7146-9BF1-78AC64B118CC}" type="pres">
      <dgm:prSet presAssocID="{A8B77411-EB07-4FC5-A6BE-78E0E3B35E32}" presName="negativeSpace" presStyleCnt="0"/>
      <dgm:spPr/>
    </dgm:pt>
    <dgm:pt modelId="{90CACA7F-7A0A-8D42-A30D-F70CD3F5ECBB}" type="pres">
      <dgm:prSet presAssocID="{A8B77411-EB07-4FC5-A6BE-78E0E3B35E32}" presName="childText" presStyleLbl="conFgAcc1" presStyleIdx="1" presStyleCnt="3">
        <dgm:presLayoutVars>
          <dgm:bulletEnabled val="1"/>
        </dgm:presLayoutVars>
      </dgm:prSet>
      <dgm:spPr/>
    </dgm:pt>
    <dgm:pt modelId="{E7C76766-987B-1D40-A3E5-3C80AC45CFCB}" type="pres">
      <dgm:prSet presAssocID="{B3EA40D8-9BB5-4390-9E34-1B9F52859198}" presName="spaceBetweenRectangles" presStyleCnt="0"/>
      <dgm:spPr/>
    </dgm:pt>
    <dgm:pt modelId="{307E8683-8A08-FF47-B563-D1A865BF7AFF}" type="pres">
      <dgm:prSet presAssocID="{F66B0CB8-84D6-4498-AF03-204ED03D4237}" presName="parentLin" presStyleCnt="0"/>
      <dgm:spPr/>
    </dgm:pt>
    <dgm:pt modelId="{CD7FAD16-8A00-BC46-B8F8-063BE4B4FA5D}" type="pres">
      <dgm:prSet presAssocID="{F66B0CB8-84D6-4498-AF03-204ED03D4237}" presName="parentLeftMargin" presStyleLbl="node1" presStyleIdx="1" presStyleCnt="3"/>
      <dgm:spPr/>
    </dgm:pt>
    <dgm:pt modelId="{165A3895-9B45-734F-8A19-685B63A0DC88}" type="pres">
      <dgm:prSet presAssocID="{F66B0CB8-84D6-4498-AF03-204ED03D423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328ED49-879E-A245-9C16-C0372890D110}" type="pres">
      <dgm:prSet presAssocID="{F66B0CB8-84D6-4498-AF03-204ED03D4237}" presName="negativeSpace" presStyleCnt="0"/>
      <dgm:spPr/>
    </dgm:pt>
    <dgm:pt modelId="{5BA55052-5DB3-1E4C-91EC-179959CECA6E}" type="pres">
      <dgm:prSet presAssocID="{F66B0CB8-84D6-4498-AF03-204ED03D423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BF4C25-DA41-AA4D-9F61-7FBE47F2F8DD}" type="presOf" srcId="{F66B0CB8-84D6-4498-AF03-204ED03D4237}" destId="{165A3895-9B45-734F-8A19-685B63A0DC88}" srcOrd="1" destOrd="0" presId="urn:microsoft.com/office/officeart/2005/8/layout/list1"/>
    <dgm:cxn modelId="{347FBC27-66C0-8D45-B335-74C7FB477F80}" type="presOf" srcId="{C331A2F6-FE50-DC46-8623-BEF4790D3D9D}" destId="{B24F77E0-CAF5-3B4E-96B1-ED6B7F883427}" srcOrd="1" destOrd="0" presId="urn:microsoft.com/office/officeart/2005/8/layout/list1"/>
    <dgm:cxn modelId="{67D67C29-7394-3B40-A009-B4F594F49A6A}" type="presOf" srcId="{915FF702-3241-4360-81D8-501AD3E82D58}" destId="{6B3BDCF8-2487-4E4C-AA79-F59EB51F44E0}" srcOrd="0" destOrd="0" presId="urn:microsoft.com/office/officeart/2005/8/layout/list1"/>
    <dgm:cxn modelId="{0F798B2E-D141-CD45-851E-8A5ADC802AB0}" type="presOf" srcId="{A8B77411-EB07-4FC5-A6BE-78E0E3B35E32}" destId="{875DAD47-C63D-4149-8888-A53CC373774C}" srcOrd="1" destOrd="0" presId="urn:microsoft.com/office/officeart/2005/8/layout/list1"/>
    <dgm:cxn modelId="{9DFFDE60-511A-4970-8E69-0FF60EBB671A}" srcId="{915FF702-3241-4360-81D8-501AD3E82D58}" destId="{F66B0CB8-84D6-4498-AF03-204ED03D4237}" srcOrd="2" destOrd="0" parTransId="{4D046672-D2E8-4B80-A905-0850EA3D3350}" sibTransId="{7D99F696-B01B-4674-810E-AE22953C6F43}"/>
    <dgm:cxn modelId="{0B83EF77-B4F9-1648-97C7-12543E71A817}" srcId="{915FF702-3241-4360-81D8-501AD3E82D58}" destId="{C331A2F6-FE50-DC46-8623-BEF4790D3D9D}" srcOrd="0" destOrd="0" parTransId="{94103392-C037-1549-B4EE-34477ED59352}" sibTransId="{6CDD65DE-9D98-064A-9D97-567F1A17DFFA}"/>
    <dgm:cxn modelId="{B04CE77F-4C70-F04E-9EB8-C36B0FB34FE1}" type="presOf" srcId="{C331A2F6-FE50-DC46-8623-BEF4790D3D9D}" destId="{3260A808-F713-6445-B27A-7DE7F8BF2B43}" srcOrd="0" destOrd="0" presId="urn:microsoft.com/office/officeart/2005/8/layout/list1"/>
    <dgm:cxn modelId="{6BCAA1D5-BFAE-4051-B5BD-6C3A242AF298}" srcId="{915FF702-3241-4360-81D8-501AD3E82D58}" destId="{A8B77411-EB07-4FC5-A6BE-78E0E3B35E32}" srcOrd="1" destOrd="0" parTransId="{76830B46-0B5D-4BEC-8C4A-36B99522A4BD}" sibTransId="{B3EA40D8-9BB5-4390-9E34-1B9F52859198}"/>
    <dgm:cxn modelId="{AB0561E0-B060-0D47-943C-DCCA42CBB026}" type="presOf" srcId="{A8B77411-EB07-4FC5-A6BE-78E0E3B35E32}" destId="{F949B41E-B390-9140-8AF8-72B84D752B3C}" srcOrd="0" destOrd="0" presId="urn:microsoft.com/office/officeart/2005/8/layout/list1"/>
    <dgm:cxn modelId="{D6EB06F0-9246-4A4E-A1D3-D3E95DF59F23}" type="presOf" srcId="{F66B0CB8-84D6-4498-AF03-204ED03D4237}" destId="{CD7FAD16-8A00-BC46-B8F8-063BE4B4FA5D}" srcOrd="0" destOrd="0" presId="urn:microsoft.com/office/officeart/2005/8/layout/list1"/>
    <dgm:cxn modelId="{6C12D6AC-4EC1-E143-A3FF-CCD38D31AE4E}" type="presParOf" srcId="{6B3BDCF8-2487-4E4C-AA79-F59EB51F44E0}" destId="{25FBC94E-9F7A-4F45-9230-BCA40B065DEA}" srcOrd="0" destOrd="0" presId="urn:microsoft.com/office/officeart/2005/8/layout/list1"/>
    <dgm:cxn modelId="{F8673ED2-4E61-4644-BBA8-28623B68D837}" type="presParOf" srcId="{25FBC94E-9F7A-4F45-9230-BCA40B065DEA}" destId="{3260A808-F713-6445-B27A-7DE7F8BF2B43}" srcOrd="0" destOrd="0" presId="urn:microsoft.com/office/officeart/2005/8/layout/list1"/>
    <dgm:cxn modelId="{4A70C861-3853-984E-9D8D-D14DD6CF205C}" type="presParOf" srcId="{25FBC94E-9F7A-4F45-9230-BCA40B065DEA}" destId="{B24F77E0-CAF5-3B4E-96B1-ED6B7F883427}" srcOrd="1" destOrd="0" presId="urn:microsoft.com/office/officeart/2005/8/layout/list1"/>
    <dgm:cxn modelId="{069584FF-A24C-DE4A-B108-09E16148E9E6}" type="presParOf" srcId="{6B3BDCF8-2487-4E4C-AA79-F59EB51F44E0}" destId="{0CF7DF85-9ADC-2140-9A43-8CB60DAC7AE3}" srcOrd="1" destOrd="0" presId="urn:microsoft.com/office/officeart/2005/8/layout/list1"/>
    <dgm:cxn modelId="{2C4398A8-C55C-4445-858B-C42D1F24A82C}" type="presParOf" srcId="{6B3BDCF8-2487-4E4C-AA79-F59EB51F44E0}" destId="{7C9DBC8F-5824-5442-B830-0A8F2FFF28BA}" srcOrd="2" destOrd="0" presId="urn:microsoft.com/office/officeart/2005/8/layout/list1"/>
    <dgm:cxn modelId="{3AA16AE5-95BA-2C42-B97F-2088A605044E}" type="presParOf" srcId="{6B3BDCF8-2487-4E4C-AA79-F59EB51F44E0}" destId="{A741F27E-6B8E-3B4B-8440-56F5173DCC30}" srcOrd="3" destOrd="0" presId="urn:microsoft.com/office/officeart/2005/8/layout/list1"/>
    <dgm:cxn modelId="{F4446576-33C2-FB4B-945B-47008F5F8F99}" type="presParOf" srcId="{6B3BDCF8-2487-4E4C-AA79-F59EB51F44E0}" destId="{4986AF58-BBCA-4A4C-BDC4-7F594FE91CB3}" srcOrd="4" destOrd="0" presId="urn:microsoft.com/office/officeart/2005/8/layout/list1"/>
    <dgm:cxn modelId="{A18B799A-61E6-0E48-BCA2-8505397C5E05}" type="presParOf" srcId="{4986AF58-BBCA-4A4C-BDC4-7F594FE91CB3}" destId="{F949B41E-B390-9140-8AF8-72B84D752B3C}" srcOrd="0" destOrd="0" presId="urn:microsoft.com/office/officeart/2005/8/layout/list1"/>
    <dgm:cxn modelId="{66EBFE87-CD78-6E4C-8978-9A6165C96F52}" type="presParOf" srcId="{4986AF58-BBCA-4A4C-BDC4-7F594FE91CB3}" destId="{875DAD47-C63D-4149-8888-A53CC373774C}" srcOrd="1" destOrd="0" presId="urn:microsoft.com/office/officeart/2005/8/layout/list1"/>
    <dgm:cxn modelId="{956D7FA9-5707-BC44-934B-335A38C3865F}" type="presParOf" srcId="{6B3BDCF8-2487-4E4C-AA79-F59EB51F44E0}" destId="{72B5B54E-C0BF-7146-9BF1-78AC64B118CC}" srcOrd="5" destOrd="0" presId="urn:microsoft.com/office/officeart/2005/8/layout/list1"/>
    <dgm:cxn modelId="{EA6786C6-5168-FF42-AF2C-BB3BFD3F90C5}" type="presParOf" srcId="{6B3BDCF8-2487-4E4C-AA79-F59EB51F44E0}" destId="{90CACA7F-7A0A-8D42-A30D-F70CD3F5ECBB}" srcOrd="6" destOrd="0" presId="urn:microsoft.com/office/officeart/2005/8/layout/list1"/>
    <dgm:cxn modelId="{059B7FA0-9662-E748-89E8-B19D23684436}" type="presParOf" srcId="{6B3BDCF8-2487-4E4C-AA79-F59EB51F44E0}" destId="{E7C76766-987B-1D40-A3E5-3C80AC45CFCB}" srcOrd="7" destOrd="0" presId="urn:microsoft.com/office/officeart/2005/8/layout/list1"/>
    <dgm:cxn modelId="{28E0BB3D-4112-774A-965F-DCA3EA189087}" type="presParOf" srcId="{6B3BDCF8-2487-4E4C-AA79-F59EB51F44E0}" destId="{307E8683-8A08-FF47-B563-D1A865BF7AFF}" srcOrd="8" destOrd="0" presId="urn:microsoft.com/office/officeart/2005/8/layout/list1"/>
    <dgm:cxn modelId="{71D3BC45-9F4C-D842-BD70-F87218AD6D5A}" type="presParOf" srcId="{307E8683-8A08-FF47-B563-D1A865BF7AFF}" destId="{CD7FAD16-8A00-BC46-B8F8-063BE4B4FA5D}" srcOrd="0" destOrd="0" presId="urn:microsoft.com/office/officeart/2005/8/layout/list1"/>
    <dgm:cxn modelId="{D5535C6C-9C80-BD4D-A7EE-D896F0633AD7}" type="presParOf" srcId="{307E8683-8A08-FF47-B563-D1A865BF7AFF}" destId="{165A3895-9B45-734F-8A19-685B63A0DC88}" srcOrd="1" destOrd="0" presId="urn:microsoft.com/office/officeart/2005/8/layout/list1"/>
    <dgm:cxn modelId="{F5FF8BB0-5382-3F40-AC2E-765CC1BCB474}" type="presParOf" srcId="{6B3BDCF8-2487-4E4C-AA79-F59EB51F44E0}" destId="{7328ED49-879E-A245-9C16-C0372890D110}" srcOrd="9" destOrd="0" presId="urn:microsoft.com/office/officeart/2005/8/layout/list1"/>
    <dgm:cxn modelId="{EAD5E388-DA21-F847-8D4D-6ED55B7A09F9}" type="presParOf" srcId="{6B3BDCF8-2487-4E4C-AA79-F59EB51F44E0}" destId="{5BA55052-5DB3-1E4C-91EC-179959CECA6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819C4-6068-DE43-88D0-C9BB70CC7AA6}">
      <dsp:nvSpPr>
        <dsp:cNvPr id="0" name=""/>
        <dsp:cNvSpPr/>
      </dsp:nvSpPr>
      <dsp:spPr>
        <a:xfrm>
          <a:off x="881851" y="0"/>
          <a:ext cx="1729508" cy="151180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噪声</a:t>
          </a:r>
          <a:endParaRPr lang="en-US" sz="1300" kern="1200" dirty="0"/>
        </a:p>
      </dsp:txBody>
      <dsp:txXfrm>
        <a:off x="1314228" y="226771"/>
        <a:ext cx="843135" cy="1058266"/>
      </dsp:txXfrm>
    </dsp:sp>
    <dsp:sp modelId="{2053D846-0027-5F43-AEEC-359ED69F65C9}">
      <dsp:nvSpPr>
        <dsp:cNvPr id="0" name=""/>
        <dsp:cNvSpPr/>
      </dsp:nvSpPr>
      <dsp:spPr>
        <a:xfrm>
          <a:off x="449474" y="323526"/>
          <a:ext cx="864754" cy="8647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量子信息</a:t>
          </a:r>
          <a:endParaRPr lang="en-US" sz="1100" kern="1200" dirty="0"/>
        </a:p>
      </dsp:txBody>
      <dsp:txXfrm>
        <a:off x="576114" y="450166"/>
        <a:ext cx="611474" cy="611474"/>
      </dsp:txXfrm>
    </dsp:sp>
    <dsp:sp modelId="{E0396F39-677F-2347-8150-2F8880AED660}">
      <dsp:nvSpPr>
        <dsp:cNvPr id="0" name=""/>
        <dsp:cNvSpPr/>
      </dsp:nvSpPr>
      <dsp:spPr>
        <a:xfrm>
          <a:off x="3166689" y="0"/>
          <a:ext cx="1729508" cy="151180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错误检测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状态恢复</a:t>
          </a:r>
          <a:endParaRPr lang="en-US" sz="1300" kern="1200" dirty="0"/>
        </a:p>
      </dsp:txBody>
      <dsp:txXfrm>
        <a:off x="3599066" y="226771"/>
        <a:ext cx="843135" cy="1058266"/>
      </dsp:txXfrm>
    </dsp:sp>
    <dsp:sp modelId="{1D385F9E-BF15-1646-AFFF-0FE2F17EF1C8}">
      <dsp:nvSpPr>
        <dsp:cNvPr id="0" name=""/>
        <dsp:cNvSpPr/>
      </dsp:nvSpPr>
      <dsp:spPr>
        <a:xfrm>
          <a:off x="2734312" y="323526"/>
          <a:ext cx="864754" cy="8647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含噪量子信息</a:t>
          </a:r>
          <a:endParaRPr lang="en-US" sz="1100" kern="1200" dirty="0"/>
        </a:p>
      </dsp:txBody>
      <dsp:txXfrm>
        <a:off x="2860952" y="450166"/>
        <a:ext cx="611474" cy="611474"/>
      </dsp:txXfrm>
    </dsp:sp>
    <dsp:sp modelId="{C2DA4CDC-3302-894A-9C2D-F6B471D46399}">
      <dsp:nvSpPr>
        <dsp:cNvPr id="0" name=""/>
        <dsp:cNvSpPr/>
      </dsp:nvSpPr>
      <dsp:spPr>
        <a:xfrm>
          <a:off x="5451527" y="0"/>
          <a:ext cx="1729508" cy="151180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078BC-4786-E64C-AE83-47A9021D43F9}">
      <dsp:nvSpPr>
        <dsp:cNvPr id="0" name=""/>
        <dsp:cNvSpPr/>
      </dsp:nvSpPr>
      <dsp:spPr>
        <a:xfrm>
          <a:off x="5019150" y="323526"/>
          <a:ext cx="864754" cy="8647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1100" kern="1200" dirty="0"/>
            <a:t>恢复后的量子信息</a:t>
          </a:r>
          <a:endParaRPr lang="en-US" sz="1100" kern="1200" dirty="0"/>
        </a:p>
      </dsp:txBody>
      <dsp:txXfrm>
        <a:off x="5145790" y="450166"/>
        <a:ext cx="611474" cy="611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DBC8F-5824-5442-B830-0A8F2FFF28BA}">
      <dsp:nvSpPr>
        <dsp:cNvPr id="0" name=""/>
        <dsp:cNvSpPr/>
      </dsp:nvSpPr>
      <dsp:spPr>
        <a:xfrm>
          <a:off x="0" y="364409"/>
          <a:ext cx="112928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F77E0-CAF5-3B4E-96B1-ED6B7F883427}">
      <dsp:nvSpPr>
        <dsp:cNvPr id="0" name=""/>
        <dsp:cNvSpPr/>
      </dsp:nvSpPr>
      <dsp:spPr>
        <a:xfrm>
          <a:off x="564642" y="39689"/>
          <a:ext cx="790498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90" tIns="0" rIns="29879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Surface Code</a:t>
          </a:r>
        </a:p>
      </dsp:txBody>
      <dsp:txXfrm>
        <a:off x="596345" y="71392"/>
        <a:ext cx="7841582" cy="586034"/>
      </dsp:txXfrm>
    </dsp:sp>
    <dsp:sp modelId="{90CACA7F-7A0A-8D42-A30D-F70CD3F5ECBB}">
      <dsp:nvSpPr>
        <dsp:cNvPr id="0" name=""/>
        <dsp:cNvSpPr/>
      </dsp:nvSpPr>
      <dsp:spPr>
        <a:xfrm>
          <a:off x="0" y="1362329"/>
          <a:ext cx="112928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DAD47-C63D-4149-8888-A53CC373774C}">
      <dsp:nvSpPr>
        <dsp:cNvPr id="0" name=""/>
        <dsp:cNvSpPr/>
      </dsp:nvSpPr>
      <dsp:spPr>
        <a:xfrm>
          <a:off x="564642" y="1037610"/>
          <a:ext cx="790498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90" tIns="0" rIns="29879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Quantum LDPC Codes</a:t>
          </a:r>
        </a:p>
      </dsp:txBody>
      <dsp:txXfrm>
        <a:off x="596345" y="1069313"/>
        <a:ext cx="7841582" cy="586034"/>
      </dsp:txXfrm>
    </dsp:sp>
    <dsp:sp modelId="{5BA55052-5DB3-1E4C-91EC-179959CECA6E}">
      <dsp:nvSpPr>
        <dsp:cNvPr id="0" name=""/>
        <dsp:cNvSpPr/>
      </dsp:nvSpPr>
      <dsp:spPr>
        <a:xfrm>
          <a:off x="0" y="2360250"/>
          <a:ext cx="1129284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A3895-9B45-734F-8A19-685B63A0DC88}">
      <dsp:nvSpPr>
        <dsp:cNvPr id="0" name=""/>
        <dsp:cNvSpPr/>
      </dsp:nvSpPr>
      <dsp:spPr>
        <a:xfrm>
          <a:off x="564642" y="2035529"/>
          <a:ext cx="790498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90" tIns="0" rIns="29879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Towards a Robust Quantum Memory</a:t>
          </a:r>
        </a:p>
      </dsp:txBody>
      <dsp:txXfrm>
        <a:off x="596345" y="2067232"/>
        <a:ext cx="7841582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0A94B2-34A2-D460-0483-4DC9A51168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DD2C8-3C73-D33A-5D46-E8D66D2257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E2AF6-E6EA-4747-ADE4-3C5B24FDD4D3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5CD74-C917-4B68-D856-CFD98CA4A9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897E2-BD59-2AC5-23EC-1CF572CC96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7E6E7-B62D-6743-9FF3-9FBD1A3F266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693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0" y="6492875"/>
            <a:ext cx="2844799" cy="365125"/>
          </a:xfrm>
        </p:spPr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1" y="6488549"/>
            <a:ext cx="6066519" cy="365125"/>
          </a:xfrm>
        </p:spPr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299" y="6492875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482295" y="6492875"/>
            <a:ext cx="2523280" cy="365125"/>
          </a:xfrm>
        </p:spPr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792127" y="6488549"/>
            <a:ext cx="6585500" cy="365125"/>
          </a:xfrm>
        </p:spPr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10243" y="6492875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4" y="6492875"/>
            <a:ext cx="2523280" cy="365125"/>
          </a:xfrm>
        </p:spPr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6" y="6492875"/>
            <a:ext cx="6585500" cy="360799"/>
          </a:xfrm>
        </p:spPr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2" y="6492875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2581" y="6492875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6271" y="6492875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0529" y="6492875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63168" y="3819054"/>
            <a:ext cx="10664539" cy="2209957"/>
          </a:xfrm>
        </p:spPr>
        <p:txBody>
          <a:bodyPr>
            <a:normAutofit/>
          </a:bodyPr>
          <a:lstStyle/>
          <a:p>
            <a:pPr algn="r"/>
            <a:r>
              <a:rPr lang="zh-CN" altLang="en-US" dirty="0">
                <a:latin typeface="+mn-ea"/>
              </a:rPr>
              <a:t>清华大学计算机系</a:t>
            </a:r>
            <a:endParaRPr lang="en-US" altLang="zh-CN" dirty="0">
              <a:latin typeface="+mn-ea"/>
            </a:endParaRPr>
          </a:p>
          <a:p>
            <a:pPr algn="r"/>
            <a:r>
              <a:rPr lang="zh-CN" altLang="en-US" dirty="0">
                <a:latin typeface="+mn-ea"/>
              </a:rPr>
              <a:t>陈建鑫</a:t>
            </a:r>
            <a:endParaRPr lang="en-US" altLang="zh-CN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/>
          <a:lstStyle/>
          <a:p>
            <a:pPr algn="ctr"/>
            <a:r>
              <a:rPr lang="en-US" i="0" u="none" strike="noStrike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量子计算研讨课</a:t>
            </a:r>
            <a:r>
              <a:rPr lang="zh-CN" altLang="en-US" i="0" u="none" strike="noStrike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第</a:t>
            </a:r>
            <a:r>
              <a:rPr lang="zh-CN" alt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十三</a:t>
            </a:r>
            <a:r>
              <a:rPr lang="zh-CN" altLang="en-US" i="0" u="none" strike="noStrike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讲</a:t>
            </a:r>
            <a:endParaRPr lang="en-US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29A67-1BD4-8CBE-6588-F0AFBCD1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E39A1-67FC-4A50-B5F4-02984560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6E0D21-2A87-3ABB-A3F3-2339BEE9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课程回顾</a:t>
            </a:r>
            <a:r>
              <a:rPr lang="zh-CN" altLang="en-US" dirty="0"/>
              <a:t>（</a:t>
            </a:r>
            <a:r>
              <a:rPr lang="en-US" dirty="0"/>
              <a:t>Recap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EEBEF-90DA-5116-0E9B-FD64995C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2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A38FB1-8E64-673A-1F8C-77440616C09F}"/>
                  </a:ext>
                </a:extLst>
              </p:cNvPr>
              <p:cNvSpPr txBox="1"/>
              <p:nvPr/>
            </p:nvSpPr>
            <p:spPr>
              <a:xfrm>
                <a:off x="672627" y="2056471"/>
                <a:ext cx="405572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=|00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A38FB1-8E64-673A-1F8C-77440616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27" y="2056471"/>
                <a:ext cx="4055726" cy="553998"/>
              </a:xfrm>
              <a:prstGeom prst="rect">
                <a:avLst/>
              </a:prstGeom>
              <a:blipFill>
                <a:blip r:embed="rId2"/>
                <a:stretch>
                  <a:fillRect l="-5296" t="-82222" r="-1558" b="-7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F702EC-1742-A468-19A4-B06680C801FD}"/>
              </a:ext>
            </a:extLst>
          </p:cNvPr>
          <p:cNvSpPr txBox="1"/>
          <p:nvPr/>
        </p:nvSpPr>
        <p:spPr>
          <a:xfrm>
            <a:off x="569609" y="16341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纠正比特翻转错误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E9663-E7D4-F496-3517-115DBD26C5BC}"/>
              </a:ext>
            </a:extLst>
          </p:cNvPr>
          <p:cNvSpPr txBox="1"/>
          <p:nvPr/>
        </p:nvSpPr>
        <p:spPr>
          <a:xfrm>
            <a:off x="569609" y="40628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纠正相位翻转错误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4EFB53-EE71-2EDF-2D97-AAE80302C880}"/>
                  </a:ext>
                </a:extLst>
              </p:cNvPr>
              <p:cNvSpPr txBox="1"/>
              <p:nvPr/>
            </p:nvSpPr>
            <p:spPr>
              <a:xfrm>
                <a:off x="116666" y="4321362"/>
                <a:ext cx="5406352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+++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−−−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4EFB53-EE71-2EDF-2D97-AAE80302C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66" y="4321362"/>
                <a:ext cx="5406352" cy="507831"/>
              </a:xfrm>
              <a:prstGeom prst="rect">
                <a:avLst/>
              </a:prstGeom>
              <a:blipFill>
                <a:blip r:embed="rId3"/>
                <a:stretch>
                  <a:fillRect t="-65854" b="-1121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F78573B-1A09-CAEA-C25B-DBACE67A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601" y="4829193"/>
            <a:ext cx="2839007" cy="13601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D84289-D58B-E254-7191-C66129C19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27" y="2541272"/>
            <a:ext cx="2730855" cy="12587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5D253D-47A1-3915-E9BC-5DD4BBB96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39" y="456220"/>
            <a:ext cx="5243652" cy="6036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27A30E-3292-88D3-F9CA-2BA411E74F1A}"/>
                  </a:ext>
                </a:extLst>
              </p:cNvPr>
              <p:cNvSpPr txBox="1"/>
              <p:nvPr/>
            </p:nvSpPr>
            <p:spPr>
              <a:xfrm>
                <a:off x="445623" y="1913814"/>
                <a:ext cx="6097314" cy="680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zh-CN" altLang="en-US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；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27A30E-3292-88D3-F9CA-2BA411E7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23" y="1913814"/>
                <a:ext cx="6097314" cy="680251"/>
              </a:xfrm>
              <a:prstGeom prst="rect">
                <a:avLst/>
              </a:prstGeom>
              <a:blipFill>
                <a:blip r:embed="rId7"/>
                <a:stretch>
                  <a:fillRect t="-61818" r="-2287" b="-6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55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A2C9B-DAE8-2CE4-3828-FDFB1416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B48A9-66D5-BC5B-BC71-90E209C7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163BE-F970-ABDF-2762-CF07EC7F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0CC5F9-48E1-B662-B187-C504E1C9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什么是量子纠错码</a:t>
            </a:r>
          </a:p>
        </p:txBody>
      </p:sp>
      <p:pic>
        <p:nvPicPr>
          <p:cNvPr id="7" name="Picture 6" descr="A diagram of cubes in circles&#10;&#10;AI-generated content may be incorrect.">
            <a:extLst>
              <a:ext uri="{FF2B5EF4-FFF2-40B4-BE49-F238E27FC236}">
                <a16:creationId xmlns:a16="http://schemas.microsoft.com/office/drawing/2014/main" id="{284A81BD-932D-05D9-EC31-759B2AA2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09" y="2088735"/>
            <a:ext cx="3950017" cy="3239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C95E50-A1A2-F55C-9ECE-DEA3FA470169}"/>
              </a:ext>
            </a:extLst>
          </p:cNvPr>
          <p:cNvSpPr txBox="1"/>
          <p:nvPr/>
        </p:nvSpPr>
        <p:spPr>
          <a:xfrm>
            <a:off x="8532207" y="546008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如何设计好的量子纠错码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6EDBD5F-5E9F-D8D3-E562-72DA78046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444023"/>
              </p:ext>
            </p:extLst>
          </p:nvPr>
        </p:nvGraphicFramePr>
        <p:xfrm>
          <a:off x="493988" y="2579415"/>
          <a:ext cx="7630510" cy="1511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3DCE83-1473-1FE6-56AC-5C58FA9E34BF}"/>
                  </a:ext>
                </a:extLst>
              </p:cNvPr>
              <p:cNvSpPr txBox="1"/>
              <p:nvPr/>
            </p:nvSpPr>
            <p:spPr>
              <a:xfrm>
                <a:off x="895256" y="4524698"/>
                <a:ext cx="66721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CN" dirty="0">
                    <a:effectLst/>
                    <a:latin typeface="Helvetica" pitchFamily="2" charset="0"/>
                  </a:rPr>
                  <a:t>这个子空间能够保护信息的前提是</a:t>
                </a:r>
                <a:r>
                  <a:rPr lang="zh-CN" altLang="en-US" dirty="0">
                    <a:effectLst/>
                    <a:latin typeface="Helvetica" pitchFamily="2" charset="0"/>
                  </a:rPr>
                  <a:t>，</a:t>
                </a:r>
                <a:r>
                  <a:rPr lang="en-CN" dirty="0">
                    <a:effectLst/>
                    <a:latin typeface="Helvetica" pitchFamily="2" charset="0"/>
                  </a:rPr>
                  <a:t>如果对于这个子空间里的任何状态</a:t>
                </a:r>
                <a14:m>
                  <m:oMath xmlns:m="http://schemas.openxmlformats.org/officeDocument/2006/math">
                    <m:r>
                      <a:rPr lang="en-CN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dirty="0">
                    <a:effectLst/>
                    <a:latin typeface="Helvetica" pitchFamily="2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dirty="0">
                    <a:effectLst/>
                    <a:latin typeface="Helvetica" pitchFamily="2" charset="0"/>
                  </a:rPr>
                  <a:t>。</a:t>
                </a:r>
                <a:endParaRPr lang="en-US" dirty="0">
                  <a:effectLst/>
                  <a:latin typeface="Helvetica" pitchFamily="2" charset="0"/>
                </a:endParaRP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3DCE83-1473-1FE6-56AC-5C58FA9E3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56" y="4524698"/>
                <a:ext cx="6672191" cy="923330"/>
              </a:xfrm>
              <a:prstGeom prst="rect">
                <a:avLst/>
              </a:prstGeom>
              <a:blipFill>
                <a:blip r:embed="rId8"/>
                <a:stretch>
                  <a:fillRect l="-760" t="-405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53405D-6741-3DB0-5191-DEE622474713}"/>
                  </a:ext>
                </a:extLst>
              </p:cNvPr>
              <p:cNvSpPr txBox="1"/>
              <p:nvPr/>
            </p:nvSpPr>
            <p:spPr>
              <a:xfrm>
                <a:off x="832944" y="1354586"/>
                <a:ext cx="10329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将量子状态编码在一个更大希尔伯特空间上的子空间以保护信息</a:t>
                </a:r>
                <a:r>
                  <a:rPr lang="zh-CN" altLang="en-US" dirty="0"/>
                  <a:t>，这个子空间就被称为量子纠错码。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比如三比特的比特反转纠错码，子空间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CN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en-CN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|+|</m:t>
                    </m:r>
                    <m:d>
                      <m:dPr>
                        <m:begChr m:val=""/>
                        <m:endChr m:val="⟩"/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53405D-6741-3DB0-5191-DEE622474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44" y="1354586"/>
                <a:ext cx="10329042" cy="923330"/>
              </a:xfrm>
              <a:prstGeom prst="rect">
                <a:avLst/>
              </a:prstGeom>
              <a:blipFill>
                <a:blip r:embed="rId9"/>
                <a:stretch>
                  <a:fillRect l="-491" t="-2703" b="-6756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27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9" grpId="0">
        <p:bldAsOne/>
      </p:bldGraphic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F06A5-4EC8-A73F-8478-7A57BDA3A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C177B-3C79-CCF4-AA73-532446E5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2ABB5-D9C6-376D-48BB-F7ECD22E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099D78-2AF4-CAAF-1301-CF073145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量子纠错的判断条件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B35031-FA0E-EB82-04FC-CE931DC28FB7}"/>
                  </a:ext>
                </a:extLst>
              </p:cNvPr>
              <p:cNvSpPr txBox="1"/>
              <p:nvPr/>
            </p:nvSpPr>
            <p:spPr>
              <a:xfrm>
                <a:off x="861848" y="1587062"/>
                <a:ext cx="8271642" cy="2651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对于量子纠错码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 与到子空间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的一个投影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。假设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ℰ</m:t>
                    </m:r>
                  </m:oMath>
                </a14:m>
                <a:r>
                  <a:rPr lang="en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是一个量子操作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，且其</a:t>
                </a:r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Kraus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算子元素为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N" altLang="zh-CN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。则存在一个纠错操作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ℛ</m:t>
                    </m:r>
                  </m:oMath>
                </a14:m>
                <a:r>
                  <a:rPr lang="en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可以在子空间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纠正操作</a:t>
                </a:r>
                <a:r>
                  <a:rPr lang="en-US" altLang="zh-CN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ℰ</m:t>
                    </m:r>
                  </m:oMath>
                </a14:m>
                <a:r>
                  <a:rPr lang="en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的充分必要条件为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sSubSup>
                        <m:sSubSupPr>
                          <m:ctrlPr>
                            <a:rPr lang="en-CN" altLang="zh-CN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CN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  <m:sup>
                          <m:r>
                            <a:rPr lang="en-CN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CN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j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CN" altLang="zh-CN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CN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ij</m:t>
                          </m:r>
                        </m:sub>
                      </m:sSub>
                      <m:r>
                        <a:rPr lang="en-CN" altLang="zh-CN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</m:oMath>
                  </m:oMathPara>
                </a14:m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是一个复的厄米矩阵。</a:t>
                </a:r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我们将算子元素们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N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称为噪声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ℰ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的</a:t>
                </a:r>
                <a:r>
                  <a:rPr lang="zh-CN" altLang="en-US" dirty="0">
                    <a:solidFill>
                      <a:schemeClr val="accent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错误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ℛ</m:t>
                    </m:r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存在，则称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N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为一组</a:t>
                </a:r>
                <a:r>
                  <a:rPr lang="zh-CN" altLang="en-US" dirty="0">
                    <a:solidFill>
                      <a:schemeClr val="accent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可被纠正的错误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。</a:t>
                </a:r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B35031-FA0E-EB82-04FC-CE931DC28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48" y="1587062"/>
                <a:ext cx="8271642" cy="2651110"/>
              </a:xfrm>
              <a:prstGeom prst="rect">
                <a:avLst/>
              </a:prstGeom>
              <a:blipFill>
                <a:blip r:embed="rId2"/>
                <a:stretch>
                  <a:fillRect l="-613" t="-9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91030B-1875-D7B8-57DD-620D49099780}"/>
                  </a:ext>
                </a:extLst>
              </p:cNvPr>
              <p:cNvSpPr txBox="1"/>
              <p:nvPr/>
            </p:nvSpPr>
            <p:spPr>
              <a:xfrm>
                <a:off x="861848" y="4514095"/>
                <a:ext cx="9764110" cy="161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>
                    <a:solidFill>
                      <a:srgbClr val="487AE7"/>
                    </a:solidFill>
                  </a:rPr>
                  <a:t>举例</a:t>
                </a:r>
                <a:r>
                  <a:rPr lang="zh-CN" altLang="en-US" dirty="0">
                    <a:solidFill>
                      <a:srgbClr val="487AE7"/>
                    </a:solidFill>
                  </a:rPr>
                  <a:t>（三比特的比特翻转纠错码）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altLang="zh-CN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dirty="0"/>
                  <a:t>这个纠错码可以纠正的是单比特的</a:t>
                </a:r>
                <a:r>
                  <a:rPr lang="zh-CN" altLang="en-CN" dirty="0"/>
                  <a:t>比特翻转</a:t>
                </a:r>
                <a:r>
                  <a:rPr lang="zh-CN" altLang="en-US" dirty="0"/>
                  <a:t>错误，也就是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dirty="0"/>
                  <a:t>是比特翻转错误出现的概率。</a:t>
                </a:r>
                <a:endParaRPr lang="en-US" altLang="zh-C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91030B-1875-D7B8-57DD-620D49099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48" y="4514095"/>
                <a:ext cx="9764110" cy="1612364"/>
              </a:xfrm>
              <a:prstGeom prst="rect">
                <a:avLst/>
              </a:prstGeom>
              <a:blipFill>
                <a:blip r:embed="rId3"/>
                <a:stretch>
                  <a:fillRect l="-519" t="-8594" b="-46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2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7FF64-ECCF-F3BE-B03F-74A5F05D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5B7D1-4860-CA32-5560-70974EEB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3CCB-5835-6388-D3E2-FCDCB83E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F8CB8E-765F-8E10-491F-C5CAFEE1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Helvetica" pitchFamily="2" charset="0"/>
              </a:rPr>
              <a:t>量子错误</a:t>
            </a:r>
            <a:r>
              <a:rPr lang="en-US" dirty="0" err="1">
                <a:effectLst/>
                <a:latin typeface="Helvetica" pitchFamily="2" charset="0"/>
              </a:rPr>
              <a:t>的离散化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D612A5-6E9C-F674-685A-58D01D8C2D20}"/>
                  </a:ext>
                </a:extLst>
              </p:cNvPr>
              <p:cNvSpPr txBox="1"/>
              <p:nvPr/>
            </p:nvSpPr>
            <p:spPr>
              <a:xfrm>
                <a:off x="861847" y="1587062"/>
                <a:ext cx="9816663" cy="978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对于量子纠错码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CN" dirty="0"/>
                  <a:t> </a:t>
                </a:r>
                <a:r>
                  <a:rPr lang="zh-CN" altLang="en-US" dirty="0"/>
                  <a:t>，如果存在一个纠错操作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zh-CN" altLang="en-US" dirty="0"/>
                  <a:t>可以保护信息免受噪声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N" dirty="0"/>
                  <a:t>的影响</a:t>
                </a:r>
                <a:r>
                  <a:rPr lang="zh-CN" altLang="en-US" dirty="0"/>
                  <a:t>，且噪声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Kraus</a:t>
                </a:r>
                <a:r>
                  <a:rPr lang="zh-CN" altLang="en-US" dirty="0"/>
                  <a:t>算子元素为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。则对噪声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如果</a:t>
                </a:r>
                <a:r>
                  <a:rPr lang="en-CN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的Kraus算子元素为</a:t>
                </a:r>
                <a:r>
                  <a:rPr lang="en-CN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</m:oMath>
                </a14:m>
                <a:r>
                  <a:rPr lang="en-CN" dirty="0"/>
                  <a:t>且每一个</a:t>
                </a:r>
                <a:r>
                  <a:rPr lang="en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N" altLang="zh-CN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CN" dirty="0"/>
                  <a:t>都可以写为</a:t>
                </a:r>
                <a:r>
                  <a:rPr lang="en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CN" dirty="0"/>
                  <a:t>的线性组合</a:t>
                </a:r>
                <a:r>
                  <a:rPr lang="zh-CN" altLang="en-US" dirty="0"/>
                  <a:t>。则纠错操作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CN" dirty="0"/>
                  <a:t>也一样可以保护信息免受噪声</a:t>
                </a:r>
                <a:r>
                  <a:rPr lang="en-CN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altLang="zh-CN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的影响</a:t>
                </a:r>
                <a:r>
                  <a:rPr lang="zh-CN" altLang="en-US" dirty="0"/>
                  <a:t>。</a:t>
                </a:r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D612A5-6E9C-F674-685A-58D01D8C2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47" y="1587062"/>
                <a:ext cx="9816663" cy="978473"/>
              </a:xfrm>
              <a:prstGeom prst="rect">
                <a:avLst/>
              </a:prstGeom>
              <a:blipFill>
                <a:blip r:embed="rId2"/>
                <a:stretch>
                  <a:fillRect l="-517" t="-2532" b="-75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043FEFE-142E-8605-AC16-E5055BEADE3C}"/>
              </a:ext>
            </a:extLst>
          </p:cNvPr>
          <p:cNvSpPr txBox="1"/>
          <p:nvPr/>
        </p:nvSpPr>
        <p:spPr>
          <a:xfrm>
            <a:off x="969579" y="4912109"/>
            <a:ext cx="987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487AE7"/>
                </a:solidFill>
              </a:rPr>
              <a:t>课后习题</a:t>
            </a:r>
            <a:r>
              <a:rPr lang="zh-CN" altLang="en-US" dirty="0">
                <a:solidFill>
                  <a:srgbClr val="487AE7"/>
                </a:solidFill>
              </a:rPr>
              <a:t>：</a:t>
            </a:r>
            <a:r>
              <a:rPr lang="en-CN" dirty="0"/>
              <a:t>上一堂课所介绍过的其它两个纠错码</a:t>
            </a:r>
            <a:r>
              <a:rPr lang="zh-CN" altLang="en-US" dirty="0"/>
              <a:t>，三比特相位翻转纠错码与</a:t>
            </a:r>
            <a:r>
              <a:rPr lang="zh-CN" altLang="en-CN" dirty="0"/>
              <a:t>九比特</a:t>
            </a:r>
            <a:r>
              <a:rPr lang="zh-CN" altLang="en-US" dirty="0"/>
              <a:t>的</a:t>
            </a:r>
            <a:r>
              <a:rPr lang="en-US" altLang="zh-CN" dirty="0"/>
              <a:t>Shor</a:t>
            </a:r>
            <a:r>
              <a:rPr lang="zh-CN" altLang="en-US" dirty="0"/>
              <a:t>码，分别可以抵抗哪些噪声？分别验证它们是否满足量子纠错码的判断条件。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466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85C5-3424-6CE2-E7A2-2469887D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2425A-DD20-12F5-EB6B-07E3B265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4724A-2A68-9DC7-5BC7-F789DB87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68181-6709-9F2A-D8A6-6F900FFC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A9F8C3-0B44-D665-A981-CC5138AE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Helvetica" pitchFamily="2" charset="0"/>
              </a:rPr>
              <a:t>简并码</a:t>
            </a:r>
            <a:r>
              <a:rPr lang="zh-CN" altLang="en-US" dirty="0">
                <a:latin typeface="Helvetica" pitchFamily="2" charset="0"/>
              </a:rPr>
              <a:t>（</a:t>
            </a:r>
            <a:r>
              <a:rPr lang="en-US" altLang="zh-CN" dirty="0">
                <a:latin typeface="Helvetica" pitchFamily="2" charset="0"/>
              </a:rPr>
              <a:t>Degenerate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Codes</a:t>
            </a:r>
            <a:r>
              <a:rPr lang="zh-CN" altLang="en-US" dirty="0">
                <a:latin typeface="Helvetica" pitchFamily="2" charset="0"/>
              </a:rPr>
              <a:t>）</a:t>
            </a:r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BA627E-D484-9A1E-2632-D6EEC78B7381}"/>
                  </a:ext>
                </a:extLst>
              </p:cNvPr>
              <p:cNvSpPr txBox="1"/>
              <p:nvPr/>
            </p:nvSpPr>
            <p:spPr>
              <a:xfrm>
                <a:off x="386846" y="1635302"/>
                <a:ext cx="7330966" cy="1856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；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BA627E-D484-9A1E-2632-D6EEC78B7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6" y="1635302"/>
                <a:ext cx="7330966" cy="1856149"/>
              </a:xfrm>
              <a:prstGeom prst="rect">
                <a:avLst/>
              </a:prstGeom>
              <a:blipFill>
                <a:blip r:embed="rId2"/>
                <a:stretch>
                  <a:fillRect t="-11486" b="-2094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24DE4A-5B76-00EC-3BF5-9695EC8DC6CA}"/>
              </a:ext>
            </a:extLst>
          </p:cNvPr>
          <p:cNvSpPr txBox="1"/>
          <p:nvPr/>
        </p:nvSpPr>
        <p:spPr>
          <a:xfrm>
            <a:off x="836271" y="15490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487AE7"/>
                </a:solidFill>
              </a:rPr>
              <a:t>肖尔码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9453B77F-A6C5-8A42-8DD4-EE194073F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2905" y="1549038"/>
                <a:ext cx="4705803" cy="738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defTabSz="914400"/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​</a:t>
                </a: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-webkit-standard"/>
                  </a:rPr>
                  <a:t> 作用在逻辑态上的效果，与 </a:t>
                </a:r>
                <a:r>
                  <a:rPr lang="en-US" altLang="en-CN" sz="1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en-CN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N" altLang="en-CN" sz="1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-webkit-standard"/>
                  </a:rPr>
                  <a:t> 作用在逻辑态上的</a:t>
                </a:r>
                <a:r>
                  <a:rPr kumimoji="0" lang="en-CN" altLang="en-CN" sz="14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效果完全一模一样</a:t>
                </a: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-webkit-standard"/>
                  </a:rPr>
                  <a:t>（在数学上，它们对编码空间的影响是等价的：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kumimoji="0" lang="en-US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​⟩=</m:t>
                    </m:r>
                    <m:sSub>
                      <m:sSubPr>
                        <m:ctrlP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​∣</m:t>
                    </m:r>
                    <m:sSub>
                      <m:sSubPr>
                        <m:ctrlP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​⟩=</m:t>
                    </m:r>
                    <m:sSub>
                      <m:sSubPr>
                        <m:ctrlP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​∣</m:t>
                    </m:r>
                    <m:sSub>
                      <m:sSubPr>
                        <m:ctrlP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kumimoji="0" lang="en-CN" altLang="en-CN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kumimoji="0" lang="en-CN" altLang="en-CN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​⟩</m:t>
                    </m:r>
                  </m:oMath>
                </a14:m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-webkit-standard"/>
                  </a:rPr>
                  <a:t>）。</a:t>
                </a:r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9453B77F-A6C5-8A42-8DD4-EE194073F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2905" y="1549038"/>
                <a:ext cx="4705803" cy="738664"/>
              </a:xfrm>
              <a:prstGeom prst="rect">
                <a:avLst/>
              </a:prstGeom>
              <a:blipFill>
                <a:blip r:embed="rId3"/>
                <a:stretch>
                  <a:fillRect l="-269" b="-84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890B999-95F7-D983-A544-526C537E0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2905" y="2401547"/>
                <a:ext cx="4809320" cy="2462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-webkit-standard"/>
                  </a:rPr>
                  <a:t>测量工具</a:t>
                </a:r>
                <a:r>
                  <a:rPr kumimoji="0" lang="en-CN" altLang="en-CN" sz="14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无法分辨</a:t>
                </a: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-webkit-standard"/>
                  </a:rPr>
                  <a:t>这个 </a:t>
                </a: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r>
                  <a:rPr kumimoji="0" lang="en-CN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-webkit-standard"/>
                  </a:rPr>
                  <a:t> 错误到底是发生在第 1、第 2 还是第 3 个比特上。</a:t>
                </a:r>
              </a:p>
              <a:p>
                <a:pPr lvl="0" defTabSz="914400"/>
                <a:r>
                  <a:rPr lang="en-CN" altLang="en-CN" sz="1400" dirty="0">
                    <a:solidFill>
                      <a:srgbClr val="000000"/>
                    </a:solidFill>
                  </a:rPr>
                  <a:t>但是既然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​</a:t>
                </a:r>
                <a:r>
                  <a:rPr lang="zh-CN" altLang="en-US" sz="1400" dirty="0">
                    <a:solidFill>
                      <a:srgbClr val="000000"/>
                    </a:solidFill>
                    <a:ea typeface="-webkit-standard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000000"/>
                    </a:solidFill>
                    <a:ea typeface="-webkit-standard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​产生的作用完全一样，那么无论刚才实际发生的是谁，系统都可以</a:t>
                </a:r>
                <a:r>
                  <a:rPr lang="en-CN" altLang="en-CN" sz="1400" b="1" dirty="0">
                    <a:solidFill>
                      <a:srgbClr val="000000"/>
                    </a:solidFill>
                  </a:rPr>
                  <a:t>闭着眼睛直接对第 1 个比特施加 </a:t>
                </a:r>
                <a14:m>
                  <m:oMath xmlns:m="http://schemas.openxmlformats.org/officeDocument/2006/math">
                    <m:r>
                      <a:rPr lang="en-CN" altLang="en-CN" sz="1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CN" altLang="en-CN" sz="1400" b="1" dirty="0">
                    <a:solidFill>
                      <a:srgbClr val="000000"/>
                    </a:solidFill>
                  </a:rPr>
                  <a:t> 恢复操作</a:t>
                </a:r>
                <a:r>
                  <a:rPr lang="en-CN" altLang="en-CN" sz="1400" dirty="0">
                    <a:solidFill>
                      <a:srgbClr val="000000"/>
                    </a:solidFill>
                  </a:rPr>
                  <a:t>。</a:t>
                </a:r>
                <a:endParaRPr lang="en-CN" altLang="en-CN" sz="1400" dirty="0"/>
              </a:p>
              <a:p>
                <a:pPr lvl="0" defTabSz="914400">
                  <a:buFontTx/>
                  <a:buChar char="•"/>
                </a:pPr>
                <a:r>
                  <a:rPr lang="en-CN" altLang="en-CN" sz="1400" dirty="0">
                    <a:solidFill>
                      <a:srgbClr val="000000"/>
                    </a:solidFill>
                  </a:rPr>
                  <a:t>如果刚才本来就是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错，现在纠正了，完美。</a:t>
                </a:r>
              </a:p>
              <a:p>
                <a:pPr lvl="0" defTabSz="914400">
                  <a:buFontTx/>
                  <a:buChar char="•"/>
                </a:pPr>
                <a:r>
                  <a:rPr lang="en-CN" altLang="en-CN" sz="1400" dirty="0">
                    <a:solidFill>
                      <a:srgbClr val="000000"/>
                    </a:solidFill>
                  </a:rPr>
                  <a:t>如果刚才其实是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​​错，现在对第 1 位施加 </a:t>
                </a:r>
                <a:r>
                  <a:rPr lang="en-CN" altLang="en-CN" sz="1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N" altLang="en-CN" sz="1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CN" altLang="en-CN" sz="1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，因为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altLang="en-CN" sz="1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 altLang="en-CN" sz="1400" dirty="0">
                    <a:solidFill>
                      <a:srgbClr val="000000"/>
                    </a:solidFill>
                  </a:rPr>
                  <a:t>在该码字空间中的效果等价于恒等算符 ，系统竟然奇迹般地自动恢复原状了！</a:t>
                </a:r>
              </a:p>
              <a:p>
                <a:pPr lvl="0" defTabSz="914400"/>
                <a:endParaRPr lang="en-CN" altLang="en-CN" sz="14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890B999-95F7-D983-A544-526C537E06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2905" y="2401547"/>
                <a:ext cx="4809320" cy="2462213"/>
              </a:xfrm>
              <a:prstGeom prst="rect">
                <a:avLst/>
              </a:prstGeom>
              <a:blipFill>
                <a:blip r:embed="rId4"/>
                <a:stretch>
                  <a:fillRect l="-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65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47DF-8ED0-1D1F-0C40-E1689D6B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687C5-5976-C18E-F86B-8322136BF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37A53-F1E9-4102-038B-59DE438A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38C93-C292-91EC-6B1D-0B44F3CE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194D63-027E-15CF-F8F9-CF3AD5B7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Helvetica" pitchFamily="2" charset="0"/>
              </a:rPr>
              <a:t>量子汉明界</a:t>
            </a:r>
            <a:r>
              <a:rPr lang="zh-CN" altLang="en-US" dirty="0">
                <a:latin typeface="Helvetica" pitchFamily="2" charset="0"/>
              </a:rPr>
              <a:t> （</a:t>
            </a:r>
            <a:r>
              <a:rPr lang="en-US" altLang="zh-CN" dirty="0">
                <a:latin typeface="Helvetica" pitchFamily="2" charset="0"/>
              </a:rPr>
              <a:t>The Quantum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Hamming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Bound)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131BD8-1ECC-1FAD-B9D2-4976BC2EF1A0}"/>
                  </a:ext>
                </a:extLst>
              </p:cNvPr>
              <p:cNvSpPr txBox="1"/>
              <p:nvPr/>
            </p:nvSpPr>
            <p:spPr>
              <a:xfrm>
                <a:off x="725213" y="1680240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N" dirty="0"/>
                  <a:t>设二元纠错码：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码长：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N" dirty="0"/>
                  <a:t>（每码字 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N" dirty="0"/>
                  <a:t> 位二元比特）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信息位：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CN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校验位：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CN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最小汉明距离：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CN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>
                    <a:effectLst/>
                  </a:rPr>
                  <a:t>纠错能力：最多纠正 </a:t>
                </a:r>
                <a14:m>
                  <m:oMath xmlns:m="http://schemas.openxmlformats.org/officeDocument/2006/math">
                    <m:r>
                      <a:rPr lang="en-CN" i="1" dirty="0" smtClean="0">
                        <a:effectLst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N" dirty="0">
                    <a:effectLst/>
                  </a:rPr>
                  <a:t> 个随机比特错误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131BD8-1ECC-1FAD-B9D2-4976BC2EF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3" y="1680240"/>
                <a:ext cx="6096000" cy="1754326"/>
              </a:xfrm>
              <a:prstGeom prst="rect">
                <a:avLst/>
              </a:prstGeom>
              <a:blipFill>
                <a:blip r:embed="rId2"/>
                <a:stretch>
                  <a:fillRect l="-832" t="-1439" b="-359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BDCC10-FE36-EFB3-2907-A425163E3399}"/>
                  </a:ext>
                </a:extLst>
              </p:cNvPr>
              <p:cNvSpPr txBox="1"/>
              <p:nvPr/>
            </p:nvSpPr>
            <p:spPr>
              <a:xfrm>
                <a:off x="7016150" y="2284071"/>
                <a:ext cx="3405353" cy="11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N" b="1" dirty="0">
                    <a:solidFill>
                      <a:srgbClr val="487AE7"/>
                    </a:solidFill>
                    <a:effectLst/>
                    <a:latin typeface="Cambria Math" panose="02040503050406030204" pitchFamily="18" charset="0"/>
                  </a:rPr>
                  <a:t>经典汉明界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N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CN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CN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r>
                            <a:rPr lang="en-CN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CN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b="1" dirty="0">
                  <a:solidFill>
                    <a:srgbClr val="487AE7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BDCC10-FE36-EFB3-2907-A425163E3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150" y="2284071"/>
                <a:ext cx="3405353" cy="1144929"/>
              </a:xfrm>
              <a:prstGeom prst="rect">
                <a:avLst/>
              </a:prstGeom>
              <a:blipFill>
                <a:blip r:embed="rId3"/>
                <a:stretch>
                  <a:fillRect l="-1487" t="-49451" b="-11318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8C563E-EEAC-C11D-A09A-32BD71545C02}"/>
                  </a:ext>
                </a:extLst>
              </p:cNvPr>
              <p:cNvSpPr txBox="1"/>
              <p:nvPr/>
            </p:nvSpPr>
            <p:spPr>
              <a:xfrm>
                <a:off x="735723" y="3820622"/>
                <a:ext cx="6358759" cy="2171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N" dirty="0"/>
                  <a:t>设：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物理比特数：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N" dirty="0"/>
                  <a:t>（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N" dirty="0"/>
                  <a:t>个物理量子比特）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逻辑比特数：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N" dirty="0"/>
                  <a:t>（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N" dirty="0"/>
                  <a:t>个逻辑量子比特）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>
                    <a:effectLst/>
                  </a:rPr>
                  <a:t>码空间维数： </a:t>
                </a:r>
                <a14:m>
                  <m:oMath xmlns:m="http://schemas.openxmlformats.org/officeDocument/2006/math">
                    <m:r>
                      <a:rPr lang="en-CN" i="1" dirty="0" smtClean="0">
                        <a:effectLst/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CN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N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N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CN" dirty="0">
                  <a:effectLst/>
                </a:endParaRP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>
                    <a:effectLst/>
                  </a:rPr>
                  <a:t>码距：</a:t>
                </a:r>
                <a:r>
                  <a:rPr lang="en-CN" dirty="0"/>
                  <a:t> 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N" dirty="0">
                    <a:effectLst/>
                  </a:rPr>
                  <a:t>，码能纠正 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>
                    <a:solidFill>
                      <a:srgbClr val="487AE7"/>
                    </a:solidFill>
                    <a:effectLst/>
                  </a:rPr>
                  <a:t>个任意单量子比特错误</a:t>
                </a:r>
                <a:r>
                  <a:rPr lang="en-CN" dirty="0">
                    <a:effectLst/>
                  </a:rPr>
                  <a:t>，满足 </a:t>
                </a:r>
                <a14:m>
                  <m:oMath xmlns:m="http://schemas.openxmlformats.org/officeDocument/2006/math">
                    <m:r>
                      <a:rPr lang="en-CN" i="1" dirty="0" smtClean="0"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N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CN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CN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N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CN" i="1" dirty="0" smtClean="0">
                                <a:effectLst/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CN" i="1" dirty="0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CN" dirty="0">
                    <a:effectLst/>
                  </a:rPr>
                  <a:t> 即码可纠正</a:t>
                </a:r>
                <a:r>
                  <a:rPr lang="en-CN" dirty="0">
                    <a:solidFill>
                      <a:srgbClr val="487AE7"/>
                    </a:solidFill>
                    <a:effectLst/>
                  </a:rPr>
                  <a:t>最多 </a:t>
                </a:r>
                <a14:m>
                  <m:oMath xmlns:m="http://schemas.openxmlformats.org/officeDocument/2006/math">
                    <m:r>
                      <a:rPr lang="en-CN" b="0" i="1" dirty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N" dirty="0">
                    <a:solidFill>
                      <a:srgbClr val="487AE7"/>
                    </a:solidFill>
                    <a:effectLst/>
                  </a:rPr>
                  <a:t> 个物理比特上的任意 Pauli 错误</a:t>
                </a:r>
                <a:r>
                  <a:rPr lang="en-CN" dirty="0">
                    <a:effectLst/>
                  </a:rPr>
                  <a:t>。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dirty="0"/>
                  <a:t>Pauli 错误集合：单比特错误取 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CN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CN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CN" dirty="0"/>
                  <a:t>为无错误。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8C563E-EEAC-C11D-A09A-32BD71545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23" y="3820622"/>
                <a:ext cx="6358759" cy="2171748"/>
              </a:xfrm>
              <a:prstGeom prst="rect">
                <a:avLst/>
              </a:prstGeom>
              <a:blipFill>
                <a:blip r:embed="rId4"/>
                <a:stretch>
                  <a:fillRect l="-998" t="-1163" b="-34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071F6E-493F-5CCA-3429-D5B7D9637DDC}"/>
                  </a:ext>
                </a:extLst>
              </p:cNvPr>
              <p:cNvSpPr txBox="1"/>
              <p:nvPr/>
            </p:nvSpPr>
            <p:spPr>
              <a:xfrm>
                <a:off x="7016149" y="4382507"/>
                <a:ext cx="3405353" cy="11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N" b="1" dirty="0">
                    <a:solidFill>
                      <a:srgbClr val="487AE7"/>
                    </a:solidFill>
                    <a:latin typeface="Cambria Math" panose="02040503050406030204" pitchFamily="18" charset="0"/>
                  </a:rPr>
                  <a:t>量子</a:t>
                </a:r>
                <a:r>
                  <a:rPr lang="en-CN" b="1" dirty="0">
                    <a:solidFill>
                      <a:srgbClr val="487AE7"/>
                    </a:solidFill>
                    <a:effectLst/>
                    <a:latin typeface="Cambria Math" panose="02040503050406030204" pitchFamily="18" charset="0"/>
                  </a:rPr>
                  <a:t>汉明界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N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CN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CN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CN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  <m:r>
                            <a:rPr lang="en-CN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CN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b="1" dirty="0">
                  <a:solidFill>
                    <a:srgbClr val="487AE7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071F6E-493F-5CCA-3429-D5B7D9637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149" y="4382507"/>
                <a:ext cx="3405353" cy="1144929"/>
              </a:xfrm>
              <a:prstGeom prst="rect">
                <a:avLst/>
              </a:prstGeom>
              <a:blipFill>
                <a:blip r:embed="rId5"/>
                <a:stretch>
                  <a:fillRect l="-2230" t="-49451" b="-1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35C97795-05C5-ED33-C909-AA44A17B1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549" y="253588"/>
            <a:ext cx="41006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1800" b="1" i="0" u="none" strike="noStrike" cap="none" normalizeH="0" baseline="0" dirty="0">
                <a:ln>
                  <a:noFill/>
                </a:ln>
                <a:solidFill>
                  <a:srgbClr val="487AE7"/>
                </a:solidFill>
                <a:effectLst/>
                <a:latin typeface="Arial" panose="020B0604020202020204" pitchFamily="34" charset="0"/>
              </a:rPr>
              <a:t>球装载界（Sphere-packing Bound）</a:t>
            </a: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rgbClr val="487AE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96D6B-62D9-2A24-266A-A7A278CB1EB0}"/>
              </a:ext>
            </a:extLst>
          </p:cNvPr>
          <p:cNvSpPr txBox="1"/>
          <p:nvPr/>
        </p:nvSpPr>
        <p:spPr>
          <a:xfrm>
            <a:off x="7016151" y="1802225"/>
            <a:ext cx="334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N" b="1" dirty="0">
                <a:solidFill>
                  <a:srgbClr val="487AE7"/>
                </a:solidFill>
                <a:effectLst/>
                <a:latin typeface="Cambria Math" panose="02040503050406030204" pitchFamily="18" charset="0"/>
              </a:rPr>
              <a:t>经典汉明距离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C32ED-19B5-2787-A8E8-F3FC04C2D9E7}"/>
              </a:ext>
            </a:extLst>
          </p:cNvPr>
          <p:cNvSpPr txBox="1"/>
          <p:nvPr/>
        </p:nvSpPr>
        <p:spPr>
          <a:xfrm>
            <a:off x="7016150" y="3932159"/>
            <a:ext cx="334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N" b="1" dirty="0">
                <a:solidFill>
                  <a:srgbClr val="487AE7"/>
                </a:solidFill>
                <a:latin typeface="Cambria Math" panose="02040503050406030204" pitchFamily="18" charset="0"/>
              </a:rPr>
              <a:t>量子</a:t>
            </a:r>
            <a:r>
              <a:rPr lang="en-CN" b="1" dirty="0">
                <a:solidFill>
                  <a:srgbClr val="487AE7"/>
                </a:solidFill>
                <a:effectLst/>
                <a:latin typeface="Cambria Math" panose="02040503050406030204" pitchFamily="18" charset="0"/>
              </a:rPr>
              <a:t>汉明距离</a:t>
            </a:r>
          </a:p>
        </p:txBody>
      </p:sp>
    </p:spTree>
    <p:extLst>
      <p:ext uri="{BB962C8B-B14F-4D97-AF65-F5344CB8AC3E}">
        <p14:creationId xmlns:p14="http://schemas.microsoft.com/office/powerpoint/2010/main" val="276689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CBA3-975A-412D-2254-481722DB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05EC9-7057-848F-1388-3FC36297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9214F-0AF7-B787-D368-FD92AABA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31AD-5649-6B6A-DC13-96F9E32B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EB3FF2-0674-D67A-E32C-0C2144B1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Helvetica" pitchFamily="2" charset="0"/>
              </a:rPr>
              <a:t>量子码的三大界</a:t>
            </a:r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66AF2B-C212-CA2E-4A77-672F2C9AA3F6}"/>
                  </a:ext>
                </a:extLst>
              </p:cNvPr>
              <p:cNvSpPr txBox="1"/>
              <p:nvPr/>
            </p:nvSpPr>
            <p:spPr>
              <a:xfrm>
                <a:off x="753460" y="1375541"/>
                <a:ext cx="10187809" cy="4976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q"/>
                </a:pPr>
                <a:r>
                  <a:rPr lang="en-CN" b="1" dirty="0">
                    <a:solidFill>
                      <a:srgbClr val="487AE7"/>
                    </a:solidFill>
                    <a:latin typeface="Helvetica" pitchFamily="2" charset="0"/>
                  </a:rPr>
                  <a:t>量子汉明界</a:t>
                </a:r>
                <a:r>
                  <a:rPr lang="zh-CN" altLang="en-US" dirty="0">
                    <a:latin typeface="Helvetica" pitchFamily="2" charset="0"/>
                  </a:rPr>
                  <a:t> （</a:t>
                </a:r>
                <a:r>
                  <a:rPr lang="en-US" altLang="zh-CN" dirty="0">
                    <a:latin typeface="Helvetica" pitchFamily="2" charset="0"/>
                  </a:rPr>
                  <a:t>The Quantum</a:t>
                </a:r>
                <a:r>
                  <a:rPr lang="zh-CN" altLang="en-US" dirty="0">
                    <a:latin typeface="Helvetica" pitchFamily="2" charset="0"/>
                  </a:rPr>
                  <a:t> </a:t>
                </a:r>
                <a:r>
                  <a:rPr lang="en-US" altLang="zh-CN" dirty="0">
                    <a:latin typeface="Helvetica" pitchFamily="2" charset="0"/>
                  </a:rPr>
                  <a:t>Hamming</a:t>
                </a:r>
                <a:r>
                  <a:rPr lang="zh-CN" altLang="en-US" dirty="0">
                    <a:latin typeface="Helvetica" pitchFamily="2" charset="0"/>
                  </a:rPr>
                  <a:t> </a:t>
                </a:r>
                <a:r>
                  <a:rPr lang="en-US" altLang="zh-CN" dirty="0">
                    <a:latin typeface="Helvetica" pitchFamily="2" charset="0"/>
                  </a:rPr>
                  <a:t>Bound)</a:t>
                </a:r>
              </a:p>
              <a:p>
                <a:pPr marL="342900" indent="-342900">
                  <a:buAutoNum type="arabicPeriod"/>
                </a:pPr>
                <a:endParaRPr lang="en-US" altLang="zh-CN" dirty="0"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  <m:r>
                            <a:rPr lang="en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altLang="zh-CN" dirty="0">
                  <a:latin typeface="Helvetica" pitchFamily="2" charset="0"/>
                </a:endParaRPr>
              </a:p>
              <a:p>
                <a:pPr marL="342900" indent="-342900">
                  <a:buAutoNum type="arabicPeriod"/>
                </a:pPr>
                <a:endParaRPr lang="en-US" altLang="zh-CN" dirty="0">
                  <a:latin typeface="Helvetica" pitchFamily="2" charset="0"/>
                </a:endParaRPr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N" b="1" dirty="0">
                    <a:solidFill>
                      <a:srgbClr val="487AE7"/>
                    </a:solidFill>
                    <a:latin typeface="Helvetica" pitchFamily="2" charset="0"/>
                  </a:rPr>
                  <a:t>量子辛格尔顿界</a:t>
                </a:r>
                <a:r>
                  <a:rPr lang="en-CN" dirty="0">
                    <a:latin typeface="Helvetica" pitchFamily="2" charset="0"/>
                  </a:rPr>
                  <a:t> </a:t>
                </a:r>
                <a:r>
                  <a:rPr lang="zh-CN" altLang="en-US" dirty="0">
                    <a:latin typeface="Helvetica" pitchFamily="2" charset="0"/>
                  </a:rPr>
                  <a:t> （</a:t>
                </a:r>
                <a:r>
                  <a:rPr lang="en-US" altLang="zh-CN" dirty="0">
                    <a:latin typeface="Helvetica" pitchFamily="2" charset="0"/>
                  </a:rPr>
                  <a:t>The</a:t>
                </a:r>
                <a:r>
                  <a:rPr lang="en-CN" dirty="0">
                    <a:latin typeface="Helvetica" pitchFamily="2" charset="0"/>
                  </a:rPr>
                  <a:t> quantum Singleton bound)</a:t>
                </a:r>
              </a:p>
              <a:p>
                <a:pPr marL="342900" indent="-342900">
                  <a:buFontTx/>
                  <a:buAutoNum type="arabicPeriod"/>
                </a:pPr>
                <a:endParaRPr lang="en-CN" dirty="0"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≥2</m:t>
                      </m:r>
                      <m:r>
                        <a:rPr lang="en-US" b="0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en-CN" dirty="0">
                  <a:solidFill>
                    <a:schemeClr val="accent3">
                      <a:lumMod val="50000"/>
                    </a:schemeClr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endParaRPr lang="en-CN" dirty="0">
                  <a:solidFill>
                    <a:srgbClr val="487AE7"/>
                  </a:solidFill>
                  <a:latin typeface="Helvetica" pitchFamily="2" charset="0"/>
                </a:endParaRPr>
              </a:p>
              <a:p>
                <a:pPr marL="342900" indent="-342900">
                  <a:buFont typeface="Wingdings" pitchFamily="2" charset="2"/>
                  <a:buChar char="q"/>
                </a:pPr>
                <a:r>
                  <a:rPr lang="en-CN" b="1" dirty="0">
                    <a:solidFill>
                      <a:srgbClr val="487AE7"/>
                    </a:solidFill>
                    <a:latin typeface="Helvetica" pitchFamily="2" charset="0"/>
                  </a:rPr>
                  <a:t>量子吉尔伯特 - 瓦尔沙莫夫界</a:t>
                </a:r>
                <a:r>
                  <a:rPr lang="zh-CN" altLang="en-US" dirty="0">
                    <a:latin typeface="Helvetica" pitchFamily="2" charset="0"/>
                  </a:rPr>
                  <a:t> （</a:t>
                </a:r>
                <a:r>
                  <a:rPr lang="en-US" altLang="zh-CN" dirty="0">
                    <a:latin typeface="Helvetica" pitchFamily="2" charset="0"/>
                  </a:rPr>
                  <a:t>The</a:t>
                </a:r>
                <a:r>
                  <a:rPr lang="zh-CN" altLang="en-US" dirty="0">
                    <a:latin typeface="Helvetica" pitchFamily="2" charset="0"/>
                  </a:rPr>
                  <a:t> </a:t>
                </a:r>
                <a:r>
                  <a:rPr lang="en-CN" dirty="0">
                    <a:latin typeface="Helvetica" pitchFamily="2" charset="0"/>
                  </a:rPr>
                  <a:t>quantum Gilbert–Varshamov bound)</a:t>
                </a:r>
              </a:p>
              <a:p>
                <a:pPr marL="342900" indent="-342900">
                  <a:buAutoNum type="arabicPeriod"/>
                </a:pPr>
                <a:endParaRPr lang="en-US" altLang="zh-CN" dirty="0">
                  <a:latin typeface="Helvetica" pitchFamily="2" charset="0"/>
                </a:endParaRPr>
              </a:p>
              <a:p>
                <a:r>
                  <a:rPr lang="en-CN" dirty="0">
                    <a:solidFill>
                      <a:schemeClr val="accent3">
                        <a:lumMod val="50000"/>
                      </a:schemeClr>
                    </a:solidFill>
                  </a:rPr>
                  <a:t>若满足：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d>
                            <m:dPr>
                              <m:ctrlPr>
                                <a:rPr lang="en-CN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CN" i="1" dirty="0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i="1" dirty="0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CN" i="1" dirty="0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CN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CN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</m:e>
                      </m:nary>
                      <m:r>
                        <a:rPr lang="en-CN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N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</a:endParaRPr>
              </a:p>
              <a:p>
                <a:r>
                  <a:rPr lang="en-CN" dirty="0">
                    <a:solidFill>
                      <a:schemeClr val="accent3">
                        <a:lumMod val="50000"/>
                      </a:schemeClr>
                    </a:solidFill>
                  </a:rPr>
                  <a:t>则一定存在参数为</a:t>
                </a:r>
                <a14:m>
                  <m:oMath xmlns:m="http://schemas.openxmlformats.org/officeDocument/2006/math"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[[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CN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]]</m:t>
                    </m:r>
                  </m:oMath>
                </a14:m>
                <a:r>
                  <a:rPr lang="en-CN" dirty="0">
                    <a:solidFill>
                      <a:schemeClr val="accent3">
                        <a:lumMod val="50000"/>
                      </a:schemeClr>
                    </a:solidFill>
                  </a:rPr>
                  <a:t>的量子稳定子码。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66AF2B-C212-CA2E-4A77-672F2C9AA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60" y="1375541"/>
                <a:ext cx="10187809" cy="4976683"/>
              </a:xfrm>
              <a:prstGeom prst="rect">
                <a:avLst/>
              </a:prstGeom>
              <a:blipFill>
                <a:blip r:embed="rId2"/>
                <a:stretch>
                  <a:fillRect l="-498" t="-5852" b="-201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18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292F6-7FE2-B68B-BC2B-F63CE0D6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41B1-D6FE-0E4B-B14A-3CD838C9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60632-9FE4-61A4-3ABF-7FCE53E6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EC66D6-C280-9BF0-71F5-249A33DB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纠错码的构造</a:t>
            </a:r>
            <a:r>
              <a:rPr lang="en-US" altLang="zh-CN" dirty="0"/>
              <a:t>—</a:t>
            </a:r>
            <a:r>
              <a:rPr lang="zh-CN" altLang="en-US" dirty="0"/>
              <a:t> 从经典</a:t>
            </a:r>
            <a:r>
              <a:rPr lang="zh-CN" altLang="en-CN" dirty="0">
                <a:solidFill>
                  <a:srgbClr val="487AE7"/>
                </a:solidFill>
              </a:rPr>
              <a:t>线性</a:t>
            </a:r>
            <a:r>
              <a:rPr lang="zh-CN" altLang="en-US" dirty="0"/>
              <a:t>码说起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C00001-7A0F-E155-6C12-FB608B527E70}"/>
                  </a:ext>
                </a:extLst>
              </p:cNvPr>
              <p:cNvSpPr txBox="1"/>
              <p:nvPr/>
            </p:nvSpPr>
            <p:spPr>
              <a:xfrm>
                <a:off x="883920" y="1690688"/>
                <a:ext cx="104698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linear code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encoding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bits of information into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code space is specified by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generator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whose entries are all elements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that is, zeroes and ones.</a:t>
                </a:r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C00001-7A0F-E155-6C12-FB608B527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1690688"/>
                <a:ext cx="10469880" cy="646331"/>
              </a:xfrm>
              <a:prstGeom prst="rect">
                <a:avLst/>
              </a:prstGeom>
              <a:blipFill>
                <a:blip r:embed="rId2"/>
                <a:stretch>
                  <a:fillRect l="-484" t="-1923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5AA1A2D-1851-0F2C-0068-59A4D54319EE}"/>
              </a:ext>
            </a:extLst>
          </p:cNvPr>
          <p:cNvSpPr txBox="1"/>
          <p:nvPr/>
        </p:nvSpPr>
        <p:spPr>
          <a:xfrm>
            <a:off x="883920" y="2700528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ffectLst/>
                <a:latin typeface="Helvetica" pitchFamily="2" charset="0"/>
              </a:rPr>
              <a:t>3-</a:t>
            </a:r>
            <a:r>
              <a:rPr lang="en-US" altLang="zh-CN" dirty="0">
                <a:latin typeface="Helvetica" pitchFamily="2" charset="0"/>
              </a:rPr>
              <a:t>bit </a:t>
            </a:r>
            <a:r>
              <a:rPr lang="en-US" dirty="0">
                <a:effectLst/>
                <a:latin typeface="Helvetica" pitchFamily="2" charset="0"/>
              </a:rPr>
              <a:t>repetition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01F508-605D-E10C-C31F-3D5C992526AE}"/>
                  </a:ext>
                </a:extLst>
              </p:cNvPr>
              <p:cNvSpPr txBox="1"/>
              <p:nvPr/>
            </p:nvSpPr>
            <p:spPr>
              <a:xfrm>
                <a:off x="3041904" y="2519805"/>
                <a:ext cx="833883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01F508-605D-E10C-C31F-3D5C99252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904" y="2519805"/>
                <a:ext cx="833883" cy="730777"/>
              </a:xfrm>
              <a:prstGeom prst="rect">
                <a:avLst/>
              </a:prstGeom>
              <a:blipFill>
                <a:blip r:embed="rId3"/>
                <a:stretch>
                  <a:fillRect l="-4478" t="-1724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9F46196-C3A6-7DDB-4873-072C14177F27}"/>
              </a:ext>
            </a:extLst>
          </p:cNvPr>
          <p:cNvSpPr txBox="1"/>
          <p:nvPr/>
        </p:nvSpPr>
        <p:spPr>
          <a:xfrm>
            <a:off x="4129020" y="2700528"/>
            <a:ext cx="145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 a [3,1] code.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8DFD3-F023-B92A-540B-96423C6DEC16}"/>
              </a:ext>
            </a:extLst>
          </p:cNvPr>
          <p:cNvSpPr txBox="1"/>
          <p:nvPr/>
        </p:nvSpPr>
        <p:spPr>
          <a:xfrm>
            <a:off x="883920" y="3259722"/>
            <a:ext cx="777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Helvetica" pitchFamily="2" charset="0"/>
              </a:rPr>
              <a:t>Similarly, encode two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bits using three repetitions of each bit - a [6, 2] code.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992081-F7DB-EA34-BE76-BE92E97B6DBC}"/>
              </a:ext>
            </a:extLst>
          </p:cNvPr>
          <p:cNvSpPr txBox="1"/>
          <p:nvPr/>
        </p:nvSpPr>
        <p:spPr>
          <a:xfrm>
            <a:off x="883920" y="3966983"/>
            <a:ext cx="10978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487AE7"/>
                </a:solidFill>
                <a:latin typeface="Helvetica" pitchFamily="2" charset="0"/>
              </a:rPr>
              <a:t>Exercise</a:t>
            </a:r>
            <a:r>
              <a:rPr lang="en-US" sz="1600" dirty="0">
                <a:latin typeface="Helvetica" pitchFamily="2" charset="0"/>
              </a:rPr>
              <a:t>: </a:t>
            </a:r>
            <a:endParaRPr lang="en-US" sz="1600" dirty="0">
              <a:effectLst/>
              <a:latin typeface="Helvetica" pitchFamily="2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effectLst/>
                <a:latin typeface="Helvetica" pitchFamily="2" charset="0"/>
              </a:rPr>
              <a:t>Show that adding one column of G to another results in a generator matrix generating the same code.</a:t>
            </a:r>
          </a:p>
          <a:p>
            <a:pPr marL="342900" indent="-342900">
              <a:buFontTx/>
              <a:buAutoNum type="arabicPeriod"/>
            </a:pPr>
            <a:r>
              <a:rPr lang="en-CN" sz="1600" dirty="0"/>
              <a:t>Why</a:t>
            </a:r>
            <a:r>
              <a:rPr lang="zh-CN" altLang="en-US" sz="1600" dirty="0"/>
              <a:t> </a:t>
            </a:r>
            <a:r>
              <a:rPr lang="en-US" altLang="zh-CN" sz="1600" dirty="0"/>
              <a:t>linear code instead of general [</a:t>
            </a:r>
            <a:r>
              <a:rPr lang="en-US" altLang="zh-CN" sz="1600" dirty="0" err="1"/>
              <a:t>n,k</a:t>
            </a:r>
            <a:r>
              <a:rPr lang="en-US" altLang="zh-CN" sz="1600" dirty="0"/>
              <a:t>] code?</a:t>
            </a:r>
            <a:endParaRPr lang="en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735836-C1D6-8C3D-11E7-4C7875B5CEAA}"/>
                  </a:ext>
                </a:extLst>
              </p:cNvPr>
              <p:cNvSpPr txBox="1"/>
              <p:nvPr/>
            </p:nvSpPr>
            <p:spPr>
              <a:xfrm>
                <a:off x="883920" y="4872859"/>
                <a:ext cx="107228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CN" dirty="0">
                    <a:solidFill>
                      <a:srgbClr val="487AE7"/>
                    </a:solidFill>
                  </a:rPr>
                  <a:t>Alternatively, </a:t>
                </a:r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an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] code is defined</a:t>
                </a:r>
                <a:r>
                  <a:rPr lang="en-US" dirty="0">
                    <a:solidFill>
                      <a:srgbClr val="487AE7"/>
                    </a:solidFill>
                    <a:latin typeface="Helvetica" pitchFamily="2" charset="0"/>
                  </a:rPr>
                  <a:t> </a:t>
                </a:r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to consist of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-element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smtClean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87AE7"/>
                        </a:solidFill>
                        <a:effectLst/>
                        <a:latin typeface="Cambria Math" panose="02040503050406030204" pitchFamily="18" charset="0"/>
                      </a:rPr>
                      <m:t>Hx</m:t>
                    </m:r>
                    <m:r>
                      <a:rPr lang="en-US" b="0" i="0" smtClean="0">
                        <a:solidFill>
                          <a:srgbClr val="487AE7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rgbClr val="487AE7"/>
                  </a:solidFill>
                  <a:effectLst/>
                  <a:latin typeface="Helvetica" pitchFamily="2" charset="0"/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87AE7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matrix known as the parity check matrix, with entries all</a:t>
                </a:r>
                <a:r>
                  <a:rPr lang="en-US" dirty="0">
                    <a:solidFill>
                      <a:srgbClr val="487AE7"/>
                    </a:solidFill>
                    <a:latin typeface="Helvetica" pitchFamily="2" charset="0"/>
                  </a:rPr>
                  <a:t> </a:t>
                </a:r>
                <a:r>
                  <a:rPr lang="en-US" dirty="0">
                    <a:solidFill>
                      <a:srgbClr val="487AE7"/>
                    </a:solidFill>
                    <a:effectLst/>
                    <a:latin typeface="Helvetica" pitchFamily="2" charset="0"/>
                  </a:rPr>
                  <a:t>zeroes and ones.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735836-C1D6-8C3D-11E7-4C7875B5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4872859"/>
                <a:ext cx="10722864" cy="646331"/>
              </a:xfrm>
              <a:prstGeom prst="rect">
                <a:avLst/>
              </a:prstGeom>
              <a:blipFill>
                <a:blip r:embed="rId4"/>
                <a:stretch>
                  <a:fillRect l="-473" t="-3846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62C26-57AA-587D-6680-5FD8618E0D4E}"/>
                  </a:ext>
                </a:extLst>
              </p:cNvPr>
              <p:cNvSpPr txBox="1"/>
              <p:nvPr/>
            </p:nvSpPr>
            <p:spPr>
              <a:xfrm>
                <a:off x="8564903" y="2676518"/>
                <a:ext cx="1170385" cy="1504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762C26-57AA-587D-6680-5FD8618E0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903" y="2676518"/>
                <a:ext cx="1170385" cy="1504964"/>
              </a:xfrm>
              <a:prstGeom prst="rect">
                <a:avLst/>
              </a:prstGeom>
              <a:blipFill>
                <a:blip r:embed="rId5"/>
                <a:stretch>
                  <a:fillRect l="-3226" b="-41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BD9AA3-EFFD-F235-13F3-A33B2C6DF02F}"/>
                  </a:ext>
                </a:extLst>
              </p:cNvPr>
              <p:cNvSpPr txBox="1"/>
              <p:nvPr/>
            </p:nvSpPr>
            <p:spPr>
              <a:xfrm>
                <a:off x="883920" y="5517223"/>
                <a:ext cx="9805416" cy="658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effectLst/>
                    <a:latin typeface="Helvetica" pitchFamily="2" charset="0"/>
                  </a:rPr>
                  <a:t>A code encoding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 bits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487AE7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 possible codewords so the kernel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-dimensional, and therefore we require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 have linearly independent rows.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BD9AA3-EFFD-F235-13F3-A33B2C6DF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5517223"/>
                <a:ext cx="9805416" cy="658642"/>
              </a:xfrm>
              <a:prstGeom prst="rect">
                <a:avLst/>
              </a:prstGeom>
              <a:blipFill>
                <a:blip r:embed="rId6"/>
                <a:stretch>
                  <a:fillRect l="-517" t="-1887" b="-1320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16166C-229B-7335-F615-F5DBA6A9CB9B}"/>
                  </a:ext>
                </a:extLst>
              </p:cNvPr>
              <p:cNvSpPr txBox="1"/>
              <p:nvPr/>
            </p:nvSpPr>
            <p:spPr>
              <a:xfrm>
                <a:off x="883920" y="6207343"/>
                <a:ext cx="106619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effectLst/>
                    <a:latin typeface="Helvetica" pitchFamily="2" charset="0"/>
                  </a:rPr>
                  <a:t>The parity check matrix has the standard form</a:t>
                </a:r>
                <a:r>
                  <a:rPr lang="en-US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, where A is an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487AE7"/>
                    </a:solidFill>
                    <a:latin typeface="Helvetica" pitchFamily="2" charset="0"/>
                  </a:rPr>
                  <a:t>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0">
                        <a:solidFill>
                          <a:srgbClr val="487AE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matrix.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16166C-229B-7335-F615-F5DBA6A9C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6207343"/>
                <a:ext cx="10661904" cy="369332"/>
              </a:xfrm>
              <a:prstGeom prst="rect">
                <a:avLst/>
              </a:prstGeom>
              <a:blipFill>
                <a:blip r:embed="rId7"/>
                <a:stretch>
                  <a:fillRect l="-476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42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/>
      <p:bldP spid="14" grpId="0"/>
      <p:bldP spid="16" grpId="0"/>
      <p:bldP spid="17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EC26D-D1D3-A176-4711-AFDCAB04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78D7E-DBB2-42F4-92AE-408FA9FB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12611-B1B5-3F02-AE28-49E3AE33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C56BEE-91D3-FD7F-9656-4E4FE7DA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纠错码的构造</a:t>
            </a:r>
            <a:r>
              <a:rPr lang="en-US" altLang="zh-CN" dirty="0"/>
              <a:t>—</a:t>
            </a:r>
            <a:r>
              <a:rPr lang="zh-CN" altLang="en-US" dirty="0"/>
              <a:t> 从经典</a:t>
            </a:r>
            <a:r>
              <a:rPr lang="zh-CN" altLang="en-CN" dirty="0">
                <a:solidFill>
                  <a:srgbClr val="487AE7"/>
                </a:solidFill>
              </a:rPr>
              <a:t>线性</a:t>
            </a:r>
            <a:r>
              <a:rPr lang="zh-CN" altLang="en-US" dirty="0"/>
              <a:t>码说起 </a:t>
            </a:r>
            <a:r>
              <a:rPr lang="en-US" altLang="zh-CN" i="1" dirty="0"/>
              <a:t>(continued)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7849BF-FC76-DEFE-5F8B-7E3C34DFC7B5}"/>
                  </a:ext>
                </a:extLst>
              </p:cNvPr>
              <p:cNvSpPr txBox="1"/>
              <p:nvPr/>
            </p:nvSpPr>
            <p:spPr>
              <a:xfrm>
                <a:off x="838200" y="1877568"/>
                <a:ext cx="2404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Generator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7849BF-FC76-DEFE-5F8B-7E3C34DFC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7568"/>
                <a:ext cx="2404248" cy="369332"/>
              </a:xfrm>
              <a:prstGeom prst="rect">
                <a:avLst/>
              </a:prstGeom>
              <a:blipFill>
                <a:blip r:embed="rId2"/>
                <a:stretch>
                  <a:fillRect l="-2632" t="-6452" b="-193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FD7E0E-B41C-0886-E4BB-A906C42BBECD}"/>
                  </a:ext>
                </a:extLst>
              </p:cNvPr>
              <p:cNvSpPr txBox="1"/>
              <p:nvPr/>
            </p:nvSpPr>
            <p:spPr>
              <a:xfrm>
                <a:off x="4873752" y="1877568"/>
                <a:ext cx="2964145" cy="388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Parity-check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FD7E0E-B41C-0886-E4BB-A906C42B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752" y="1877568"/>
                <a:ext cx="2964145" cy="388889"/>
              </a:xfrm>
              <a:prstGeom prst="rect">
                <a:avLst/>
              </a:prstGeom>
              <a:blipFill>
                <a:blip r:embed="rId3"/>
                <a:stretch>
                  <a:fillRect l="-2137" t="-6250" b="-1562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72FB86EB-334C-E432-C572-9FACC75F2AC6}"/>
              </a:ext>
            </a:extLst>
          </p:cNvPr>
          <p:cNvSpPr/>
          <p:nvPr/>
        </p:nvSpPr>
        <p:spPr>
          <a:xfrm>
            <a:off x="3651700" y="1966278"/>
            <a:ext cx="812800" cy="191911"/>
          </a:xfrm>
          <a:prstGeom prst="left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13964-A7D4-DB39-C965-4C71C507FE71}"/>
              </a:ext>
            </a:extLst>
          </p:cNvPr>
          <p:cNvSpPr txBox="1"/>
          <p:nvPr/>
        </p:nvSpPr>
        <p:spPr>
          <a:xfrm>
            <a:off x="838200" y="2787960"/>
            <a:ext cx="976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parity check matrix H and generator matrix G for the</a:t>
            </a:r>
            <a:r>
              <a:rPr lang="zh-CN" altLang="en-US" dirty="0"/>
              <a:t> </a:t>
            </a:r>
            <a:r>
              <a:rPr lang="en-US" dirty="0"/>
              <a:t>same linear code satisfy HG = 0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8ACAC-1256-B4FB-22CD-F82A0F9E3CCF}"/>
              </a:ext>
            </a:extLst>
          </p:cNvPr>
          <p:cNvSpPr txBox="1"/>
          <p:nvPr/>
        </p:nvSpPr>
        <p:spPr>
          <a:xfrm>
            <a:off x="838200" y="3429000"/>
            <a:ext cx="9968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define the distance of a code to be the minimum distance between</a:t>
            </a:r>
            <a:r>
              <a:rPr lang="zh-CN" altLang="en-US" dirty="0"/>
              <a:t> </a:t>
            </a:r>
            <a:r>
              <a:rPr lang="en-US" dirty="0"/>
              <a:t>any two codewords, and define the corresponding [</a:t>
            </a:r>
            <a:r>
              <a:rPr lang="en-US" dirty="0" err="1"/>
              <a:t>n,k,d</a:t>
            </a:r>
            <a:r>
              <a:rPr lang="en-US" dirty="0"/>
              <a:t>] code.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E7F88-2C0C-1B80-28F4-CE535CF66701}"/>
              </a:ext>
            </a:extLst>
          </p:cNvPr>
          <p:cNvSpPr txBox="1"/>
          <p:nvPr/>
        </p:nvSpPr>
        <p:spPr>
          <a:xfrm>
            <a:off x="838200" y="4202779"/>
            <a:ext cx="950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ea typeface="Apple Color Emoji" pitchFamily="2" charset="0"/>
              </a:rPr>
              <a:t>Let H</a:t>
            </a:r>
            <a:r>
              <a:rPr lang="zh-CN" altLang="en-US" dirty="0">
                <a:latin typeface="Aptos" panose="020B0004020202020204" pitchFamily="34" charset="0"/>
                <a:ea typeface="Apple Color Emoji" pitchFamily="2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ple Color Emoji" pitchFamily="2" charset="0"/>
              </a:rPr>
              <a:t>be a parity check matrix such that any d</a:t>
            </a:r>
            <a:r>
              <a:rPr lang="en-US" altLang="zh-CN" dirty="0">
                <a:latin typeface="Aptos" panose="020B0004020202020204" pitchFamily="34" charset="0"/>
                <a:ea typeface="Apple Color Emoji" pitchFamily="2" charset="0"/>
              </a:rPr>
              <a:t>-1</a:t>
            </a:r>
            <a:r>
              <a:rPr lang="en-US" dirty="0">
                <a:latin typeface="Aptos" panose="020B0004020202020204" pitchFamily="34" charset="0"/>
                <a:ea typeface="Apple Color Emoji" pitchFamily="2" charset="0"/>
              </a:rPr>
              <a:t> columns are</a:t>
            </a:r>
            <a:r>
              <a:rPr lang="zh-CN" altLang="en-US" dirty="0">
                <a:latin typeface="Aptos" panose="020B0004020202020204" pitchFamily="34" charset="0"/>
                <a:ea typeface="Apple Color Emoji" pitchFamily="2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ple Color Emoji" pitchFamily="2" charset="0"/>
              </a:rPr>
              <a:t>linearly independent, but there exists a set of d linearly dependent columns.</a:t>
            </a:r>
            <a:r>
              <a:rPr lang="zh-CN" altLang="en-US" dirty="0">
                <a:latin typeface="Aptos" panose="020B0004020202020204" pitchFamily="34" charset="0"/>
                <a:ea typeface="Apple Color Emoji" pitchFamily="2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ple Color Emoji" pitchFamily="2" charset="0"/>
              </a:rPr>
              <a:t>Then the code defined by H has distance 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87831-C155-3292-7FEB-1D3306F51030}"/>
              </a:ext>
            </a:extLst>
          </p:cNvPr>
          <p:cNvSpPr txBox="1"/>
          <p:nvPr/>
        </p:nvSpPr>
        <p:spPr>
          <a:xfrm>
            <a:off x="838200" y="5116994"/>
            <a:ext cx="950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Aptos" panose="020B0004020202020204" pitchFamily="34" charset="0"/>
                <a:ea typeface="Apple Color Emoji" pitchFamily="2" charset="0"/>
              </a:rPr>
              <a:t>Show</a:t>
            </a:r>
            <a:r>
              <a:rPr lang="zh-CN" altLang="en-US" dirty="0">
                <a:latin typeface="Aptos" panose="020B0004020202020204" pitchFamily="34" charset="0"/>
                <a:ea typeface="Apple Color Emoji" pitchFamily="2" charset="0"/>
              </a:rPr>
              <a:t> </a:t>
            </a:r>
            <a:r>
              <a:rPr lang="en-US" altLang="zh-CN" dirty="0">
                <a:latin typeface="Aptos" panose="020B0004020202020204" pitchFamily="34" charset="0"/>
                <a:ea typeface="Apple Color Emoji" pitchFamily="2" charset="0"/>
              </a:rPr>
              <a:t>that an [</a:t>
            </a:r>
            <a:r>
              <a:rPr lang="en-US" altLang="zh-CN" dirty="0" err="1">
                <a:latin typeface="Aptos" panose="020B0004020202020204" pitchFamily="34" charset="0"/>
                <a:ea typeface="Apple Color Emoji" pitchFamily="2" charset="0"/>
              </a:rPr>
              <a:t>n,k,d</a:t>
            </a:r>
            <a:r>
              <a:rPr lang="en-US" altLang="zh-CN" dirty="0">
                <a:latin typeface="Aptos" panose="020B0004020202020204" pitchFamily="34" charset="0"/>
                <a:ea typeface="Apple Color Emoji" pitchFamily="2" charset="0"/>
              </a:rPr>
              <a:t>] code must satisfy n-k&gt;=d-1.</a:t>
            </a:r>
            <a:endParaRPr lang="en-CN" b="1" i="1" dirty="0"/>
          </a:p>
        </p:txBody>
      </p:sp>
    </p:spTree>
    <p:extLst>
      <p:ext uri="{BB962C8B-B14F-4D97-AF65-F5344CB8AC3E}">
        <p14:creationId xmlns:p14="http://schemas.microsoft.com/office/powerpoint/2010/main" val="234233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BD2B-E643-B45E-4932-39B4AA9A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96903-2C1F-A3AD-4533-FDD6BBC7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8100E-E536-B0B1-9098-18184739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B5763-2142-0D3C-E52A-A428A34E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7468BC-6F69-0A7E-9F97-511E811E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纠错码的构造</a:t>
            </a:r>
            <a:r>
              <a:rPr lang="en-US" altLang="zh-CN" dirty="0"/>
              <a:t>—</a:t>
            </a:r>
            <a:r>
              <a:rPr lang="zh-CN" altLang="en-US" dirty="0"/>
              <a:t> 从经典</a:t>
            </a:r>
            <a:r>
              <a:rPr lang="zh-CN" altLang="en-CN" dirty="0">
                <a:solidFill>
                  <a:srgbClr val="487AE7"/>
                </a:solidFill>
              </a:rPr>
              <a:t>线性</a:t>
            </a:r>
            <a:r>
              <a:rPr lang="zh-CN" altLang="en-US" dirty="0"/>
              <a:t>码说起 </a:t>
            </a:r>
            <a:r>
              <a:rPr lang="en-US" altLang="zh-CN" i="1" dirty="0"/>
              <a:t>(continued)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68139-96AE-A42B-4325-24265473A180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1247759" cy="82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Hamming code:  The parity check matrix H of a [7,4] code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7"/>
                                  <m:mcJc m:val="center"/>
                                </m:mcPr>
                              </m:mc>
                            </m:mcs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68139-96AE-A42B-4325-24265473A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1247759" cy="824906"/>
              </a:xfrm>
              <a:prstGeom prst="rect">
                <a:avLst/>
              </a:prstGeom>
              <a:blipFill>
                <a:blip r:embed="rId2"/>
                <a:stretch>
                  <a:fillRect l="-564" b="-29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6404E-4A42-0AE4-A165-B52441D0A290}"/>
                  </a:ext>
                </a:extLst>
              </p:cNvPr>
              <p:cNvSpPr txBox="1"/>
              <p:nvPr/>
            </p:nvSpPr>
            <p:spPr>
              <a:xfrm>
                <a:off x="838200" y="2708906"/>
                <a:ext cx="922499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ptos" panose="020B00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an [n, k] code with generator matrix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and parity check matrix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. Then we can define another code, the dual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to be the code with generator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and parity check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. Equivalently, the dual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consists of all codewords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orthogonal to all the codewords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. A code is said to be weakly self-dual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and strictly self-dual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</a:t>
                </a:r>
              </a:p>
              <a:p>
                <a:endParaRPr lang="en-US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Rather remarkably, the dual construction for classical linear codes arises naturally in the study of quantum error-correction, and is the key to the construction of an important class of quantum codes known as CSS codes.</a:t>
                </a:r>
              </a:p>
              <a:p>
                <a:endParaRPr lang="en-CN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6404E-4A42-0AE4-A165-B52441D0A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08906"/>
                <a:ext cx="9224996" cy="2862322"/>
              </a:xfrm>
              <a:prstGeom prst="rect">
                <a:avLst/>
              </a:prstGeom>
              <a:blipFill>
                <a:blip r:embed="rId3"/>
                <a:stretch>
                  <a:fillRect l="-688" t="-885" r="-1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32338C-340D-57B9-4815-5C7CAB93343B}"/>
                  </a:ext>
                </a:extLst>
              </p:cNvPr>
              <p:cNvSpPr txBox="1"/>
              <p:nvPr/>
            </p:nvSpPr>
            <p:spPr>
              <a:xfrm>
                <a:off x="838200" y="5478053"/>
                <a:ext cx="90480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ptos" panose="020B0004020202020204" pitchFamily="34" charset="0"/>
                  </a:rPr>
                  <a:t>A code with generator matrix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weakly self-dual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𝐺𝐺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CN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32338C-340D-57B9-4815-5C7CAB933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78053"/>
                <a:ext cx="9048083" cy="369332"/>
              </a:xfrm>
              <a:prstGeom prst="rect">
                <a:avLst/>
              </a:prstGeom>
              <a:blipFill>
                <a:blip r:embed="rId4"/>
                <a:stretch>
                  <a:fillRect l="-701" t="-6667" b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09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C24BE-B73D-794E-864B-2179B54A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7C69B-9857-0EB7-1662-895DDB7C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A568C-F5DC-8AB6-1AAC-B6AACEC8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F6BE5D-0532-632F-53F3-FD2D77BF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纠错码的构造 </a:t>
            </a:r>
            <a:r>
              <a:rPr lang="en-US" altLang="zh-CN" dirty="0"/>
              <a:t>—</a:t>
            </a:r>
            <a:r>
              <a:rPr lang="zh-CN" altLang="en-US" dirty="0"/>
              <a:t> </a:t>
            </a:r>
            <a:r>
              <a:rPr lang="en-US" i="1" dirty="0"/>
              <a:t>Calderbank-Shor-Steane codes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07E57-08A2-9D2C-0D8C-DA603C65E410}"/>
                  </a:ext>
                </a:extLst>
              </p:cNvPr>
              <p:cNvSpPr txBox="1"/>
              <p:nvPr/>
            </p:nvSpPr>
            <p:spPr>
              <a:xfrm>
                <a:off x="838200" y="2438833"/>
                <a:ext cx="10746357" cy="926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classical linear codes, respectively,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bSup>
                  </m:oMath>
                </a14:m>
                <a:r>
                  <a:rPr lang="en-US" dirty="0"/>
                  <a:t> can correct errors on up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bits.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𝐶𝑆𝑆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quantum error-correcting code which can correct arbitrary</a:t>
                </a:r>
                <a:r>
                  <a:rPr lang="zh-CN" altLang="en-US" dirty="0"/>
                  <a:t> </a:t>
                </a:r>
                <a:r>
                  <a:rPr lang="en-US" dirty="0"/>
                  <a:t>errors on up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qubits.</a:t>
                </a:r>
                <a:endParaRPr lang="en-C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07E57-08A2-9D2C-0D8C-DA603C65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8833"/>
                <a:ext cx="10746357" cy="926472"/>
              </a:xfrm>
              <a:prstGeom prst="rect">
                <a:avLst/>
              </a:prstGeom>
              <a:blipFill>
                <a:blip r:embed="rId2"/>
                <a:stretch>
                  <a:fillRect l="-590" t="-2740" b="-95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53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F706-7754-D3B8-4949-24980550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46272-AA9E-CAD8-7528-5F53E562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181C8-ACC1-4A9B-D47D-9763B064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8168B-A70F-D8EF-84A5-09FECEC6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7CCF97-9257-339E-E998-DA6A752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纠错码的构造</a:t>
            </a:r>
            <a:r>
              <a:rPr lang="zh-CN" altLang="en-US" dirty="0"/>
              <a:t> </a:t>
            </a:r>
            <a:r>
              <a:rPr lang="en-US" altLang="zh-CN" dirty="0"/>
              <a:t>—</a:t>
            </a:r>
            <a:r>
              <a:rPr lang="zh-CN" altLang="en-US" dirty="0"/>
              <a:t> </a:t>
            </a:r>
            <a:r>
              <a:rPr lang="en-US" i="1" dirty="0"/>
              <a:t>The Steane code</a:t>
            </a:r>
            <a:endParaRPr lang="en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F005D3-0788-C0AA-4BAB-52EB46EBBA59}"/>
                  </a:ext>
                </a:extLst>
              </p:cNvPr>
              <p:cNvSpPr txBox="1"/>
              <p:nvPr/>
            </p:nvSpPr>
            <p:spPr>
              <a:xfrm>
                <a:off x="838200" y="2602509"/>
                <a:ext cx="10153783" cy="1101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7,4,3</m:t>
                        </m:r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/>
                  <a:t>code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with party check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7"/>
                                  <m:mcJc m:val="center"/>
                                </m:mcPr>
                              </m:mc>
                            </m:mcs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en-CN" dirty="0"/>
                  <a:t>, (</a:t>
                </a:r>
                <a:r>
                  <a:rPr lang="en-CN" dirty="0">
                    <a:solidFill>
                      <a:srgbClr val="FF0000"/>
                    </a:solidFill>
                  </a:rPr>
                  <a:t>check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N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F005D3-0788-C0AA-4BAB-52EB46EBB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02509"/>
                <a:ext cx="10153783" cy="1101905"/>
              </a:xfrm>
              <a:prstGeom prst="rect">
                <a:avLst/>
              </a:prstGeom>
              <a:blipFill>
                <a:blip r:embed="rId2"/>
                <a:stretch>
                  <a:fillRect l="-625" b="-681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705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3F6F-FCE9-AF02-B92E-3613E558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ECF21-D7DA-B9D1-6CA0-0D461C25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93F93-D326-C5E6-7984-97C28F5F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6577-8426-7E70-B205-6DE62FFD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14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DA3EC1-580C-6D9E-4CE7-2E9A5E6E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纠错码的构造</a:t>
            </a:r>
            <a:r>
              <a:rPr lang="zh-CN" altLang="en-US" dirty="0"/>
              <a:t> </a:t>
            </a:r>
            <a:r>
              <a:rPr lang="en-US" altLang="zh-CN" dirty="0"/>
              <a:t>—</a:t>
            </a:r>
            <a:r>
              <a:rPr lang="zh-CN" altLang="en-US" dirty="0"/>
              <a:t> </a:t>
            </a:r>
            <a:r>
              <a:rPr lang="en-US" i="1" dirty="0"/>
              <a:t>Stabilizer codes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45D2B-C29B-02D9-DF81-0D063B48195E}"/>
              </a:ext>
            </a:extLst>
          </p:cNvPr>
          <p:cNvSpPr txBox="1"/>
          <p:nvPr/>
        </p:nvSpPr>
        <p:spPr>
          <a:xfrm>
            <a:off x="626651" y="1604995"/>
            <a:ext cx="231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stabilizer formalism</a:t>
            </a:r>
            <a:r>
              <a:rPr lang="en-CN" i="1" dirty="0"/>
              <a:t>:</a:t>
            </a:r>
            <a:endParaRPr lang="en-US" dirty="0"/>
          </a:p>
        </p:txBody>
      </p:sp>
      <p:pic>
        <p:nvPicPr>
          <p:cNvPr id="8" name="Picture 7" descr="A table with a number of letters&#10;&#10;AI-generated content may be incorrect.">
            <a:extLst>
              <a:ext uri="{FF2B5EF4-FFF2-40B4-BE49-F238E27FC236}">
                <a16:creationId xmlns:a16="http://schemas.microsoft.com/office/drawing/2014/main" id="{89C5C650-8C7F-8967-1559-741BFE652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541" y="2572344"/>
            <a:ext cx="4498276" cy="3124567"/>
          </a:xfrm>
          <a:prstGeom prst="rect">
            <a:avLst/>
          </a:prstGeom>
        </p:spPr>
      </p:pic>
      <p:pic>
        <p:nvPicPr>
          <p:cNvPr id="10" name="Picture 9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CC99824C-2B01-BE60-7A1B-B023E1737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4" y="3107681"/>
            <a:ext cx="6685891" cy="25892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0DDC77-E4C1-C485-B366-2A01D6CCE298}"/>
              </a:ext>
            </a:extLst>
          </p:cNvPr>
          <p:cNvSpPr txBox="1"/>
          <p:nvPr/>
        </p:nvSpPr>
        <p:spPr>
          <a:xfrm>
            <a:off x="626651" y="220301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State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6DD54-E002-8E7E-A782-3810AE6C1908}"/>
              </a:ext>
            </a:extLst>
          </p:cNvPr>
          <p:cNvSpPr txBox="1"/>
          <p:nvPr/>
        </p:nvSpPr>
        <p:spPr>
          <a:xfrm>
            <a:off x="7336714" y="2272516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Operation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7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AEEA-1E95-38EA-24D4-30FDED67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AAA7A-CA71-EE3D-8B86-CEB20849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47D4B-7136-36FC-1BC2-E37679F1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F518-EAE0-4E09-56F4-47D650EF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15</a:t>
            </a:fld>
            <a:endParaRPr kumimoji="1"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63B1C2-DA4D-88EC-43A5-C03CBB8C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纠错码的构造</a:t>
            </a:r>
            <a:r>
              <a:rPr lang="zh-CN" altLang="en-US" dirty="0"/>
              <a:t> </a:t>
            </a:r>
            <a:r>
              <a:rPr lang="en-US" altLang="zh-CN" dirty="0"/>
              <a:t>—</a:t>
            </a:r>
            <a:r>
              <a:rPr lang="zh-CN" altLang="en-US" dirty="0"/>
              <a:t> </a:t>
            </a:r>
            <a:r>
              <a:rPr lang="en-US" i="1" dirty="0"/>
              <a:t>Stabilizer codes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F8AF1-3E39-1E2D-1EEE-76C9E355EDF2}"/>
              </a:ext>
            </a:extLst>
          </p:cNvPr>
          <p:cNvSpPr txBox="1"/>
          <p:nvPr/>
        </p:nvSpPr>
        <p:spPr>
          <a:xfrm>
            <a:off x="626651" y="1604995"/>
            <a:ext cx="231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stabilizer formalism</a:t>
            </a:r>
            <a:r>
              <a:rPr lang="en-CN" i="1" dirty="0"/>
              <a:t>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15673-4669-9D02-49AE-28965A645264}"/>
              </a:ext>
            </a:extLst>
          </p:cNvPr>
          <p:cNvSpPr txBox="1"/>
          <p:nvPr/>
        </p:nvSpPr>
        <p:spPr>
          <a:xfrm>
            <a:off x="626651" y="2203012"/>
            <a:ext cx="1505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Measurement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en-C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B9389-7A42-19AD-65C2-D34936166B4F}"/>
                  </a:ext>
                </a:extLst>
              </p:cNvPr>
              <p:cNvSpPr txBox="1"/>
              <p:nvPr/>
            </p:nvSpPr>
            <p:spPr>
              <a:xfrm>
                <a:off x="626651" y="2930558"/>
                <a:ext cx="99523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Assuming g is a product of Pauli matrices</a:t>
                </a:r>
                <a:r>
                  <a:rPr lang="en-US" dirty="0"/>
                  <a:t> </a:t>
                </a:r>
                <a:r>
                  <a:rPr lang="en-US" i="1" dirty="0"/>
                  <a:t>with no multiplicative factor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i="1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out the front. The system is assumed to be</a:t>
                </a:r>
                <a:r>
                  <a:rPr lang="en-US" dirty="0"/>
                  <a:t> </a:t>
                </a:r>
                <a:r>
                  <a:rPr lang="en-US" i="1" dirty="0"/>
                  <a:t>in a state with stabilizer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/>
                  <a:t>&gt;.</a:t>
                </a:r>
                <a:endParaRPr lang="en-US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B9389-7A42-19AD-65C2-D34936166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51" y="2930558"/>
                <a:ext cx="9952360" cy="923330"/>
              </a:xfrm>
              <a:prstGeom prst="rect">
                <a:avLst/>
              </a:prstGeom>
              <a:blipFill>
                <a:blip r:embed="rId2"/>
                <a:stretch>
                  <a:fillRect l="-510" t="-27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752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767C-37E3-DF95-5D7E-DEEE7191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F49E8E-61DC-77B9-9D81-100DC633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</p:spPr>
        <p:txBody>
          <a:bodyPr anchor="ctr">
            <a:normAutofit/>
          </a:bodyPr>
          <a:lstStyle/>
          <a:p>
            <a:r>
              <a:rPr lang="en-US" dirty="0"/>
              <a:t>Practical Quantum Error Correction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DBDED674-E49C-B5DC-F089-F10D215781D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14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0C5D13EE-3DA4-88B8-51E9-FE0DD2AC7563}"/>
              </a:ext>
            </a:extLst>
          </p:cNvPr>
          <p:cNvGraphicFramePr/>
          <p:nvPr/>
        </p:nvGraphicFramePr>
        <p:xfrm>
          <a:off x="447816" y="1851660"/>
          <a:ext cx="11292840" cy="2954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11E95-6D32-C335-D936-772A6914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66449-7C6E-A146-07FC-62C39016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47E33-25A9-B2CB-C62B-D7BBB34E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1217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063C0-1E3F-BD09-46CB-CA19504A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2026/05/26</a:t>
            </a:r>
            <a:endParaRPr kumimoji="1" lang="zh-CN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42B4D-95DB-0A42-98D3-342AD375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量子计算研讨课 第十三讲</a:t>
            </a:r>
            <a:endParaRPr kumimoji="1" lang="zh-CN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08DEA3-CC3C-BCBE-818D-BE7D2EC6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课后阅读材料与作业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FAF9A-C4E6-C67A-152C-F90A52F85A72}"/>
              </a:ext>
            </a:extLst>
          </p:cNvPr>
          <p:cNvSpPr txBox="1"/>
          <p:nvPr/>
        </p:nvSpPr>
        <p:spPr>
          <a:xfrm>
            <a:off x="1004553" y="5361167"/>
            <a:ext cx="10496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本周作业</a:t>
            </a:r>
          </a:p>
          <a:p>
            <a:r>
              <a:rPr lang="en-CN" dirty="0">
                <a:latin typeface="Apple Braille" pitchFamily="2" charset="0"/>
              </a:rPr>
              <a:t>无</a:t>
            </a:r>
            <a:r>
              <a:rPr lang="zh-CN" altLang="en-US" dirty="0">
                <a:latin typeface="Apple Braille" pitchFamily="2" charset="0"/>
              </a:rPr>
              <a:t>，请准备大作业</a:t>
            </a:r>
            <a:endParaRPr lang="en-CN" dirty="0">
              <a:latin typeface="Apple Braille" pitchFamily="2" charset="0"/>
            </a:endParaRPr>
          </a:p>
          <a:p>
            <a:endParaRPr lang="en-CN" dirty="0"/>
          </a:p>
        </p:txBody>
      </p:sp>
      <p:pic>
        <p:nvPicPr>
          <p:cNvPr id="9" name="Picture 8" descr="A cat sitting on a cloud with a pen and a notebook&#10;&#10;AI-generated content may be incorrect.">
            <a:extLst>
              <a:ext uri="{FF2B5EF4-FFF2-40B4-BE49-F238E27FC236}">
                <a16:creationId xmlns:a16="http://schemas.microsoft.com/office/drawing/2014/main" id="{5F64FD3E-237D-6B55-E42A-3097FBEF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751" y="1309448"/>
            <a:ext cx="7492466" cy="40867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F667B-F743-69E8-4C2D-24F8FB32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0788396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11569</TotalTime>
  <Words>1414</Words>
  <Application>Microsoft Macintosh PowerPoint</Application>
  <PresentationFormat>Widescreen</PresentationFormat>
  <Paragraphs>176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-webkit-standard</vt:lpstr>
      <vt:lpstr>等线</vt:lpstr>
      <vt:lpstr>Apple Braille</vt:lpstr>
      <vt:lpstr>Aptos</vt:lpstr>
      <vt:lpstr>Arial</vt:lpstr>
      <vt:lpstr>Calibri</vt:lpstr>
      <vt:lpstr>Cambria Math</vt:lpstr>
      <vt:lpstr>Gill Sans MT</vt:lpstr>
      <vt:lpstr>Helvetica</vt:lpstr>
      <vt:lpstr>Wingdings</vt:lpstr>
      <vt:lpstr>Wingdings 2</vt:lpstr>
      <vt:lpstr>清华简约主题-扁平-16:9</vt:lpstr>
      <vt:lpstr>量子计算研讨课 第十三讲</vt:lpstr>
      <vt:lpstr>课程回顾（Recap）</vt:lpstr>
      <vt:lpstr>什么是量子纠错码</vt:lpstr>
      <vt:lpstr>量子纠错的判断条件</vt:lpstr>
      <vt:lpstr>量子错误的离散化</vt:lpstr>
      <vt:lpstr>简并码（Degenerate Codes）</vt:lpstr>
      <vt:lpstr>量子汉明界 （The Quantum Hamming Bound)</vt:lpstr>
      <vt:lpstr>量子码的三大界</vt:lpstr>
      <vt:lpstr>纠错码的构造— 从经典线性码说起</vt:lpstr>
      <vt:lpstr>纠错码的构造— 从经典线性码说起 (continued)</vt:lpstr>
      <vt:lpstr>纠错码的构造— 从经典线性码说起 (continued)</vt:lpstr>
      <vt:lpstr>纠错码的构造 — Calderbank-Shor-Steane codes</vt:lpstr>
      <vt:lpstr>纠错码的构造 — The Steane code</vt:lpstr>
      <vt:lpstr>纠错码的构造 — Stabilizer codes</vt:lpstr>
      <vt:lpstr>纠错码的构造 — Stabilizer codes</vt:lpstr>
      <vt:lpstr>Practical Quantum Error Correction</vt:lpstr>
      <vt:lpstr>课后阅读材料与作业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Jianxin Chen</dc:creator>
  <cp:keywords/>
  <dc:description/>
  <cp:lastModifiedBy>Jianxin Chen</cp:lastModifiedBy>
  <cp:revision>2594</cp:revision>
  <cp:lastPrinted>2025-05-02T07:30:41Z</cp:lastPrinted>
  <dcterms:created xsi:type="dcterms:W3CDTF">2025-05-02T07:30:41Z</dcterms:created>
  <dcterms:modified xsi:type="dcterms:W3CDTF">2026-05-26T05:13:05Z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3D75995B9B209ED37F741468914810AC_42</vt:lpwstr>
  </property>
  <property fmtid="{D5CDD505-2E9C-101B-9397-08002B2CF9AE}" pid="3" name="KSOProductBuildVer">
    <vt:lpwstr>2052-7.3.1.8967</vt:lpwstr>
  </property>
</Properties>
</file>