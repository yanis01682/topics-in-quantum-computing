
<file path=[Content_Types].xml><?xml version="1.0" encoding="utf-8"?>
<Types xmlns="http://schemas.openxmlformats.org/package/2006/content-types"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98" r:id="rId5"/>
    <p:sldId id="710" r:id="rId6"/>
    <p:sldId id="711" r:id="rId7"/>
    <p:sldId id="712" r:id="rId8"/>
    <p:sldId id="713" r:id="rId9"/>
    <p:sldId id="721" r:id="rId10"/>
    <p:sldId id="722" r:id="rId11"/>
    <p:sldId id="714" r:id="rId12"/>
    <p:sldId id="715" r:id="rId13"/>
    <p:sldId id="716" r:id="rId14"/>
    <p:sldId id="717" r:id="rId15"/>
    <p:sldId id="718" r:id="rId16"/>
    <p:sldId id="719" r:id="rId17"/>
    <p:sldId id="723" r:id="rId18"/>
    <p:sldId id="720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129A"/>
    <a:srgbClr val="BD26E6"/>
    <a:srgbClr val="E29EF4"/>
    <a:srgbClr val="580C6E"/>
    <a:srgbClr val="972064"/>
    <a:srgbClr val="630E7C"/>
    <a:srgbClr val="E7E7E7"/>
    <a:srgbClr val="D8D9DA"/>
    <a:srgbClr val="C5BBC8"/>
    <a:srgbClr val="E8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microsoft.com/office/2007/relationships/hdphoto" Target="../media/image3.wdp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image" Target="../media/image6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4" Type="http://schemas.openxmlformats.org/officeDocument/2006/relationships/slideLayout" Target="../slideLayouts/slideLayout1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tags" Target="../tags/tag30.xml"/><Relationship Id="rId30" Type="http://schemas.openxmlformats.org/officeDocument/2006/relationships/tags" Target="../tags/tag29.xml"/><Relationship Id="rId3" Type="http://schemas.openxmlformats.org/officeDocument/2006/relationships/tags" Target="../tags/tag3.xml"/><Relationship Id="rId29" Type="http://schemas.openxmlformats.org/officeDocument/2006/relationships/tags" Target="../tags/tag28.xml"/><Relationship Id="rId28" Type="http://schemas.openxmlformats.org/officeDocument/2006/relationships/tags" Target="../tags/tag27.xml"/><Relationship Id="rId27" Type="http://schemas.openxmlformats.org/officeDocument/2006/relationships/tags" Target="../tags/tag26.xml"/><Relationship Id="rId26" Type="http://schemas.openxmlformats.org/officeDocument/2006/relationships/tags" Target="../tags/tag25.xml"/><Relationship Id="rId25" Type="http://schemas.openxmlformats.org/officeDocument/2006/relationships/tags" Target="../tags/tag24.xml"/><Relationship Id="rId24" Type="http://schemas.openxmlformats.org/officeDocument/2006/relationships/tags" Target="../tags/tag23.xml"/><Relationship Id="rId23" Type="http://schemas.openxmlformats.org/officeDocument/2006/relationships/tags" Target="../tags/tag22.xml"/><Relationship Id="rId22" Type="http://schemas.openxmlformats.org/officeDocument/2006/relationships/tags" Target="../tags/tag21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2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3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4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5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6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7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9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0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1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2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3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4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5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microsoft.com/office/2007/relationships/hdphoto" Target="../media/image3.wdp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-17748" y="-15897"/>
            <a:ext cx="12227495" cy="6857999"/>
          </a:xfrm>
          <a:prstGeom prst="rect">
            <a:avLst/>
          </a:prstGeom>
          <a:gradFill flip="none" rotWithShape="1">
            <a:gsLst>
              <a:gs pos="100000">
                <a:srgbClr val="992164"/>
              </a:gs>
              <a:gs pos="73000">
                <a:srgbClr val="7A1769"/>
              </a:gs>
              <a:gs pos="0">
                <a:srgbClr val="580C6E"/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024486">
            <a:off x="-135700" y="-4437113"/>
            <a:ext cx="10609201" cy="14974172"/>
          </a:xfrm>
          <a:prstGeom prst="rect">
            <a:avLst/>
          </a:prstGeom>
        </p:spPr>
      </p:pic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矩形 21"/>
          <p:cNvSpPr/>
          <p:nvPr/>
        </p:nvSpPr>
        <p:spPr>
          <a:xfrm>
            <a:off x="33890" y="0"/>
            <a:ext cx="12227495" cy="6857999"/>
          </a:xfrm>
          <a:prstGeom prst="rect">
            <a:avLst/>
          </a:prstGeom>
          <a:gradFill flip="none" rotWithShape="1">
            <a:gsLst>
              <a:gs pos="95000">
                <a:srgbClr val="992164"/>
              </a:gs>
              <a:gs pos="73000">
                <a:srgbClr val="7A1769">
                  <a:alpha val="50000"/>
                </a:srgbClr>
              </a:gs>
              <a:gs pos="0">
                <a:srgbClr val="580C6E">
                  <a:alpha val="78000"/>
                </a:srgbClr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/>
          <p:cNvSpPr txBox="1"/>
          <p:nvPr/>
        </p:nvSpPr>
        <p:spPr>
          <a:xfrm>
            <a:off x="1189553" y="1870223"/>
            <a:ext cx="106758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9600" spc="13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汉仪雪君体简" panose="02010604000101010101" pitchFamily="2" charset="-122"/>
              <a:ea typeface="金桥简行楷" pitchFamily="2" charset="-122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270667" y="287180"/>
            <a:ext cx="3277389" cy="1008394"/>
            <a:chOff x="9730702" y="211219"/>
            <a:chExt cx="2374282" cy="701101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2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 rotWithShape="1">
            <a:blip r:embed="rId4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21" name="文本框 20"/>
          <p:cNvSpPr txBox="1"/>
          <p:nvPr/>
        </p:nvSpPr>
        <p:spPr>
          <a:xfrm>
            <a:off x="4303594" y="3658243"/>
            <a:ext cx="3887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+mj-cs"/>
            </a:endParaRPr>
          </a:p>
        </p:txBody>
      </p:sp>
      <p:pic>
        <p:nvPicPr>
          <p:cNvPr id="23" name="图片 22" descr="建筑的设计&#10;&#10;描述已自动生成"/>
          <p:cNvPicPr>
            <a:picLocks noChangeAspect="1"/>
          </p:cNvPicPr>
          <p:nvPr/>
        </p:nvPicPr>
        <p:blipFill>
          <a:blip r:embed="rId5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701" y="4616132"/>
            <a:ext cx="3360499" cy="225496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27430" y="2102993"/>
            <a:ext cx="6903720" cy="1143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 UI" panose="020B0503020204020204" charset="-122"/>
              </a:rPr>
              <a:t>SABRE: 面向 NISQ 设备的</a:t>
            </a:r>
            <a:endParaRPr sz="3400" b="1">
              <a:solidFill>
                <a:srgbClr val="FFFFFF"/>
              </a:solidFill>
              <a:latin typeface="Microsoft YaHei UI" panose="020B0503020204020204" charset="-122"/>
            </a:endParaRP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 UI" panose="020B0503020204020204" charset="-122"/>
              </a:rPr>
              <a:t>量子比特映射算法</a:t>
            </a:r>
            <a:endParaRPr sz="3400" b="1">
              <a:solidFill>
                <a:srgbClr val="FFFFFF"/>
              </a:solidFill>
              <a:latin typeface="Microsoft YaHei U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85850" y="3429000"/>
            <a:ext cx="67208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CE8F5"/>
                </a:solidFill>
                <a:latin typeface="微软雅黑" panose="020B0503020204020204" charset="-122"/>
              </a:rPr>
              <a:t>Tackling the Qubit Mapping Problem for NISQ-Era Quantum Devices</a:t>
            </a:r>
            <a:endParaRPr sz="1500" b="1">
              <a:solidFill>
                <a:srgbClr val="ECE8F5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73150" y="3904615"/>
            <a:ext cx="626364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DDEF"/>
                </a:solidFill>
                <a:latin typeface="微软雅黑" panose="020B0503020204020204" charset="-122"/>
              </a:rPr>
              <a:t>Gushu Li, Yufei Ding, Yuan Xie | arXiv:1809.02573</a:t>
            </a:r>
            <a:endParaRPr sz="1200" b="0">
              <a:solidFill>
                <a:srgbClr val="E5DDEF"/>
              </a:solidFill>
              <a:latin typeface="微软雅黑" panose="020B0503020204020204" charset="-122"/>
            </a:endParaRP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DDEF"/>
                </a:solidFill>
                <a:latin typeface="微软雅黑" panose="020B0503020204020204" charset="-122"/>
              </a:rPr>
              <a:t>量子计算研讨课 · 期末论文汇报</a:t>
            </a:r>
            <a:endParaRPr sz="1200" b="0">
              <a:solidFill>
                <a:srgbClr val="E5DDEF"/>
              </a:solidFill>
              <a:latin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7242810" y="45904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bg1"/>
                </a:solidFill>
              </a:rPr>
              <a:t>汇报人：计</a:t>
            </a:r>
            <a:r>
              <a:rPr lang="en-US" altLang="zh-CN">
                <a:solidFill>
                  <a:schemeClr val="bg1"/>
                </a:solidFill>
              </a:rPr>
              <a:t>42</a:t>
            </a:r>
            <a:r>
              <a:rPr lang="zh-CN" altLang="en-US">
                <a:solidFill>
                  <a:schemeClr val="bg1"/>
                </a:solidFill>
              </a:rPr>
              <a:t>张芝源，计</a:t>
            </a:r>
            <a:r>
              <a:rPr lang="en-US" altLang="zh-CN">
                <a:solidFill>
                  <a:schemeClr val="bg1"/>
                </a:solidFill>
              </a:rPr>
              <a:t>42</a:t>
            </a:r>
            <a:r>
              <a:rPr lang="zh-CN" altLang="en-US">
                <a:solidFill>
                  <a:schemeClr val="bg1"/>
                </a:solidFill>
              </a:rPr>
              <a:t>陈家睦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3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F5F7FA"/>
                </a:solidFill>
                <a:latin typeface="Aptos"/>
              </a:rPr>
              <a:t>01 / 16</a:t>
            </a:r>
            <a:endParaRPr sz="800">
              <a:solidFill>
                <a:srgbClr val="F5F7FA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矩形 54"/>
          <p:cNvSpPr/>
          <p:nvPr/>
        </p:nvSpPr>
        <p:spPr>
          <a:xfrm rot="5400000">
            <a:off x="-1765935" y="1766570"/>
            <a:ext cx="6866255" cy="3333750"/>
          </a:xfrm>
          <a:prstGeom prst="rect">
            <a:avLst/>
          </a:prstGeom>
          <a:gradFill flip="none" rotWithShape="1">
            <a:gsLst>
              <a:gs pos="100000">
                <a:srgbClr val="8F1E65"/>
              </a:gs>
              <a:gs pos="90000">
                <a:srgbClr val="72156A"/>
              </a:gs>
              <a:gs pos="74000">
                <a:srgbClr val="580C6E"/>
              </a:gs>
              <a:gs pos="100000">
                <a:srgbClr val="AC2761"/>
              </a:gs>
            </a:gsLst>
            <a:lin ang="21594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Ext-Normal"/>
              <a:cs typeface="+mn-cs"/>
            </a:endParaRPr>
          </a:p>
        </p:txBody>
      </p:sp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18" name="组合 17"/>
          <p:cNvGrpSpPr/>
          <p:nvPr/>
        </p:nvGrpSpPr>
        <p:grpSpPr>
          <a:xfrm>
            <a:off x="509024" y="968641"/>
            <a:ext cx="1778001" cy="941665"/>
            <a:chOff x="509024" y="968641"/>
            <a:chExt cx="1778001" cy="941665"/>
          </a:xfrm>
        </p:grpSpPr>
        <p:sp>
          <p:nvSpPr>
            <p:cNvPr id="19" name="1"/>
            <p:cNvSpPr txBox="1"/>
            <p:nvPr/>
          </p:nvSpPr>
          <p:spPr>
            <a:xfrm>
              <a:off x="509024" y="968641"/>
              <a:ext cx="1778001" cy="670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32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algn="di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3200" b="0" i="0" u="none" strike="noStrike" kern="0" cap="none" spc="13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 Heavy" panose="02010600030101010101" pitchFamily="18" charset="-122"/>
                  <a:ea typeface="思源宋体 CN Heavy" panose="02010600030101010101" pitchFamily="18" charset="-122"/>
                </a:rPr>
                <a:t>目录</a:t>
              </a:r>
              <a:endParaRPr kumimoji="0" lang="zh-CN" altLang="en-US" sz="3200" b="0" i="0" u="none" strike="noStrike" kern="0" cap="none" spc="1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 Heavy" panose="02010600030101010101" pitchFamily="18" charset="-122"/>
                <a:ea typeface="思源宋体 CN Heavy" panose="02010600030101010101" pitchFamily="18" charset="-122"/>
              </a:endParaRPr>
            </a:p>
          </p:txBody>
        </p:sp>
        <p:sp>
          <p:nvSpPr>
            <p:cNvPr id="20" name="11"/>
            <p:cNvSpPr txBox="1"/>
            <p:nvPr/>
          </p:nvSpPr>
          <p:spPr>
            <a:xfrm>
              <a:off x="569509" y="1506524"/>
              <a:ext cx="1693632" cy="3529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di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0" i="0" u="none" strike="noStrike" kern="0" cap="none" spc="130" normalizeH="0" baseline="0" noProof="0" dirty="0">
                  <a:ln>
                    <a:noFill/>
                  </a:ln>
                  <a:solidFill>
                    <a:srgbClr val="FFFFFF">
                      <a:lumMod val="85000"/>
                    </a:srgbClr>
                  </a:solidFill>
                  <a:effectLst/>
                  <a:uLnTx/>
                  <a:uFillTx/>
                  <a:latin typeface="阿里巴巴普惠体 R"/>
                </a:rPr>
                <a:t>CONTENT</a:t>
              </a:r>
              <a:endParaRPr kumimoji="0" lang="en-US" altLang="zh-CN" sz="1400" b="0" i="0" u="none" strike="noStrike" kern="0" cap="none" spc="130" normalizeH="0" baseline="0" noProof="0" dirty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676665" y="1859506"/>
              <a:ext cx="711200" cy="508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grpSp>
        <p:nvGrpSpPr>
          <p:cNvPr id="36" name="组合 35"/>
          <p:cNvGrpSpPr/>
          <p:nvPr>
            <p:custDataLst>
              <p:tags r:id="rId1"/>
            </p:custDataLst>
          </p:nvPr>
        </p:nvGrpSpPr>
        <p:grpSpPr>
          <a:xfrm>
            <a:off x="4005386" y="2470426"/>
            <a:ext cx="8142641" cy="787523"/>
            <a:chOff x="3496116" y="992179"/>
            <a:chExt cx="8142641" cy="787523"/>
          </a:xfrm>
        </p:grpSpPr>
        <p:sp>
          <p:nvSpPr>
            <p:cNvPr id="37" name="1"/>
            <p:cNvSpPr txBox="1"/>
            <p:nvPr/>
          </p:nvSpPr>
          <p:spPr>
            <a:xfrm>
              <a:off x="3943350" y="992179"/>
              <a:ext cx="2208297" cy="504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130" normalizeH="0" baseline="0" noProof="0" dirty="0">
                <a:ln>
                  <a:noFill/>
                </a:ln>
                <a:solidFill>
                  <a:srgbClr val="580C6E"/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39" name="11"/>
            <p:cNvSpPr txBox="1"/>
            <p:nvPr/>
          </p:nvSpPr>
          <p:spPr>
            <a:xfrm>
              <a:off x="5989865" y="992179"/>
              <a:ext cx="5648892" cy="787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ju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40" name="1"/>
            <p:cNvSpPr txBox="1"/>
            <p:nvPr/>
          </p:nvSpPr>
          <p:spPr>
            <a:xfrm>
              <a:off x="3981450" y="1386167"/>
              <a:ext cx="2208297" cy="3091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1" name="等腰三角形 40"/>
            <p:cNvSpPr/>
            <p:nvPr>
              <p:custDataLst>
                <p:tags r:id="rId2"/>
              </p:custDataLst>
            </p:nvPr>
          </p:nvSpPr>
          <p:spPr>
            <a:xfrm rot="5400000">
              <a:off x="3479223" y="1147193"/>
              <a:ext cx="244941" cy="211156"/>
            </a:xfrm>
            <a:prstGeom prst="triangle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  <p:sp>
          <p:nvSpPr>
            <p:cNvPr id="42" name="矩形 41"/>
            <p:cNvSpPr/>
            <p:nvPr>
              <p:custDataLst>
                <p:tags r:id="rId3"/>
              </p:custDataLst>
            </p:nvPr>
          </p:nvSpPr>
          <p:spPr>
            <a:xfrm>
              <a:off x="10807700" y="1728901"/>
              <a:ext cx="711200" cy="50800"/>
            </a:xfrm>
            <a:prstGeom prst="rect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grpSp>
        <p:nvGrpSpPr>
          <p:cNvPr id="43" name="组合 42"/>
          <p:cNvGrpSpPr/>
          <p:nvPr>
            <p:custDataLst>
              <p:tags r:id="rId4"/>
            </p:custDataLst>
          </p:nvPr>
        </p:nvGrpSpPr>
        <p:grpSpPr>
          <a:xfrm>
            <a:off x="4005386" y="3948673"/>
            <a:ext cx="8142641" cy="787523"/>
            <a:chOff x="3496116" y="992179"/>
            <a:chExt cx="8142641" cy="787523"/>
          </a:xfrm>
        </p:grpSpPr>
        <p:sp>
          <p:nvSpPr>
            <p:cNvPr id="44" name="1"/>
            <p:cNvSpPr txBox="1"/>
            <p:nvPr/>
          </p:nvSpPr>
          <p:spPr>
            <a:xfrm>
              <a:off x="3943350" y="992179"/>
              <a:ext cx="2208297" cy="504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130" normalizeH="0" baseline="0" noProof="0" dirty="0">
                <a:ln>
                  <a:noFill/>
                </a:ln>
                <a:solidFill>
                  <a:srgbClr val="580C6E"/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5" name="11"/>
            <p:cNvSpPr txBox="1"/>
            <p:nvPr/>
          </p:nvSpPr>
          <p:spPr>
            <a:xfrm>
              <a:off x="5989865" y="992179"/>
              <a:ext cx="5648892" cy="787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ju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46" name="1"/>
            <p:cNvSpPr txBox="1"/>
            <p:nvPr/>
          </p:nvSpPr>
          <p:spPr>
            <a:xfrm>
              <a:off x="3981450" y="1386167"/>
              <a:ext cx="2208297" cy="3091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7" name="等腰三角形 46"/>
            <p:cNvSpPr/>
            <p:nvPr>
              <p:custDataLst>
                <p:tags r:id="rId5"/>
              </p:custDataLst>
            </p:nvPr>
          </p:nvSpPr>
          <p:spPr>
            <a:xfrm rot="5400000">
              <a:off x="3479223" y="1147193"/>
              <a:ext cx="244941" cy="211156"/>
            </a:xfrm>
            <a:prstGeom prst="triangle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  <p:sp>
          <p:nvSpPr>
            <p:cNvPr id="48" name="矩形 47"/>
            <p:cNvSpPr/>
            <p:nvPr>
              <p:custDataLst>
                <p:tags r:id="rId6"/>
              </p:custDataLst>
            </p:nvPr>
          </p:nvSpPr>
          <p:spPr>
            <a:xfrm>
              <a:off x="10807700" y="1728901"/>
              <a:ext cx="711200" cy="50800"/>
            </a:xfrm>
            <a:prstGeom prst="rect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74"/>
          <a:stretch>
            <a:fillRect/>
          </a:stretch>
        </p:blipFill>
        <p:spPr>
          <a:xfrm>
            <a:off x="-758169" y="3471206"/>
            <a:ext cx="4099825" cy="3429000"/>
          </a:xfrm>
          <a:prstGeom prst="rect">
            <a:avLst/>
          </a:prstGeom>
        </p:spPr>
      </p:pic>
      <p:sp>
        <p:nvSpPr>
          <p:cNvPr id="2" name="矩形 1"/>
          <p:cNvSpPr/>
          <p:nvPr>
            <p:custDataLst>
              <p:tags r:id="rId8"/>
            </p:custDataLst>
          </p:nvPr>
        </p:nvSpPr>
        <p:spPr>
          <a:xfrm>
            <a:off x="3480435" y="1375410"/>
            <a:ext cx="8710930" cy="4040505"/>
          </a:xfrm>
          <a:prstGeom prst="rect">
            <a:avLst/>
          </a:prstGeom>
          <a:solidFill>
            <a:srgbClr val="F2F2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Rounded Rectangle 57"/>
          <p:cNvSpPr/>
          <p:nvPr>
            <p:custDataLst>
              <p:tags r:id="rId9"/>
            </p:custDataLst>
          </p:nvPr>
        </p:nvSpPr>
        <p:spPr>
          <a:xfrm>
            <a:off x="3663950" y="1627632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>
            <p:custDataLst>
              <p:tags r:id="rId10"/>
            </p:custDataLst>
          </p:nvPr>
        </p:nvSpPr>
        <p:spPr>
          <a:xfrm>
            <a:off x="3874262" y="1755648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>
            <p:custDataLst>
              <p:tags r:id="rId11"/>
            </p:custDataLst>
          </p:nvPr>
        </p:nvSpPr>
        <p:spPr>
          <a:xfrm>
            <a:off x="3874262" y="1851660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>
            <p:custDataLst>
              <p:tags r:id="rId12"/>
            </p:custDataLst>
          </p:nvPr>
        </p:nvSpPr>
        <p:spPr>
          <a:xfrm>
            <a:off x="4368038" y="1737360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问题背景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62" name="TextBox 61"/>
          <p:cNvSpPr txBox="1"/>
          <p:nvPr>
            <p:custDataLst>
              <p:tags r:id="rId13"/>
            </p:custDataLst>
          </p:nvPr>
        </p:nvSpPr>
        <p:spPr>
          <a:xfrm>
            <a:off x="5648198" y="1764792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NISQ 硬件连接受限，理论线路不能直接落到芯片上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63" name="Rounded Rectangle 62"/>
          <p:cNvSpPr/>
          <p:nvPr>
            <p:custDataLst>
              <p:tags r:id="rId14"/>
            </p:custDataLst>
          </p:nvPr>
        </p:nvSpPr>
        <p:spPr>
          <a:xfrm>
            <a:off x="3663950" y="2414016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>
            <p:custDataLst>
              <p:tags r:id="rId15"/>
            </p:custDataLst>
          </p:nvPr>
        </p:nvSpPr>
        <p:spPr>
          <a:xfrm>
            <a:off x="3874262" y="2542032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>
            <p:custDataLst>
              <p:tags r:id="rId16"/>
            </p:custDataLst>
          </p:nvPr>
        </p:nvSpPr>
        <p:spPr>
          <a:xfrm>
            <a:off x="3874262" y="2638044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>
            <p:custDataLst>
              <p:tags r:id="rId17"/>
            </p:custDataLst>
          </p:nvPr>
        </p:nvSpPr>
        <p:spPr>
          <a:xfrm>
            <a:off x="4368038" y="2523744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Mapping 定义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67" name="TextBox 66"/>
          <p:cNvSpPr txBox="1"/>
          <p:nvPr>
            <p:custDataLst>
              <p:tags r:id="rId18"/>
            </p:custDataLst>
          </p:nvPr>
        </p:nvSpPr>
        <p:spPr>
          <a:xfrm>
            <a:off x="5648198" y="2551176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输入线路 + 耦合图，输出初始映射 + SWAP 序列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68" name="Rounded Rectangle 67"/>
          <p:cNvSpPr/>
          <p:nvPr>
            <p:custDataLst>
              <p:tags r:id="rId19"/>
            </p:custDataLst>
          </p:nvPr>
        </p:nvSpPr>
        <p:spPr>
          <a:xfrm>
            <a:off x="3663950" y="3200400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>
            <p:custDataLst>
              <p:tags r:id="rId20"/>
            </p:custDataLst>
          </p:nvPr>
        </p:nvSpPr>
        <p:spPr>
          <a:xfrm>
            <a:off x="3874262" y="3328416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>
            <p:custDataLst>
              <p:tags r:id="rId21"/>
            </p:custDataLst>
          </p:nvPr>
        </p:nvSpPr>
        <p:spPr>
          <a:xfrm>
            <a:off x="3874262" y="3424428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>
            <p:custDataLst>
              <p:tags r:id="rId22"/>
            </p:custDataLst>
          </p:nvPr>
        </p:nvSpPr>
        <p:spPr>
          <a:xfrm>
            <a:off x="4368038" y="3310128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困难来源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72" name="TextBox 71"/>
          <p:cNvSpPr txBox="1"/>
          <p:nvPr>
            <p:custDataLst>
              <p:tags r:id="rId23"/>
            </p:custDataLst>
          </p:nvPr>
        </p:nvSpPr>
        <p:spPr>
          <a:xfrm>
            <a:off x="5648198" y="3337560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搜索空间巨大、初始映射敏感、门数与深度冲突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73" name="Rounded Rectangle 72"/>
          <p:cNvSpPr/>
          <p:nvPr>
            <p:custDataLst>
              <p:tags r:id="rId24"/>
            </p:custDataLst>
          </p:nvPr>
        </p:nvSpPr>
        <p:spPr>
          <a:xfrm>
            <a:off x="3663950" y="3986784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>
            <p:custDataLst>
              <p:tags r:id="rId25"/>
            </p:custDataLst>
          </p:nvPr>
        </p:nvSpPr>
        <p:spPr>
          <a:xfrm>
            <a:off x="3874262" y="4114800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>
            <p:custDataLst>
              <p:tags r:id="rId26"/>
            </p:custDataLst>
          </p:nvPr>
        </p:nvSpPr>
        <p:spPr>
          <a:xfrm>
            <a:off x="3874262" y="4210812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6" name="TextBox 75"/>
          <p:cNvSpPr txBox="1"/>
          <p:nvPr>
            <p:custDataLst>
              <p:tags r:id="rId27"/>
            </p:custDataLst>
          </p:nvPr>
        </p:nvSpPr>
        <p:spPr>
          <a:xfrm>
            <a:off x="4368038" y="4096512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SABRE 方法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77" name="TextBox 76"/>
          <p:cNvSpPr txBox="1"/>
          <p:nvPr>
            <p:custDataLst>
              <p:tags r:id="rId28"/>
            </p:custDataLst>
          </p:nvPr>
        </p:nvSpPr>
        <p:spPr>
          <a:xfrm>
            <a:off x="5648198" y="4123944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Front layer、启发式代价、Reverse traversal、Decay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78" name="Rounded Rectangle 77"/>
          <p:cNvSpPr/>
          <p:nvPr>
            <p:custDataLst>
              <p:tags r:id="rId29"/>
            </p:custDataLst>
          </p:nvPr>
        </p:nvSpPr>
        <p:spPr>
          <a:xfrm>
            <a:off x="3663950" y="4773168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>
            <p:custDataLst>
              <p:tags r:id="rId30"/>
            </p:custDataLst>
          </p:nvPr>
        </p:nvSpPr>
        <p:spPr>
          <a:xfrm>
            <a:off x="3874262" y="4901183"/>
            <a:ext cx="320040" cy="320040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>
            <p:custDataLst>
              <p:tags r:id="rId31"/>
            </p:custDataLst>
          </p:nvPr>
        </p:nvSpPr>
        <p:spPr>
          <a:xfrm>
            <a:off x="3874262" y="4997196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1" name="TextBox 80"/>
          <p:cNvSpPr txBox="1"/>
          <p:nvPr>
            <p:custDataLst>
              <p:tags r:id="rId32"/>
            </p:custDataLst>
          </p:nvPr>
        </p:nvSpPr>
        <p:spPr>
          <a:xfrm>
            <a:off x="4368038" y="4882896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实验与评价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82" name="TextBox 81"/>
          <p:cNvSpPr txBox="1"/>
          <p:nvPr>
            <p:custDataLst>
              <p:tags r:id="rId33"/>
            </p:custDataLst>
          </p:nvPr>
        </p:nvSpPr>
        <p:spPr>
          <a:xfrm>
            <a:off x="5648198" y="4910328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IBM Q20 Tokyo benchmark 结果、局限与</a:t>
            </a:r>
            <a:r>
              <a:rPr lang="zh-CN" sz="1120" b="0">
                <a:solidFill>
                  <a:srgbClr val="24262D"/>
                </a:solidFill>
                <a:latin typeface="微软雅黑" panose="020B0503020204020204" charset="-122"/>
              </a:rPr>
              <a:t>总结</a:t>
            </a:r>
            <a:endParaRPr lang="zh-CN"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83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02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真实量子芯片不是全连接：mapping 问题的根源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理论线路默认任意两个 logical qubit 可做双比特门；真实 NISQ 芯片只允许耦合图上相邻的 physical qubit 直接交互。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70230" y="1938655"/>
            <a:ext cx="3876040" cy="3169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42415" y="2212848"/>
            <a:ext cx="21945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01256"/>
                </a:solidFill>
                <a:latin typeface="微软雅黑" panose="020B0503020204020204" charset="-122"/>
              </a:rPr>
              <a:t>IBM Q20 Tokyo 耦合图示意</a:t>
            </a:r>
            <a:endParaRPr sz="12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288161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890933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493705" y="2815209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96478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288161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890933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493705" y="3352053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096478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288161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890933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493705" y="3888897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096478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288161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890933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493705" y="4425741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96478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288161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890933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493705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96478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699250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288161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890933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493705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96478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699250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288161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890933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493705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96478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699250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288161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890933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096478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288161" y="3352053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096478" y="3352053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288161" y="3888897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096478" y="3888897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1170432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70432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Q0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1773204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773204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2375976" y="2697480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375976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Q2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2978749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978749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Q3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3581521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581521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Q4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1170432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170432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Q5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1773204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773204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Q6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2375976" y="3234324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375976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Q7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2978749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978749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Q8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3581521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581521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Q9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1170432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122680" y="3841750"/>
            <a:ext cx="33147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Q10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1773204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732915" y="3841750"/>
            <a:ext cx="30099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Q11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2375976" y="3771168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355850" y="3841750"/>
            <a:ext cx="27559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Q12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2978749" y="3771168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2968625" y="3841750"/>
            <a:ext cx="25908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Q13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3581521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540760" y="3841750"/>
            <a:ext cx="32702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Q14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1170432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124585" y="4378960"/>
            <a:ext cx="34226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Q15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1773204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762760" y="4378960"/>
            <a:ext cx="26162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Q16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2375976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335530" y="4378960"/>
            <a:ext cx="31178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Q17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2978749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2948305" y="4378960"/>
            <a:ext cx="29591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Q18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3581521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561080" y="4378960"/>
            <a:ext cx="28638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Q19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3" name="Rounded Rectangle 172"/>
          <p:cNvSpPr/>
          <p:nvPr/>
        </p:nvSpPr>
        <p:spPr>
          <a:xfrm>
            <a:off x="5833872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943600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连接有限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5" name="Rounded Rectangle 174"/>
          <p:cNvSpPr/>
          <p:nvPr/>
        </p:nvSpPr>
        <p:spPr>
          <a:xfrm>
            <a:off x="7543800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653527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门有噪声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7" name="Rounded Rectangle 176"/>
          <p:cNvSpPr/>
          <p:nvPr/>
        </p:nvSpPr>
        <p:spPr>
          <a:xfrm>
            <a:off x="9253728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363455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时间有限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5944235" y="2780030"/>
            <a:ext cx="1236345" cy="458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不是任意两点都有边；CNOT 只能沿耦合边执行。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7635240" y="2779776"/>
            <a:ext cx="12344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双比特门错误率通常更高，额外 SWAP 会累积误差。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9354312" y="2834640"/>
            <a:ext cx="1115568" cy="3017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线路越深，越容易受退相干影响。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2" name="Rounded Rectangle 181"/>
          <p:cNvSpPr/>
          <p:nvPr/>
        </p:nvSpPr>
        <p:spPr>
          <a:xfrm>
            <a:off x="5833872" y="3730752"/>
            <a:ext cx="4828032" cy="960120"/>
          </a:xfrm>
          <a:prstGeom prst="round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108192" y="4014215"/>
            <a:ext cx="429768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Mapping 不是“格式转换”，而是直接影响保真度的编译优化。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4" name="Rectangle 18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真实量子芯片是一张稀疏耦合图，不是所有 qubit 都能直接做双比特门。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6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03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Qubit mapping =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初始放置 </a:t>
            </a:r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+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中途换位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输入量子线路与硬件耦合图，输出满足连接约束的可执行线路；核心代价来自额外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SWAP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。</a:t>
            </a:r>
            <a:endParaRPr lang="zh-CN" altLang="en-US" sz="11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8" name="矩形: 圆角 67"/>
          <p:cNvSpPr/>
          <p:nvPr/>
        </p:nvSpPr>
        <p:spPr>
          <a:xfrm>
            <a:off x="393700" y="1923415"/>
            <a:ext cx="32766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: 圆角 68"/>
          <p:cNvSpPr/>
          <p:nvPr/>
        </p:nvSpPr>
        <p:spPr>
          <a:xfrm>
            <a:off x="4076700" y="1923415"/>
            <a:ext cx="30226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: 圆角 69"/>
          <p:cNvSpPr/>
          <p:nvPr/>
        </p:nvSpPr>
        <p:spPr>
          <a:xfrm>
            <a:off x="7823200" y="1923415"/>
            <a:ext cx="38100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723900" y="2253615"/>
            <a:ext cx="2667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输入 </a:t>
            </a:r>
            <a:r>
              <a:rPr lang="en-US" altLang="zh-CN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：量子线路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4406900" y="2253615"/>
            <a:ext cx="23622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输入 </a:t>
            </a:r>
            <a:r>
              <a:rPr lang="en-US" altLang="zh-CN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B</a:t>
            </a:r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：耦合图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8216900" y="2253615"/>
            <a:ext cx="30226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输出：硬件可执行线路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787400" y="3129915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q0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1219200" y="3193415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787400" y="3701415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q1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7" name="直接连接符 76"/>
          <p:cNvCxnSpPr/>
          <p:nvPr/>
        </p:nvCxnSpPr>
        <p:spPr>
          <a:xfrm>
            <a:off x="1219200" y="3764915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787400" y="4272915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q2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9" name="直接连接符 78"/>
          <p:cNvCxnSpPr/>
          <p:nvPr/>
        </p:nvCxnSpPr>
        <p:spPr>
          <a:xfrm>
            <a:off x="1219200" y="4336415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/>
          <p:nvPr/>
        </p:nvCxnSpPr>
        <p:spPr>
          <a:xfrm>
            <a:off x="2286000" y="3193415"/>
            <a:ext cx="0" cy="1143000"/>
          </a:xfrm>
          <a:prstGeom prst="line">
            <a:avLst/>
          </a:prstGeom>
          <a:ln w="2159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椭圆 81"/>
          <p:cNvSpPr/>
          <p:nvPr/>
        </p:nvSpPr>
        <p:spPr>
          <a:xfrm>
            <a:off x="2197100" y="3104515"/>
            <a:ext cx="177800" cy="177800"/>
          </a:xfrm>
          <a:prstGeom prst="ellipse">
            <a:avLst/>
          </a:prstGeom>
          <a:solidFill>
            <a:srgbClr val="660066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/>
          <p:cNvSpPr/>
          <p:nvPr/>
        </p:nvSpPr>
        <p:spPr>
          <a:xfrm>
            <a:off x="2159000" y="4209415"/>
            <a:ext cx="254000" cy="25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连接符 83"/>
          <p:cNvCxnSpPr/>
          <p:nvPr/>
        </p:nvCxnSpPr>
        <p:spPr>
          <a:xfrm>
            <a:off x="2184400" y="4336415"/>
            <a:ext cx="203200" cy="0"/>
          </a:xfrm>
          <a:prstGeom prst="line">
            <a:avLst/>
          </a:prstGeom>
          <a:ln w="1524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2286000" y="4234815"/>
            <a:ext cx="0" cy="203200"/>
          </a:xfrm>
          <a:prstGeom prst="line">
            <a:avLst/>
          </a:prstGeom>
          <a:ln w="1524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1397000" y="4628515"/>
            <a:ext cx="20320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逻辑线路中可出现远距离双比特门</a:t>
            </a:r>
            <a:endParaRPr lang="zh-CN" altLang="en-US" sz="85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89" name="直接连接符 88"/>
          <p:cNvCxnSpPr/>
          <p:nvPr/>
        </p:nvCxnSpPr>
        <p:spPr>
          <a:xfrm>
            <a:off x="4940300" y="3383915"/>
            <a:ext cx="1270000" cy="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/>
        </p:nvCxnSpPr>
        <p:spPr>
          <a:xfrm>
            <a:off x="4940300" y="3383915"/>
            <a:ext cx="635000" cy="101600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/>
          <p:cNvCxnSpPr/>
          <p:nvPr/>
        </p:nvCxnSpPr>
        <p:spPr>
          <a:xfrm flipV="1">
            <a:off x="5575300" y="3383915"/>
            <a:ext cx="635000" cy="101600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椭圆 91"/>
          <p:cNvSpPr/>
          <p:nvPr/>
        </p:nvSpPr>
        <p:spPr>
          <a:xfrm>
            <a:off x="4737100" y="3180715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4737100" y="3320415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P0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4" name="椭圆 93"/>
          <p:cNvSpPr/>
          <p:nvPr/>
        </p:nvSpPr>
        <p:spPr>
          <a:xfrm>
            <a:off x="6007100" y="3180715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6007100" y="3320415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P1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6" name="椭圆 95"/>
          <p:cNvSpPr/>
          <p:nvPr/>
        </p:nvSpPr>
        <p:spPr>
          <a:xfrm>
            <a:off x="5372100" y="4196715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/>
          <p:cNvSpPr txBox="1"/>
          <p:nvPr/>
        </p:nvSpPr>
        <p:spPr>
          <a:xfrm>
            <a:off x="5372100" y="4336415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P2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584700" y="4780915"/>
            <a:ext cx="2006600" cy="2585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4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只有耦合边相连的物理比特可直接做双比特门</a:t>
            </a:r>
            <a:endParaRPr lang="zh-CN" altLang="en-US" sz="84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8343900" y="3053715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P0(q0)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0" name="直接连接符 99"/>
          <p:cNvCxnSpPr/>
          <p:nvPr/>
        </p:nvCxnSpPr>
        <p:spPr>
          <a:xfrm>
            <a:off x="9055100" y="3117215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/>
          <p:cNvSpPr txBox="1"/>
          <p:nvPr/>
        </p:nvSpPr>
        <p:spPr>
          <a:xfrm>
            <a:off x="8343900" y="3536315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P1(q1)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2" name="直接连接符 101"/>
          <p:cNvCxnSpPr/>
          <p:nvPr/>
        </p:nvCxnSpPr>
        <p:spPr>
          <a:xfrm>
            <a:off x="9055100" y="3599815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/>
          <p:cNvSpPr txBox="1"/>
          <p:nvPr/>
        </p:nvSpPr>
        <p:spPr>
          <a:xfrm>
            <a:off x="8343900" y="4018915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P2(q2)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4" name="直接连接符 103"/>
          <p:cNvCxnSpPr/>
          <p:nvPr/>
        </p:nvCxnSpPr>
        <p:spPr>
          <a:xfrm>
            <a:off x="9055100" y="4082415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/>
          <p:cNvCxnSpPr/>
          <p:nvPr/>
        </p:nvCxnSpPr>
        <p:spPr>
          <a:xfrm>
            <a:off x="9525000" y="3599815"/>
            <a:ext cx="0" cy="482600"/>
          </a:xfrm>
          <a:prstGeom prst="line">
            <a:avLst/>
          </a:prstGeom>
          <a:ln w="1778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9448800" y="3523615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/>
          <p:cNvCxnSpPr/>
          <p:nvPr/>
        </p:nvCxnSpPr>
        <p:spPr>
          <a:xfrm flipV="1">
            <a:off x="9448800" y="3523615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/>
          <p:cNvCxnSpPr/>
          <p:nvPr/>
        </p:nvCxnSpPr>
        <p:spPr>
          <a:xfrm>
            <a:off x="9448800" y="4006215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/>
          <p:cNvCxnSpPr/>
          <p:nvPr/>
        </p:nvCxnSpPr>
        <p:spPr>
          <a:xfrm flipV="1">
            <a:off x="9448800" y="4006215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/>
          <p:cNvCxnSpPr/>
          <p:nvPr/>
        </p:nvCxnSpPr>
        <p:spPr>
          <a:xfrm>
            <a:off x="10325100" y="3117215"/>
            <a:ext cx="0" cy="482600"/>
          </a:xfrm>
          <a:prstGeom prst="line">
            <a:avLst/>
          </a:prstGeom>
          <a:ln w="2032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/>
          <p:cNvSpPr/>
          <p:nvPr/>
        </p:nvSpPr>
        <p:spPr>
          <a:xfrm>
            <a:off x="10248900" y="3041015"/>
            <a:ext cx="152400" cy="152400"/>
          </a:xfrm>
          <a:prstGeom prst="ellipse">
            <a:avLst/>
          </a:prstGeom>
          <a:solidFill>
            <a:srgbClr val="660066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/>
          <p:cNvSpPr/>
          <p:nvPr/>
        </p:nvSpPr>
        <p:spPr>
          <a:xfrm>
            <a:off x="10210800" y="3485515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3" name="直接连接符 112"/>
          <p:cNvCxnSpPr/>
          <p:nvPr/>
        </p:nvCxnSpPr>
        <p:spPr>
          <a:xfrm>
            <a:off x="10236200" y="3599815"/>
            <a:ext cx="177800" cy="0"/>
          </a:xfrm>
          <a:prstGeom prst="line">
            <a:avLst/>
          </a:prstGeom>
          <a:ln w="1397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/>
          <p:cNvCxnSpPr/>
          <p:nvPr/>
        </p:nvCxnSpPr>
        <p:spPr>
          <a:xfrm>
            <a:off x="10325100" y="3510915"/>
            <a:ext cx="0" cy="177800"/>
          </a:xfrm>
          <a:prstGeom prst="line">
            <a:avLst/>
          </a:prstGeom>
          <a:ln w="1397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/>
          <p:cNvSpPr txBox="1"/>
          <p:nvPr/>
        </p:nvSpPr>
        <p:spPr>
          <a:xfrm>
            <a:off x="8953500" y="4463415"/>
            <a:ext cx="1968500" cy="2554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3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83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后，原本不相邻的逻辑门可在耦合边上执行</a:t>
            </a:r>
            <a:endParaRPr lang="zh-CN" altLang="en-US" sz="83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16" name="直接连接符 115"/>
          <p:cNvCxnSpPr/>
          <p:nvPr/>
        </p:nvCxnSpPr>
        <p:spPr>
          <a:xfrm>
            <a:off x="3733800" y="3828415"/>
            <a:ext cx="2794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/>
          <p:cNvSpPr txBox="1"/>
          <p:nvPr/>
        </p:nvSpPr>
        <p:spPr>
          <a:xfrm>
            <a:off x="3581400" y="4006215"/>
            <a:ext cx="609600" cy="12003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8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</a:t>
            </a:r>
            <a:endParaRPr lang="zh-CN" altLang="en-US" sz="78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18" name="直接连接符 117"/>
          <p:cNvCxnSpPr/>
          <p:nvPr/>
        </p:nvCxnSpPr>
        <p:spPr>
          <a:xfrm>
            <a:off x="7175500" y="3828415"/>
            <a:ext cx="5588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/>
          <p:cNvSpPr txBox="1"/>
          <p:nvPr/>
        </p:nvSpPr>
        <p:spPr>
          <a:xfrm>
            <a:off x="7213600" y="4006215"/>
            <a:ext cx="533400" cy="2277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4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insert
SWAP</a:t>
            </a:r>
            <a:endParaRPr lang="zh-CN" altLang="en-US" sz="74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20" name="矩形: 圆角 119"/>
          <p:cNvSpPr/>
          <p:nvPr/>
        </p:nvSpPr>
        <p:spPr>
          <a:xfrm>
            <a:off x="1752600" y="6045200"/>
            <a:ext cx="7772400" cy="4318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/>
          <p:cNvSpPr txBox="1"/>
          <p:nvPr/>
        </p:nvSpPr>
        <p:spPr>
          <a:xfrm>
            <a:off x="2044700" y="6184900"/>
            <a:ext cx="7188200" cy="16158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的输出包括初始映射 </a:t>
            </a:r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π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和 </a:t>
            </a:r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序列，本质是量子编译优化问题。</a:t>
            </a:r>
            <a:endParaRPr lang="zh-CN" altLang="en-US" sz="105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22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04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难点不是“会不会插 SWAP”，而是“插在哪里、插哪个”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一个局部看起来最短的交换，可能把后面大量门推到更差的位置；全局搜索又会遇到指数级映射空间。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68680" y="2148840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1560" y="2331720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4C1984"/>
                </a:solidFill>
                <a:latin typeface="微软雅黑" panose="020B0503020204020204" charset="-122"/>
              </a:rPr>
              <a:t>n!</a:t>
            </a:r>
            <a:endParaRPr sz="30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24712" y="2944368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搜索空间爆炸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97280" y="3401568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n 个 logical qubit 到 physical qubit 的排列组合随 n 急剧增长；论文指出该问题 NP-Complete。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4744720" y="2153285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27600" y="2336165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8491"/>
                </a:solidFill>
                <a:latin typeface="微软雅黑" panose="020B0503020204020204" charset="-122"/>
              </a:rPr>
              <a:t>π0</a:t>
            </a:r>
            <a:endParaRPr sz="30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000752" y="2948813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初始映射敏感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973320" y="3406013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一开始放错位置，后面可能连续插 SWAP 补救；好的初始布局能显著减少开销。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8437880" y="2153285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20759" y="2336165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A62A47"/>
                </a:solidFill>
                <a:latin typeface="微软雅黑" panose="020B0503020204020204" charset="-122"/>
              </a:rPr>
              <a:t>G vs D</a:t>
            </a:r>
            <a:endParaRPr sz="300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8693911" y="2948813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优化目标冲突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8666480" y="3406013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门数少不一定深度低；若想并行执行 SWAP，可能需要接受略多操作。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143000" y="4754880"/>
            <a:ext cx="9052560" cy="54864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17320" y="4919472"/>
            <a:ext cx="850392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008491"/>
                </a:solidFill>
                <a:latin typeface="微软雅黑" panose="020B0503020204020204" charset="-122"/>
              </a:rPr>
              <a:t>论文策略：不穷举所有 mapping，而是在每一步只评估“当前相关”的候选 SWAP。</a:t>
            </a:r>
            <a:endParaRPr sz="125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局部最短 SWAP 不一定带来全局低开销，因此需要启发式 look-ahead。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05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SABRE 的核心转向：从 mapping 搜索到 SWAP 搜索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SABRE = SWAP-based BidiREctional heuristic search。它每轮选择一个低代价 SWAP，逐步把线路变成硬件可执行。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153797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498090" y="2514600"/>
            <a:ext cx="475488" cy="47548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98090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72085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临时正向遍历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739138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从随机/简单 π0 出发，生成一条可行路径并得到最终映射 πf。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cxnSp>
        <p:nvCxnSpPr>
          <p:cNvPr id="98" name="Connector 97"/>
          <p:cNvCxnSpPr/>
          <p:nvPr/>
        </p:nvCxnSpPr>
        <p:spPr>
          <a:xfrm>
            <a:off x="4171441" y="338328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78409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744209" y="2514600"/>
            <a:ext cx="475488" cy="475488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44209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496697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反向遍历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4985257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倒序分析双比特门，用 πf 作为起点，反推出更适合开头的 πr。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cxnSp>
        <p:nvCxnSpPr>
          <p:cNvPr id="104" name="Connector 103"/>
          <p:cNvCxnSpPr/>
          <p:nvPr/>
        </p:nvCxnSpPr>
        <p:spPr>
          <a:xfrm>
            <a:off x="7417562" y="338328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803021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990330" y="2514600"/>
            <a:ext cx="475488" cy="47548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990330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821309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最终正向遍历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8231378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用 πr 作为初始映射，输出最终可执行线路和 SWAP 序列。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784858" y="4892040"/>
            <a:ext cx="8641080" cy="475488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995170" y="5029200"/>
            <a:ext cx="8183879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70" b="1">
                <a:solidFill>
                  <a:srgbClr val="24262D"/>
                </a:solidFill>
                <a:latin typeface="微软雅黑" panose="020B0503020204020204" charset="-122"/>
              </a:rPr>
              <a:t>贯穿三步的局部决策：Front layer 找当前门，Heuristic 选 SWAP，Decay 控制深度。</a:t>
            </a:r>
            <a:endParaRPr sz="117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SABRE 把全局 mapping 搜索拆成正向、反向、最终正向三次可扩展遍历。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4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06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复杂度分析：指数级 mapping 搜索 vs 可扩展 SWAP 搜索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传统方法在完整 mapping 状态空间中搜索；SABRE 每步只评估 front layer 相关的候选 SWAP。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944880" y="1898015"/>
            <a:ext cx="4826000" cy="383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/>
          <p:cNvSpPr/>
          <p:nvPr/>
        </p:nvSpPr>
        <p:spPr>
          <a:xfrm>
            <a:off x="6583680" y="1898015"/>
            <a:ext cx="4826000" cy="383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313180" y="2228215"/>
            <a:ext cx="406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传统 </a:t>
            </a:r>
            <a:r>
              <a:rPr lang="en-US" altLang="zh-CN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 </a:t>
            </a:r>
            <a:r>
              <a:rPr lang="zh-CN" altLang="en-US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搜索：状态空间爆炸</a:t>
            </a:r>
            <a:endParaRPr lang="zh-CN" altLang="en-US" sz="14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964680" y="2228215"/>
            <a:ext cx="4064000" cy="2152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1400" b="1">
                <a:solidFill>
                  <a:srgbClr val="008080"/>
                </a:solidFill>
                <a:latin typeface="微软雅黑" panose="020B0503020204020204" charset="-122"/>
              </a:rPr>
              <a:t>SABRE SWAP 搜索</a:t>
            </a:r>
            <a:r>
              <a:rPr sz="1400" b="1">
                <a:solidFill>
                  <a:srgbClr val="008080"/>
                </a:solidFill>
                <a:latin typeface="微软雅黑" panose="020B0503020204020204" charset="-122"/>
              </a:rPr>
              <a:t>：局部候选选择</a:t>
            </a:r>
            <a:endParaRPr sz="1400" b="1">
              <a:solidFill>
                <a:srgbClr val="008080"/>
              </a:solidFill>
              <a:latin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2176780" y="2609215"/>
            <a:ext cx="23495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8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O(e^N)</a:t>
            </a:r>
            <a:endParaRPr lang="zh-CN" altLang="en-US" sz="28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519035" y="2609215"/>
            <a:ext cx="3361055" cy="36893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2400" b="1">
                <a:solidFill>
                  <a:srgbClr val="008983"/>
                </a:solidFill>
                <a:latin typeface="微软雅黑" panose="020B0503020204020204" charset="-122"/>
              </a:rPr>
              <a:t>O(N^2.5) </a:t>
            </a:r>
            <a:r>
              <a:rPr lang="en-US" sz="2400" b="1">
                <a:solidFill>
                  <a:srgbClr val="008983"/>
                </a:solidFill>
                <a:latin typeface="微软雅黑" panose="020B0503020204020204" charset="-122"/>
              </a:rPr>
              <a:t>per</a:t>
            </a:r>
            <a:r>
              <a:rPr sz="2400" b="1">
                <a:solidFill>
                  <a:srgbClr val="008983"/>
                </a:solidFill>
                <a:latin typeface="微软雅黑" panose="020B0503020204020204" charset="-122"/>
              </a:rPr>
              <a:t> gate</a:t>
            </a:r>
            <a:endParaRPr sz="2400" b="1">
              <a:solidFill>
                <a:srgbClr val="008983"/>
              </a:solidFill>
              <a:latin typeface="微软雅黑" panose="020B0503020204020204" charset="-122"/>
            </a:endParaRPr>
          </a:p>
        </p:txBody>
      </p:sp>
      <p:cxnSp>
        <p:nvCxnSpPr>
          <p:cNvPr id="34" name="直接连接符 33"/>
          <p:cNvCxnSpPr/>
          <p:nvPr/>
        </p:nvCxnSpPr>
        <p:spPr>
          <a:xfrm>
            <a:off x="1605280" y="472694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1605280" y="439356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1605280" y="406019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1605280" y="5060315"/>
            <a:ext cx="3302000" cy="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>
            <a:off x="1605280" y="3726815"/>
            <a:ext cx="0" cy="133350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4602480" y="5161915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N</a:t>
            </a:r>
            <a:endParaRPr lang="zh-CN" altLang="en-US" sz="80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554480" y="3549015"/>
            <a:ext cx="584200" cy="2246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73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search
space</a:t>
            </a:r>
            <a:endParaRPr lang="zh-CN" altLang="en-US" sz="73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1" name="直接连接符 40"/>
          <p:cNvCxnSpPr/>
          <p:nvPr/>
        </p:nvCxnSpPr>
        <p:spPr>
          <a:xfrm>
            <a:off x="24307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/>
          <p:cNvSpPr txBox="1"/>
          <p:nvPr/>
        </p:nvSpPr>
        <p:spPr>
          <a:xfrm>
            <a:off x="23291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5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3" name="直接连接符 42"/>
          <p:cNvCxnSpPr/>
          <p:nvPr/>
        </p:nvCxnSpPr>
        <p:spPr>
          <a:xfrm>
            <a:off x="32562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31546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10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5" name="直接连接符 44"/>
          <p:cNvCxnSpPr/>
          <p:nvPr/>
        </p:nvCxnSpPr>
        <p:spPr>
          <a:xfrm>
            <a:off x="40817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39801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20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9" name="直接连接符 48"/>
          <p:cNvCxnSpPr/>
          <p:nvPr/>
        </p:nvCxnSpPr>
        <p:spPr>
          <a:xfrm>
            <a:off x="7244080" y="472694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连接符 129"/>
          <p:cNvCxnSpPr/>
          <p:nvPr/>
        </p:nvCxnSpPr>
        <p:spPr>
          <a:xfrm>
            <a:off x="7244080" y="439356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/>
          <p:cNvCxnSpPr/>
          <p:nvPr/>
        </p:nvCxnSpPr>
        <p:spPr>
          <a:xfrm>
            <a:off x="7244080" y="406019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连接符 131"/>
          <p:cNvCxnSpPr/>
          <p:nvPr/>
        </p:nvCxnSpPr>
        <p:spPr>
          <a:xfrm>
            <a:off x="7244080" y="5060315"/>
            <a:ext cx="3302000" cy="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/>
          <p:nvPr/>
        </p:nvCxnSpPr>
        <p:spPr>
          <a:xfrm>
            <a:off x="7244080" y="3726815"/>
            <a:ext cx="0" cy="133350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本框 133"/>
          <p:cNvSpPr txBox="1"/>
          <p:nvPr/>
        </p:nvSpPr>
        <p:spPr>
          <a:xfrm>
            <a:off x="10241280" y="5161915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N</a:t>
            </a:r>
            <a:endParaRPr lang="zh-CN" altLang="en-US" sz="80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7193280" y="3549015"/>
            <a:ext cx="584200" cy="2246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700">
                <a:solidFill>
                  <a:srgbClr val="696969"/>
                </a:solidFill>
                <a:latin typeface="微软雅黑" panose="020B0503020204020204" charset="-122"/>
              </a:rPr>
              <a:t>cost | trend</a:t>
            </a:r>
            <a:endParaRPr sz="700">
              <a:solidFill>
                <a:srgbClr val="696969"/>
              </a:solidFill>
              <a:latin typeface="微软雅黑" panose="020B0503020204020204" charset="-122"/>
            </a:endParaRPr>
          </a:p>
        </p:txBody>
      </p:sp>
      <p:cxnSp>
        <p:nvCxnSpPr>
          <p:cNvPr id="136" name="直接连接符 135"/>
          <p:cNvCxnSpPr/>
          <p:nvPr/>
        </p:nvCxnSpPr>
        <p:spPr>
          <a:xfrm>
            <a:off x="80695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文本框 136"/>
          <p:cNvSpPr txBox="1"/>
          <p:nvPr/>
        </p:nvSpPr>
        <p:spPr>
          <a:xfrm>
            <a:off x="79679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5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38" name="直接连接符 137"/>
          <p:cNvCxnSpPr/>
          <p:nvPr/>
        </p:nvCxnSpPr>
        <p:spPr>
          <a:xfrm>
            <a:off x="88950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文本框 138"/>
          <p:cNvSpPr txBox="1"/>
          <p:nvPr/>
        </p:nvSpPr>
        <p:spPr>
          <a:xfrm>
            <a:off x="87934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10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40" name="直接连接符 139"/>
          <p:cNvCxnSpPr/>
          <p:nvPr/>
        </p:nvCxnSpPr>
        <p:spPr>
          <a:xfrm>
            <a:off x="97205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本框 140"/>
          <p:cNvSpPr txBox="1"/>
          <p:nvPr/>
        </p:nvSpPr>
        <p:spPr>
          <a:xfrm>
            <a:off x="96189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20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42" name="直接连接符 141"/>
          <p:cNvCxnSpPr/>
          <p:nvPr/>
        </p:nvCxnSpPr>
        <p:spPr>
          <a:xfrm flipV="1">
            <a:off x="1605280" y="5058645"/>
            <a:ext cx="137583" cy="167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接连接符 142"/>
          <p:cNvCxnSpPr/>
          <p:nvPr/>
        </p:nvCxnSpPr>
        <p:spPr>
          <a:xfrm flipV="1">
            <a:off x="1742863" y="5056570"/>
            <a:ext cx="137584" cy="207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接连接符 143"/>
          <p:cNvCxnSpPr/>
          <p:nvPr/>
        </p:nvCxnSpPr>
        <p:spPr>
          <a:xfrm flipV="1">
            <a:off x="1880447" y="5053994"/>
            <a:ext cx="137583" cy="257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接连接符 144"/>
          <p:cNvCxnSpPr/>
          <p:nvPr/>
        </p:nvCxnSpPr>
        <p:spPr>
          <a:xfrm flipV="1">
            <a:off x="2018030" y="5050795"/>
            <a:ext cx="137583" cy="319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/>
          <p:cNvCxnSpPr/>
          <p:nvPr/>
        </p:nvCxnSpPr>
        <p:spPr>
          <a:xfrm flipV="1">
            <a:off x="2155613" y="5046821"/>
            <a:ext cx="137584" cy="3974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直接连接符 146"/>
          <p:cNvCxnSpPr/>
          <p:nvPr/>
        </p:nvCxnSpPr>
        <p:spPr>
          <a:xfrm flipV="1">
            <a:off x="2293197" y="5041886"/>
            <a:ext cx="137583" cy="493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接连接符 147"/>
          <p:cNvCxnSpPr/>
          <p:nvPr/>
        </p:nvCxnSpPr>
        <p:spPr>
          <a:xfrm flipV="1">
            <a:off x="2430780" y="5035758"/>
            <a:ext cx="137583" cy="612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/>
          <p:cNvCxnSpPr/>
          <p:nvPr/>
        </p:nvCxnSpPr>
        <p:spPr>
          <a:xfrm flipV="1">
            <a:off x="2568363" y="5028146"/>
            <a:ext cx="137584" cy="761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连接符 149"/>
          <p:cNvCxnSpPr/>
          <p:nvPr/>
        </p:nvCxnSpPr>
        <p:spPr>
          <a:xfrm flipV="1">
            <a:off x="2705947" y="5018693"/>
            <a:ext cx="137583" cy="9453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接连接符 150"/>
          <p:cNvCxnSpPr/>
          <p:nvPr/>
        </p:nvCxnSpPr>
        <p:spPr>
          <a:xfrm flipV="1">
            <a:off x="2843530" y="5006953"/>
            <a:ext cx="137583" cy="1174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接连接符 151"/>
          <p:cNvCxnSpPr/>
          <p:nvPr/>
        </p:nvCxnSpPr>
        <p:spPr>
          <a:xfrm flipV="1">
            <a:off x="2981113" y="4992373"/>
            <a:ext cx="137584" cy="1458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/>
          <p:cNvCxnSpPr/>
          <p:nvPr/>
        </p:nvCxnSpPr>
        <p:spPr>
          <a:xfrm flipV="1">
            <a:off x="3118697" y="4974265"/>
            <a:ext cx="137583" cy="1810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连接符 153"/>
          <p:cNvCxnSpPr/>
          <p:nvPr/>
        </p:nvCxnSpPr>
        <p:spPr>
          <a:xfrm flipV="1">
            <a:off x="3256280" y="4951777"/>
            <a:ext cx="137583" cy="2248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连接符 154"/>
          <p:cNvCxnSpPr/>
          <p:nvPr/>
        </p:nvCxnSpPr>
        <p:spPr>
          <a:xfrm flipV="1">
            <a:off x="3393863" y="4923848"/>
            <a:ext cx="137584" cy="2792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/>
          <p:cNvCxnSpPr/>
          <p:nvPr/>
        </p:nvCxnSpPr>
        <p:spPr>
          <a:xfrm flipV="1">
            <a:off x="3531447" y="4889162"/>
            <a:ext cx="137583" cy="3468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连接符 156"/>
          <p:cNvCxnSpPr/>
          <p:nvPr/>
        </p:nvCxnSpPr>
        <p:spPr>
          <a:xfrm flipV="1">
            <a:off x="3669030" y="4846085"/>
            <a:ext cx="137583" cy="43077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连接符 157"/>
          <p:cNvCxnSpPr/>
          <p:nvPr/>
        </p:nvCxnSpPr>
        <p:spPr>
          <a:xfrm flipV="1">
            <a:off x="3806613" y="4792586"/>
            <a:ext cx="137584" cy="5349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/>
          <p:cNvCxnSpPr/>
          <p:nvPr/>
        </p:nvCxnSpPr>
        <p:spPr>
          <a:xfrm flipV="1">
            <a:off x="3944197" y="4726144"/>
            <a:ext cx="137583" cy="6644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连接符 159"/>
          <p:cNvCxnSpPr/>
          <p:nvPr/>
        </p:nvCxnSpPr>
        <p:spPr>
          <a:xfrm flipV="1">
            <a:off x="4081780" y="4643628"/>
            <a:ext cx="137583" cy="8251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连接符 160"/>
          <p:cNvCxnSpPr/>
          <p:nvPr/>
        </p:nvCxnSpPr>
        <p:spPr>
          <a:xfrm flipV="1">
            <a:off x="4219363" y="4541149"/>
            <a:ext cx="137584" cy="10247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接连接符 161"/>
          <p:cNvCxnSpPr/>
          <p:nvPr/>
        </p:nvCxnSpPr>
        <p:spPr>
          <a:xfrm flipV="1">
            <a:off x="4356947" y="4413877"/>
            <a:ext cx="137583" cy="12727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/>
          <p:cNvCxnSpPr/>
          <p:nvPr/>
        </p:nvCxnSpPr>
        <p:spPr>
          <a:xfrm flipV="1">
            <a:off x="4494530" y="4255813"/>
            <a:ext cx="137583" cy="158064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接连接符 163"/>
          <p:cNvCxnSpPr/>
          <p:nvPr/>
        </p:nvCxnSpPr>
        <p:spPr>
          <a:xfrm flipV="1">
            <a:off x="4632113" y="4059510"/>
            <a:ext cx="137584" cy="196303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/>
          <p:cNvCxnSpPr/>
          <p:nvPr/>
        </p:nvCxnSpPr>
        <p:spPr>
          <a:xfrm flipV="1">
            <a:off x="4769697" y="3815715"/>
            <a:ext cx="137583" cy="24379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接连接符 165"/>
          <p:cNvCxnSpPr/>
          <p:nvPr/>
        </p:nvCxnSpPr>
        <p:spPr>
          <a:xfrm flipV="1">
            <a:off x="7244080" y="5059941"/>
            <a:ext cx="137583" cy="37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/>
          <p:cNvCxnSpPr/>
          <p:nvPr/>
        </p:nvCxnSpPr>
        <p:spPr>
          <a:xfrm flipV="1">
            <a:off x="7381663" y="5058202"/>
            <a:ext cx="137584" cy="173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连接符 167"/>
          <p:cNvCxnSpPr/>
          <p:nvPr/>
        </p:nvCxnSpPr>
        <p:spPr>
          <a:xfrm flipV="1">
            <a:off x="7519247" y="5054492"/>
            <a:ext cx="137583" cy="3710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/>
          <p:nvPr/>
        </p:nvCxnSpPr>
        <p:spPr>
          <a:xfrm flipV="1">
            <a:off x="7656830" y="5048361"/>
            <a:ext cx="137583" cy="6131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/>
          <p:cNvCxnSpPr/>
          <p:nvPr/>
        </p:nvCxnSpPr>
        <p:spPr>
          <a:xfrm flipV="1">
            <a:off x="7794413" y="5039433"/>
            <a:ext cx="137584" cy="892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/>
          <p:cNvCxnSpPr/>
          <p:nvPr/>
        </p:nvCxnSpPr>
        <p:spPr>
          <a:xfrm flipV="1">
            <a:off x="7931997" y="5027374"/>
            <a:ext cx="137583" cy="1205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/>
          <p:cNvCxnSpPr/>
          <p:nvPr/>
        </p:nvCxnSpPr>
        <p:spPr>
          <a:xfrm flipV="1">
            <a:off x="8069580" y="5011887"/>
            <a:ext cx="137583" cy="1548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/>
          <p:cNvCxnSpPr/>
          <p:nvPr/>
        </p:nvCxnSpPr>
        <p:spPr>
          <a:xfrm flipV="1">
            <a:off x="8207163" y="4992694"/>
            <a:ext cx="137584" cy="1919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/>
          <p:cNvCxnSpPr/>
          <p:nvPr/>
        </p:nvCxnSpPr>
        <p:spPr>
          <a:xfrm flipV="1">
            <a:off x="8344747" y="4969541"/>
            <a:ext cx="137583" cy="2315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/>
          <p:cNvCxnSpPr/>
          <p:nvPr/>
        </p:nvCxnSpPr>
        <p:spPr>
          <a:xfrm flipV="1">
            <a:off x="8482330" y="4942187"/>
            <a:ext cx="137583" cy="2735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/>
          <p:cNvCxnSpPr/>
          <p:nvPr/>
        </p:nvCxnSpPr>
        <p:spPr>
          <a:xfrm flipV="1">
            <a:off x="8619913" y="4910403"/>
            <a:ext cx="137584" cy="3178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/>
          <p:cNvCxnSpPr/>
          <p:nvPr/>
        </p:nvCxnSpPr>
        <p:spPr>
          <a:xfrm flipV="1">
            <a:off x="8757497" y="4873975"/>
            <a:ext cx="137583" cy="3642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连接符 177"/>
          <p:cNvCxnSpPr/>
          <p:nvPr/>
        </p:nvCxnSpPr>
        <p:spPr>
          <a:xfrm flipV="1">
            <a:off x="8895080" y="4832694"/>
            <a:ext cx="137583" cy="41281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/>
          <p:cNvCxnSpPr/>
          <p:nvPr/>
        </p:nvCxnSpPr>
        <p:spPr>
          <a:xfrm flipV="1">
            <a:off x="9032663" y="4786364"/>
            <a:ext cx="137584" cy="46330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/>
          <p:cNvCxnSpPr/>
          <p:nvPr/>
        </p:nvCxnSpPr>
        <p:spPr>
          <a:xfrm flipV="1">
            <a:off x="9170247" y="4734792"/>
            <a:ext cx="137583" cy="51572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直接连接符 180"/>
          <p:cNvCxnSpPr/>
          <p:nvPr/>
        </p:nvCxnSpPr>
        <p:spPr>
          <a:xfrm flipV="1">
            <a:off x="9307830" y="4677795"/>
            <a:ext cx="137583" cy="5699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/>
          <p:cNvCxnSpPr/>
          <p:nvPr/>
        </p:nvCxnSpPr>
        <p:spPr>
          <a:xfrm flipV="1">
            <a:off x="9445413" y="4615196"/>
            <a:ext cx="137584" cy="6259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连接符 182"/>
          <p:cNvCxnSpPr/>
          <p:nvPr/>
        </p:nvCxnSpPr>
        <p:spPr>
          <a:xfrm flipV="1">
            <a:off x="9582997" y="4546822"/>
            <a:ext cx="137583" cy="6837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连接符 183"/>
          <p:cNvCxnSpPr/>
          <p:nvPr/>
        </p:nvCxnSpPr>
        <p:spPr>
          <a:xfrm flipV="1">
            <a:off x="9720580" y="4472504"/>
            <a:ext cx="137583" cy="7431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接连接符 184"/>
          <p:cNvCxnSpPr/>
          <p:nvPr/>
        </p:nvCxnSpPr>
        <p:spPr>
          <a:xfrm flipV="1">
            <a:off x="9858163" y="4392081"/>
            <a:ext cx="137584" cy="8042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/>
          <p:cNvCxnSpPr/>
          <p:nvPr/>
        </p:nvCxnSpPr>
        <p:spPr>
          <a:xfrm flipV="1">
            <a:off x="9995747" y="4305393"/>
            <a:ext cx="137583" cy="8668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/>
          <p:cNvCxnSpPr/>
          <p:nvPr/>
        </p:nvCxnSpPr>
        <p:spPr>
          <a:xfrm flipV="1">
            <a:off x="10133330" y="4212287"/>
            <a:ext cx="137583" cy="93106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/>
          <p:cNvCxnSpPr/>
          <p:nvPr/>
        </p:nvCxnSpPr>
        <p:spPr>
          <a:xfrm flipV="1">
            <a:off x="10270913" y="4112610"/>
            <a:ext cx="137584" cy="9967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/>
          <p:cNvCxnSpPr/>
          <p:nvPr/>
        </p:nvCxnSpPr>
        <p:spPr>
          <a:xfrm flipV="1">
            <a:off x="10408497" y="4006215"/>
            <a:ext cx="137583" cy="106395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/>
          <p:cNvCxnSpPr/>
          <p:nvPr/>
        </p:nvCxnSpPr>
        <p:spPr>
          <a:xfrm>
            <a:off x="3850640" y="3777615"/>
            <a:ext cx="0" cy="1282700"/>
          </a:xfrm>
          <a:prstGeom prst="line">
            <a:avLst/>
          </a:prstGeom>
          <a:ln w="15240">
            <a:solidFill>
              <a:srgbClr val="C2355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文本框 190"/>
          <p:cNvSpPr txBox="1"/>
          <p:nvPr/>
        </p:nvSpPr>
        <p:spPr>
          <a:xfrm>
            <a:off x="3914140" y="3866515"/>
            <a:ext cx="863600" cy="2339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pt-BR" altLang="zh-CN" sz="76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N </a:t>
            </a:r>
            <a:r>
              <a:rPr lang="zh-CN" altLang="pt-BR" sz="76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稍大
即不可行</a:t>
            </a:r>
            <a:endParaRPr lang="zh-CN" altLang="en-US" sz="76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92" name="矩形: 圆角 191"/>
          <p:cNvSpPr/>
          <p:nvPr/>
        </p:nvSpPr>
        <p:spPr>
          <a:xfrm>
            <a:off x="8768080" y="3930015"/>
            <a:ext cx="1346200" cy="3048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B9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文本框 192"/>
          <p:cNvSpPr txBox="1"/>
          <p:nvPr/>
        </p:nvSpPr>
        <p:spPr>
          <a:xfrm>
            <a:off x="8895080" y="4018915"/>
            <a:ext cx="1092200" cy="1292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4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可继续扩展</a:t>
            </a:r>
            <a:endParaRPr lang="zh-CN" altLang="en-US" sz="84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94" name="文本框 193"/>
          <p:cNvSpPr txBox="1"/>
          <p:nvPr/>
        </p:nvSpPr>
        <p:spPr>
          <a:xfrm>
            <a:off x="1605280" y="3193415"/>
            <a:ext cx="3492500" cy="2546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l">
              <a:buClrTx/>
              <a:buSzTx/>
              <a:buNone/>
            </a:pPr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枚举完整 logical-to-physical mapping 状态；
运行时间与内存随 N 急剧膨胀。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7244080" y="3193415"/>
            <a:ext cx="34925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每个 two-qubit gate 最多 O(N^2.5)；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整条线路 worst-case 为 O(N^2.5 g)。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96" name="文本框 195"/>
          <p:cNvSpPr txBox="1"/>
          <p:nvPr/>
        </p:nvSpPr>
        <p:spPr>
          <a:xfrm>
            <a:off x="5897880" y="3498215"/>
            <a:ext cx="5588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0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VS</a:t>
            </a:r>
            <a:endParaRPr lang="zh-CN" altLang="en-US" sz="20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97" name="直接连接符 196"/>
          <p:cNvCxnSpPr/>
          <p:nvPr/>
        </p:nvCxnSpPr>
        <p:spPr>
          <a:xfrm>
            <a:off x="5783580" y="3879215"/>
            <a:ext cx="7874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: 圆角 197"/>
          <p:cNvSpPr/>
          <p:nvPr/>
        </p:nvSpPr>
        <p:spPr>
          <a:xfrm>
            <a:off x="2608580" y="6067425"/>
            <a:ext cx="7137400" cy="4318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文本框 198"/>
          <p:cNvSpPr txBox="1"/>
          <p:nvPr/>
        </p:nvSpPr>
        <p:spPr>
          <a:xfrm>
            <a:off x="2900680" y="6207125"/>
            <a:ext cx="6553200" cy="1585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900" b="1">
                <a:solidFill>
                  <a:srgbClr val="965800"/>
                </a:solidFill>
                <a:latin typeface="微软雅黑" panose="020B0503020204020204" charset="-122"/>
              </a:rPr>
              <a:t>核心优势：把指数级 mapping 状态搜索，转成可扩展的局部 SWAP 决策。</a:t>
            </a:r>
            <a:endParaRPr sz="900" b="1">
              <a:solidFill>
                <a:srgbClr val="965800"/>
              </a:solidFill>
              <a:latin typeface="微软雅黑" panose="020B0503020204020204" charset="-122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7066280" y="5377815"/>
            <a:ext cx="35661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20" b="0">
                <a:solidFill>
                  <a:srgbClr val="695A69"/>
                </a:solidFill>
                <a:latin typeface="微软雅黑" panose="020B0503020204020204" charset="-122"/>
              </a:rPr>
              <a:t>注：g 为原线路中 two-qubit gate 数量。</a:t>
            </a:r>
            <a:endParaRPr sz="720" b="0">
              <a:solidFill>
                <a:srgbClr val="695A69"/>
              </a:solidFill>
              <a:latin typeface="微软雅黑" panose="020B0503020204020204" charset="-122"/>
            </a:endParaRPr>
          </a:p>
        </p:txBody>
      </p:sp>
      <p:sp>
        <p:nvSpPr>
          <p:cNvPr id="201" name="slide_page_number_codex"/>
          <p:cNvSpPr txBox="1"/>
          <p:nvPr/>
        </p:nvSpPr>
        <p:spPr>
          <a:xfrm>
            <a:off x="11330432" y="6191631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07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SABRE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算法完整工作流：三次遍历 </a:t>
            </a:r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+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每步局部启发式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每次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traversal 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都包含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SWAP-Based Search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、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Heuristic cost 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和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Decay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；三次遍历共同改善初始映射与最终线路。</a:t>
            </a:r>
            <a:endParaRPr lang="zh-CN" altLang="en-US" sz="11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438150" y="2133600"/>
            <a:ext cx="11332845" cy="3523615"/>
          </a:xfrm>
          <a:prstGeom prst="roundRect">
            <a:avLst/>
          </a:prstGeom>
          <a:solidFill>
            <a:srgbClr val="F8F8FB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/>
          <p:cNvSpPr/>
          <p:nvPr/>
        </p:nvSpPr>
        <p:spPr>
          <a:xfrm>
            <a:off x="996950" y="2527300"/>
            <a:ext cx="2667000" cy="1905000"/>
          </a:xfrm>
          <a:prstGeom prst="roundRect">
            <a:avLst/>
          </a:prstGeom>
          <a:solidFill>
            <a:srgbClr val="ECF4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/>
          <p:cNvSpPr/>
          <p:nvPr/>
        </p:nvSpPr>
        <p:spPr>
          <a:xfrm>
            <a:off x="1987550" y="2235200"/>
            <a:ext cx="660400" cy="660400"/>
          </a:xfrm>
          <a:prstGeom prst="ellipse">
            <a:avLst/>
          </a:prstGeom>
          <a:solidFill>
            <a:srgbClr val="2C70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9875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1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2001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临时正向遍历</a:t>
            </a:r>
            <a:endParaRPr lang="zh-CN" altLang="en-US" sz="140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2763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SWAP-Based Search
Heuristic + Decay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得到最终映射 </a:t>
            </a:r>
            <a:r>
              <a:rPr lang="el-GR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f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2" name="直接连接符 11"/>
          <p:cNvCxnSpPr/>
          <p:nvPr/>
        </p:nvCxnSpPr>
        <p:spPr>
          <a:xfrm>
            <a:off x="3765550" y="3479800"/>
            <a:ext cx="711200" cy="0"/>
          </a:xfrm>
          <a:prstGeom prst="line">
            <a:avLst/>
          </a:prstGeom>
          <a:ln w="2794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/>
          <p:cNvSpPr/>
          <p:nvPr/>
        </p:nvSpPr>
        <p:spPr>
          <a:xfrm>
            <a:off x="4578350" y="2527300"/>
            <a:ext cx="2667000" cy="19050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5568950" y="2235200"/>
            <a:ext cx="660400" cy="660400"/>
          </a:xfrm>
          <a:prstGeom prst="ellipse">
            <a:avLst/>
          </a:prstGeom>
          <a:solidFill>
            <a:srgbClr val="0096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5689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2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7815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反向遍历</a:t>
            </a:r>
            <a:endParaRPr lang="zh-CN" altLang="en-US" sz="140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77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Reverse Traversal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倒序处理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reverse circuit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得到改进初始映射 </a:t>
            </a:r>
            <a:r>
              <a:rPr lang="el-GR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8" name="直接连接符 17"/>
          <p:cNvCxnSpPr/>
          <p:nvPr/>
        </p:nvCxnSpPr>
        <p:spPr>
          <a:xfrm>
            <a:off x="7346950" y="3479800"/>
            <a:ext cx="711200" cy="0"/>
          </a:xfrm>
          <a:prstGeom prst="line">
            <a:avLst/>
          </a:prstGeom>
          <a:ln w="2794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/>
          <p:cNvSpPr/>
          <p:nvPr/>
        </p:nvSpPr>
        <p:spPr>
          <a:xfrm>
            <a:off x="8159750" y="2527300"/>
            <a:ext cx="2667000" cy="1905000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9150350" y="2235200"/>
            <a:ext cx="660400" cy="660400"/>
          </a:xfrm>
          <a:prstGeom prst="ellipse">
            <a:avLst/>
          </a:prstGeom>
          <a:solidFill>
            <a:srgbClr val="EC912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91503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3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83629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最终正向遍历</a:t>
            </a:r>
            <a:endParaRPr lang="zh-CN" altLang="en-US" sz="140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84391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以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πr 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作为初始映射
再次执行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搜索
输出硬件可执行线路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1" name="矩形: 圆角 60"/>
          <p:cNvSpPr/>
          <p:nvPr/>
        </p:nvSpPr>
        <p:spPr>
          <a:xfrm>
            <a:off x="7683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9207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Front layer</a:t>
            </a:r>
            <a:endParaRPr lang="zh-CN" altLang="en-US" sz="115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9334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找当前可执行但被拓扑卡住的门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65" name="直接连接符 64"/>
          <p:cNvCxnSpPr/>
          <p:nvPr/>
        </p:nvCxnSpPr>
        <p:spPr>
          <a:xfrm>
            <a:off x="30670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: 圆角 65"/>
          <p:cNvSpPr/>
          <p:nvPr/>
        </p:nvSpPr>
        <p:spPr>
          <a:xfrm>
            <a:off x="35877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文本框 66"/>
          <p:cNvSpPr txBox="1"/>
          <p:nvPr/>
        </p:nvSpPr>
        <p:spPr>
          <a:xfrm>
            <a:off x="37401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Candidate SWAP</a:t>
            </a:r>
            <a:endParaRPr lang="zh-CN" altLang="en-US" sz="11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37528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只枚举相关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qubit 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附近的交换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69" name="直接连接符 68"/>
          <p:cNvCxnSpPr/>
          <p:nvPr/>
        </p:nvCxnSpPr>
        <p:spPr>
          <a:xfrm>
            <a:off x="58864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/>
          <p:cNvSpPr/>
          <p:nvPr/>
        </p:nvSpPr>
        <p:spPr>
          <a:xfrm>
            <a:off x="64071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65595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Heuristic cost</a:t>
            </a:r>
            <a:endParaRPr lang="zh-CN" altLang="en-US" sz="115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65722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当前距离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+ W×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未来距离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+ decay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3" name="直接连接符 72"/>
          <p:cNvCxnSpPr/>
          <p:nvPr/>
        </p:nvCxnSpPr>
        <p:spPr>
          <a:xfrm>
            <a:off x="87058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矩形: 圆角 73"/>
          <p:cNvSpPr/>
          <p:nvPr/>
        </p:nvSpPr>
        <p:spPr>
          <a:xfrm>
            <a:off x="92265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文本框 74"/>
          <p:cNvSpPr txBox="1"/>
          <p:nvPr/>
        </p:nvSpPr>
        <p:spPr>
          <a:xfrm>
            <a:off x="93789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Update mapping</a:t>
            </a:r>
            <a:endParaRPr lang="zh-CN" altLang="en-US" sz="115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93916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插入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，刷新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DAG 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与映射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08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Front layer：只关注当前真正卡住的门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把双比特门依赖表示成 DAG；front layer 是当前无未执行前驱、理论上可以执行的门集合。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77824" y="2148840"/>
            <a:ext cx="480060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78992" y="2331720"/>
            <a:ext cx="20116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DAG 与 front layer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618488" y="3026664"/>
            <a:ext cx="640080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2258568" y="3026664"/>
            <a:ext cx="621792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80360" y="3026664"/>
            <a:ext cx="640080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258568" y="4050791"/>
            <a:ext cx="2377439" cy="704088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520440" y="4050791"/>
            <a:ext cx="1115567" cy="704088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1298448" y="2862072"/>
            <a:ext cx="658368" cy="347472"/>
          </a:xfrm>
          <a:prstGeom prst="roundRect">
            <a:avLst/>
          </a:prstGeom>
          <a:solidFill>
            <a:srgbClr val="4C1984"/>
          </a:solidFill>
          <a:ln w="1270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98448" y="2953512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g1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2560320" y="2862072"/>
            <a:ext cx="658368" cy="347472"/>
          </a:xfrm>
          <a:prstGeom prst="roundRect">
            <a:avLst/>
          </a:prstGeom>
          <a:solidFill>
            <a:srgbClr val="4C1984"/>
          </a:solidFill>
          <a:ln w="1270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560320" y="2953512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g2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1938528" y="3886200"/>
            <a:ext cx="658368" cy="347472"/>
          </a:xfrm>
          <a:prstGeom prst="roundRect">
            <a:avLst/>
          </a:prstGeom>
          <a:solidFill>
            <a:srgbClr val="008491"/>
          </a:solidFill>
          <a:ln w="1270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938528" y="3977639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g3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3200400" y="3886200"/>
            <a:ext cx="658368" cy="347472"/>
          </a:xfrm>
          <a:prstGeom prst="roundRect">
            <a:avLst/>
          </a:prstGeom>
          <a:solidFill>
            <a:srgbClr val="A62A47"/>
          </a:solidFill>
          <a:ln w="12700">
            <a:solidFill>
              <a:srgbClr val="A62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00400" y="3977639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g4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4315968" y="4590288"/>
            <a:ext cx="658368" cy="347472"/>
          </a:xfrm>
          <a:prstGeom prst="roundRect">
            <a:avLst/>
          </a:prstGeom>
          <a:solidFill>
            <a:srgbClr val="E28430"/>
          </a:solidFill>
          <a:ln w="12700">
            <a:solidFill>
              <a:srgbClr val="E2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15968" y="4681727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g5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124712" y="3383280"/>
            <a:ext cx="1371600" cy="274320"/>
          </a:xfrm>
          <a:prstGeom prst="roundRect">
            <a:avLst/>
          </a:prstGeom>
          <a:solidFill>
            <a:srgbClr val="EBE5F6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161288" y="3433572"/>
            <a:ext cx="1298448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C1984"/>
                </a:solidFill>
                <a:latin typeface="微软雅黑" panose="020B0503020204020204" charset="-122"/>
              </a:rPr>
              <a:t>Front layer</a:t>
            </a:r>
            <a:endParaRPr sz="10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697480" y="4416552"/>
            <a:ext cx="1417320" cy="27432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34056" y="4466844"/>
            <a:ext cx="1344168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8491"/>
                </a:solidFill>
                <a:latin typeface="微软雅黑" panose="020B0503020204020204" charset="-122"/>
              </a:rPr>
              <a:t>Extended set</a:t>
            </a:r>
            <a:endParaRPr sz="10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6080760" y="2148840"/>
            <a:ext cx="443484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291072" y="2331720"/>
            <a:ext cx="18288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候选 SWAP 生成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6382512" y="2761488"/>
            <a:ext cx="292608" cy="29260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382512" y="2849270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6803136" y="2779776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检查 front layer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803136" y="3008376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若对应 physical qubit 相邻，直接执行门。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6382512" y="3474720"/>
            <a:ext cx="292608" cy="292608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82512" y="3562502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6803136" y="3493008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若不相邻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6803136" y="3721608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只考虑相关 qubit 附近的 SWAP，避免枚举全图。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6382512" y="4187952"/>
            <a:ext cx="292608" cy="292608"/>
          </a:xfrm>
          <a:prstGeom prst="ellipse">
            <a:avLst/>
          </a:prstGeom>
          <a:solidFill>
            <a:srgbClr val="A62A47"/>
          </a:solidFill>
          <a:ln w="16510">
            <a:solidFill>
              <a:srgbClr val="A62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82512" y="4275734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6803136" y="4206240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更新映射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6803136" y="4434840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选择代价最低 SWAP 后，重新检查 front layer。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96112" y="5851017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front layer 把搜索焦点限制在当前真正受阻的双比特门附近。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0" name="Rounded Rectangle 129"/>
          <p:cNvSpPr/>
          <p:nvPr/>
        </p:nvSpPr>
        <p:spPr>
          <a:xfrm>
            <a:off x="932815" y="5230495"/>
            <a:ext cx="9829800" cy="403860"/>
          </a:xfrm>
          <a:prstGeom prst="roundRect">
            <a:avLst/>
          </a:prstGeom>
          <a:solidFill>
            <a:srgbClr val="F9FFFF"/>
          </a:solidFill>
          <a:ln w="9525">
            <a:solidFill>
              <a:srgbClr val="C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43000" y="5340477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20" b="1">
                <a:solidFill>
                  <a:srgbClr val="37373C"/>
                </a:solidFill>
                <a:latin typeface="微软雅黑" panose="020B0503020204020204" charset="-122"/>
              </a:rPr>
              <a:t>小例子</a:t>
            </a:r>
            <a:endParaRPr sz="820" b="1">
              <a:solidFill>
                <a:srgbClr val="660066"/>
              </a:solidFill>
              <a:latin typeface="微软雅黑" panose="020B0503020204020204" charset="-122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2331720" y="5303901"/>
            <a:ext cx="224028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" b="0">
                <a:solidFill>
                  <a:srgbClr val="37373C"/>
                </a:solidFill>
                <a:latin typeface="微软雅黑" panose="020B0503020204020204" charset="-122"/>
              </a:rPr>
              <a:t>front layer: CNOT(q0,q2)
当前映射: q0@P0, q2@P3</a:t>
            </a:r>
            <a:endParaRPr sz="74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4709160" y="5303901"/>
            <a:ext cx="201168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" b="0">
                <a:solidFill>
                  <a:srgbClr val="37373C"/>
                </a:solidFill>
                <a:latin typeface="微软雅黑" panose="020B0503020204020204" charset="-122"/>
              </a:rPr>
              <a:t>候选 SWAP 只从 P0/P3 邻边取：
SWAP(P0,P1), SWAP(P3,P2)</a:t>
            </a:r>
            <a:endParaRPr sz="74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949440" y="5303901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37373C"/>
                </a:solidFill>
                <a:latin typeface="微软雅黑" panose="020B0503020204020204" charset="-122"/>
              </a:rPr>
              <a:t>启发式评分目标：</a:t>
            </a:r>
            <a:endParaRPr sz="800" b="0">
              <a:solidFill>
                <a:srgbClr val="37373C"/>
              </a:solidFill>
              <a:latin typeface="微软雅黑" panose="020B0503020204020204" charset="-122"/>
            </a:endParaRPr>
          </a:p>
          <a:p>
            <a:pPr algn="ctr"/>
            <a:r>
              <a:rPr sz="800" b="0">
                <a:solidFill>
                  <a:srgbClr val="37373C"/>
                </a:solidFill>
                <a:latin typeface="微软雅黑" panose="020B0503020204020204" charset="-122"/>
              </a:rPr>
              <a:t>当前门距离降低，后续门代价不显著上升。</a:t>
            </a:r>
            <a:endParaRPr sz="80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cxnSp>
        <p:nvCxnSpPr>
          <p:cNvPr id="135" name="Connector 134"/>
          <p:cNvCxnSpPr/>
          <p:nvPr/>
        </p:nvCxnSpPr>
        <p:spPr>
          <a:xfrm>
            <a:off x="4480560" y="5230368"/>
            <a:ext cx="164592" cy="0"/>
          </a:xfrm>
          <a:prstGeom prst="line">
            <a:avLst/>
          </a:prstGeom>
          <a:ln w="15875">
            <a:solidFill>
              <a:srgbClr val="66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6675120" y="5230368"/>
            <a:ext cx="164592" cy="0"/>
          </a:xfrm>
          <a:prstGeom prst="line">
            <a:avLst/>
          </a:prstGeom>
          <a:ln w="15875">
            <a:solidFill>
              <a:srgbClr val="66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09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启发式函数：当前距离 + 未来距离 + decay 惩罚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论文用 front layer 与 extended set 的平均距离评分候选 SWAP，再用 decay 惩罚近期重叠交换。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41248" y="2121408"/>
            <a:ext cx="4892040" cy="1417320"/>
          </a:xfrm>
          <a:prstGeom prst="round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96112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2415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F / front layer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2212848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当前可执行双比特门；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第一项优先优化它们。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4233672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379976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8491"/>
                </a:solidFill>
                <a:latin typeface="微软雅黑" panose="020B0503020204020204" charset="-122"/>
              </a:rPr>
              <a:t>E / extended set</a:t>
            </a:r>
            <a:endParaRPr sz="105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550408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front layer 的后继门；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提供轻量 look-ahead。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7571231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17536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28430"/>
                </a:solidFill>
                <a:latin typeface="微软雅黑" panose="020B0503020204020204" charset="-122"/>
              </a:rPr>
              <a:t>D / distance</a:t>
            </a:r>
            <a:endParaRPr sz="1050" b="1">
              <a:solidFill>
                <a:srgbClr val="E28430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8887967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两个 physical qubit 在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耦合图上的最短路。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896112" y="4663440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42415" y="4754880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62A47"/>
                </a:solidFill>
                <a:latin typeface="微软雅黑" panose="020B0503020204020204" charset="-122"/>
              </a:rPr>
              <a:t>W / weight</a:t>
            </a:r>
            <a:endParaRPr sz="105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2212848" y="4754880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未来项权重，论文实验中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W = 0.5。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4233672" y="4663440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79976" y="4754880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881"/>
                </a:solidFill>
                <a:latin typeface="微软雅黑" panose="020B0503020204020204" charset="-122"/>
              </a:rPr>
              <a:t>decay</a:t>
            </a:r>
            <a:endParaRPr sz="1050" b="1">
              <a:solidFill>
                <a:srgbClr val="5B6881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550408" y="4754880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若 qubit 最近参与 SWAP，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decay(q)=1+δ。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6126480" y="2121408"/>
            <a:ext cx="4389120" cy="141732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启发式函数同时编码当前门距离、未来门影响和近期重叠 SWAP 惩罚。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950976" y="2258568"/>
            <a:ext cx="4709160" cy="1078992"/>
          </a:xfrm>
          <a:prstGeom prst="roundRect">
            <a:avLst/>
          </a:prstGeom>
          <a:solidFill>
            <a:srgbClr val="3D1260"/>
          </a:solidFill>
          <a:ln w="9525">
            <a:solidFill>
              <a:srgbClr val="3D12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172200" y="2450592"/>
            <a:ext cx="4160520" cy="694944"/>
          </a:xfrm>
          <a:prstGeom prst="roundRect">
            <a:avLst/>
          </a:prstGeom>
          <a:solidFill>
            <a:srgbClr val="E6FFFF"/>
          </a:solidFill>
          <a:ln w="9525">
            <a:solidFill>
              <a:srgbClr val="D0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7699248" y="4645152"/>
            <a:ext cx="2542032" cy="347472"/>
          </a:xfrm>
          <a:prstGeom prst="roundRect">
            <a:avLst/>
          </a:prstGeom>
          <a:solidFill>
            <a:srgbClr val="FFF8E8"/>
          </a:solidFill>
          <a:ln w="9525">
            <a:solidFill>
              <a:srgbClr val="F5D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18120" y="4736592"/>
            <a:ext cx="233172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60">
                <a:solidFill>
                  <a:srgbClr val="5F4B23"/>
                </a:solidFill>
                <a:latin typeface="微软雅黑" panose="020B0503020204020204" charset="-122"/>
              </a:rPr>
              <a:t>候选 SWAP 评分：临时更新映射，计算 H，选择代价最小者。</a:t>
            </a:r>
            <a:endParaRPr sz="660">
              <a:solidFill>
                <a:srgbClr val="5F4B23"/>
              </a:solidFill>
              <a:latin typeface="微软雅黑" panose="020B0503020204020204" charset="-122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115060" y="2221865"/>
            <a:ext cx="4435475" cy="1170305"/>
          </a:xfrm>
          <a:prstGeom prst="roundRect">
            <a:avLst/>
          </a:prstGeom>
          <a:solidFill>
            <a:srgbClr val="3D1260"/>
          </a:solidFill>
          <a:ln w="9525">
            <a:solidFill>
              <a:srgbClr val="3D12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15568" y="2331720"/>
            <a:ext cx="45902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 panose="020B0503020204020204" charset="-122"/>
              </a:rPr>
              <a:t>H = max(decay(SWAP.q1), decay(SWAP.q2)) × {</a:t>
            </a:r>
            <a:endParaRPr sz="11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1261872" y="2587752"/>
            <a:ext cx="431596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20" b="1">
                <a:solidFill>
                  <a:srgbClr val="FFFFFF"/>
                </a:solidFill>
                <a:latin typeface="Cambria Math" panose="02040503050406030204"/>
              </a:rPr>
              <a:t>1/|F|  Σ gate∈F  D[π(gate.q1)][π(gate.q2)]</a:t>
            </a:r>
            <a:endParaRPr sz="1020" b="1">
              <a:solidFill>
                <a:srgbClr val="FFFFFF"/>
              </a:solidFill>
              <a:latin typeface="Cambria Math" panose="02040503050406030204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1261872" y="2834640"/>
            <a:ext cx="431596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20" b="1">
                <a:solidFill>
                  <a:srgbClr val="FFFFFF"/>
                </a:solidFill>
                <a:latin typeface="Cambria Math" panose="02040503050406030204"/>
              </a:rPr>
              <a:t>+  W × 1/|E|  Σ gate∈E  D[π(gate.q1)][π(gate.q2)]  }</a:t>
            </a:r>
            <a:endParaRPr sz="1020" b="1">
              <a:solidFill>
                <a:srgbClr val="FFFFFF"/>
              </a:solidFill>
              <a:latin typeface="Cambria Math" panose="02040503050406030204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1298448" y="3127248"/>
            <a:ext cx="41879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0">
                <a:solidFill>
                  <a:srgbClr val="E6DAEE"/>
                </a:solidFill>
                <a:latin typeface="微软雅黑" panose="020B0503020204020204" charset="-122"/>
              </a:rPr>
              <a:t>与论文 Eq. (2) 一致：F 为 front layer，E 为 extended set。</a:t>
            </a:r>
            <a:endParaRPr sz="680" b="0">
              <a:solidFill>
                <a:srgbClr val="E6DAEE"/>
              </a:solidFill>
              <a:latin typeface="微软雅黑" panose="020B0503020204020204" charset="-122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6172200" y="2450592"/>
            <a:ext cx="4160520" cy="694944"/>
          </a:xfrm>
          <a:prstGeom prst="roundRect">
            <a:avLst/>
          </a:prstGeom>
          <a:solidFill>
            <a:srgbClr val="E6FFFF"/>
          </a:solidFill>
          <a:ln w="9525">
            <a:solidFill>
              <a:srgbClr val="D0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446520" y="2633472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60" b="1">
                <a:solidFill>
                  <a:srgbClr val="2D3F43"/>
                </a:solidFill>
                <a:latin typeface="微软雅黑" panose="020B0503020204020204" charset="-122"/>
              </a:rPr>
              <a:t>评分含义：当前门均距 + W × 未来门均距，再乘 decay 惩罚。</a:t>
            </a:r>
            <a:endParaRPr sz="860" b="1">
              <a:solidFill>
                <a:srgbClr val="2D3F43"/>
              </a:solidFill>
              <a:latin typeface="微软雅黑" panose="020B0503020204020204" charset="-122"/>
            </a:endParaRPr>
          </a:p>
        </p:txBody>
      </p:sp>
      <p:sp>
        <p:nvSpPr>
          <p:cNvPr id="130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10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Reverse traversal：用一次正向结果反推更好的初始映射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这不是让真实量子机器反向运行程序，而是在编译阶段倒序分析双比特门。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9611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9728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π0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042415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临时初始映射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6070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随机或简单初始化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97" name="Connector 96"/>
          <p:cNvCxnSpPr/>
          <p:nvPr/>
        </p:nvCxnSpPr>
        <p:spPr>
          <a:xfrm>
            <a:off x="294436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350215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70332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πf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4845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正向最终映射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66674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第一次正向遍历得到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102" name="Connector 101"/>
          <p:cNvCxnSpPr/>
          <p:nvPr/>
        </p:nvCxnSpPr>
        <p:spPr>
          <a:xfrm>
            <a:off x="555040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610819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09359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008491"/>
                </a:solidFill>
                <a:latin typeface="微软雅黑" panose="020B0503020204020204" charset="-122"/>
              </a:rPr>
              <a:t>πr</a:t>
            </a:r>
            <a:endParaRPr sz="24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625449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反向得到新映射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272783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作为原线路更好的开局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107" name="Connector 106"/>
          <p:cNvCxnSpPr/>
          <p:nvPr/>
        </p:nvCxnSpPr>
        <p:spPr>
          <a:xfrm>
            <a:off x="815644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871423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1540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Final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886053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最终可执行线路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887882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第二次正向遍历输出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1143000" y="4617720"/>
            <a:ext cx="8961120" cy="749808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371600" y="4773168"/>
            <a:ext cx="11430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8491"/>
                </a:solidFill>
                <a:latin typeface="微软雅黑" panose="020B0503020204020204" charset="-122"/>
              </a:rPr>
              <a:t>为什么有效？</a:t>
            </a:r>
            <a:endParaRPr sz="12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2450592" y="4773168"/>
            <a:ext cx="74523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4262D"/>
                </a:solidFill>
                <a:latin typeface="微软雅黑" panose="020B0503020204020204" charset="-122"/>
              </a:rPr>
              <a:t>反向线路最后处理的门，正是原线路开头的门；因此 πr 更适合原线路开头，同时也吸收了后续门的信息。</a:t>
            </a:r>
            <a:endParaRPr sz="115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reverse traversal 不是反向运行量子程序，而是在编译阶段倒推更好的开局。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7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11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Decay effect：在门数与线路深度之间做权衡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注意：decay 不是“距离随时间衰减”。它是对近期参与过 SWAP 的 qubit 临时加惩罚。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1508887" y="2148840"/>
            <a:ext cx="397763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783207" y="2395728"/>
            <a:ext cx="14173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2A47"/>
                </a:solidFill>
                <a:latin typeface="微软雅黑" panose="020B0503020204020204" charset="-122"/>
              </a:rPr>
              <a:t>没有 decay</a:t>
            </a:r>
            <a:endParaRPr sz="140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911223" y="278892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911223" y="3291839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911223" y="379476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30441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21297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21297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21297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21297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4449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853054" y="2697479"/>
            <a:ext cx="182881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53054" y="2697479"/>
            <a:ext cx="182881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53054" y="3200400"/>
            <a:ext cx="182881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853054" y="3200400"/>
            <a:ext cx="182881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58457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49313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49313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49313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9313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1801495" y="4096512"/>
            <a:ext cx="324612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4262D"/>
                </a:solidFill>
                <a:latin typeface="微软雅黑" panose="020B0503020204020204" charset="-122"/>
              </a:rPr>
              <a:t>连续移动同一批 qubit，SWAP 互相依赖，难以并行。</a:t>
            </a:r>
            <a:endParaRPr sz="110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6284087" y="2148840"/>
            <a:ext cx="397763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558407" y="2395728"/>
            <a:ext cx="14173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8491"/>
                </a:solidFill>
                <a:latin typeface="微软雅黑" panose="020B0503020204020204" charset="-122"/>
              </a:rPr>
              <a:t>加入 decay</a:t>
            </a:r>
            <a:endParaRPr sz="14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cxnSp>
        <p:nvCxnSpPr>
          <p:cNvPr id="116" name="Connector 115"/>
          <p:cNvCxnSpPr/>
          <p:nvPr/>
        </p:nvCxnSpPr>
        <p:spPr>
          <a:xfrm>
            <a:off x="6686423" y="278892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686423" y="3291839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686423" y="379476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7143623" y="2788920"/>
            <a:ext cx="0" cy="502919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7052183" y="2697479"/>
            <a:ext cx="182879" cy="182881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7052183" y="2697479"/>
            <a:ext cx="182879" cy="182881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052183" y="3200399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7052183" y="3200399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8131175" y="3291840"/>
            <a:ext cx="0" cy="502920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8039735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8039735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8039735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8039735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8972423" y="3291840"/>
            <a:ext cx="0" cy="502920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8880983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8880983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8880983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8880983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6622415" y="4096512"/>
            <a:ext cx="324612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4262D"/>
                </a:solidFill>
                <a:latin typeface="微软雅黑" panose="020B0503020204020204" charset="-122"/>
              </a:rPr>
              <a:t>近期参与过 SWAP 的 qubit 代价升高，算法更愿意选不重叠交换。</a:t>
            </a:r>
            <a:endParaRPr sz="110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35" name="Rounded Rectangle 134"/>
          <p:cNvSpPr/>
          <p:nvPr/>
        </p:nvSpPr>
        <p:spPr>
          <a:xfrm>
            <a:off x="2000250" y="5287518"/>
            <a:ext cx="7818120" cy="384048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274570" y="5406390"/>
            <a:ext cx="7269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301256"/>
                </a:solidFill>
                <a:latin typeface="微软雅黑" panose="020B0503020204020204" charset="-122"/>
              </a:rPr>
              <a:t>δ 较大：更偏向降低深度；δ 较小：更偏向减少额外门数。</a:t>
            </a:r>
            <a:endParaRPr sz="112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decay 惩罚近期重叠 SWAP，鼓励不相交交换并行执行，降低线路深度。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12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实验设置与评价指标：看速度，也看线路质量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论文在 IBM Q20 Tokyo 20-qubit 拓扑和多类 benchmark 上比较 SABRE 与 BKA。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96112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97280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硬件平台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24712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IBM Q20 Tokyo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20 个 physical qubit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稀疏耦合图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142231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343399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测试基准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370831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通用量子线路 benchmark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覆盖不同 qubit 数、门数和依赖结构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388352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9520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对比方法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616952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BKA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Best Known Algorithm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作为当时强 baseline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960120" y="4160520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24712" y="4279392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额外门数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984248" y="4279392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SWAP 会转成多个 CNOT，越少越好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5760720" y="4160520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925312" y="4279392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线路深度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784848" y="4279392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决定执行时间和退相干风险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960120" y="4745736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124712" y="4864607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运行时间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1984248" y="4864607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编译器能否处理大线路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5760720" y="4745736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925312" y="4864607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内存占用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784848" y="4864607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大 benchmark 是否 OOM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实验评价同时看额外门数、线路深度、运行时间和内存占用。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6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13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实验结果：门数、时间、内存三个维度体现可扩展性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相比 BKA，SABRE 的优势不只是一项指标；关键是在线路质量、编译资源和可扩展性之间取得平衡。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914400" y="2179320"/>
            <a:ext cx="3111500" cy="1968500"/>
          </a:xfrm>
          <a:prstGeom prst="roundRect">
            <a:avLst/>
          </a:prstGeom>
          <a:solidFill>
            <a:srgbClr val="F4ED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092200" y="2344420"/>
            <a:ext cx="27559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2300" b="1">
                <a:solidFill>
                  <a:srgbClr val="C53A70"/>
                </a:solidFill>
                <a:latin typeface="微软雅黑" panose="020B0503020204020204" charset="-122"/>
              </a:rPr>
              <a:t>≈10%</a:t>
            </a:r>
            <a:endParaRPr sz="2300" b="1">
              <a:solidFill>
                <a:srgbClr val="C53A70"/>
              </a:solidFill>
              <a:latin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92200" y="281432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Gate Reduction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门数优化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143000" y="313182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large/qft benchmark 平均额外门减少约 10%；小线路可减少 91% 甚至完全消除额外门。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4457700" y="2179320"/>
            <a:ext cx="3111500" cy="19685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635500" y="2344420"/>
            <a:ext cx="27559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2300" b="1">
                <a:solidFill>
                  <a:srgbClr val="009187"/>
                </a:solidFill>
                <a:latin typeface="微软雅黑" panose="020B0503020204020204" charset="-122"/>
              </a:rPr>
              <a:t>5000×+</a:t>
            </a:r>
            <a:endParaRPr sz="2300" b="1">
              <a:solidFill>
                <a:srgbClr val="009187"/>
              </a:solidFill>
              <a:latin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35500" y="281432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Runtime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运行速度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86300" y="313182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部分 benchmark 加速数千倍：如 qft16 约 5652×、qft13 约 7396×。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8001000" y="2179320"/>
            <a:ext cx="3111500" cy="1968500"/>
          </a:xfrm>
          <a:prstGeom prst="roundRect">
            <a:avLst/>
          </a:prstGeom>
          <a:solidFill>
            <a:srgbClr val="FFEEF4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178800" y="2344420"/>
            <a:ext cx="2755900" cy="35394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3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No OOM</a:t>
            </a:r>
            <a:endParaRPr lang="zh-CN" altLang="en-US" sz="23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178800" y="281432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Memory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内存占用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8229600" y="313182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BKA 在 ising16 / qft20 上超过 378GB 内存；SABRE 约 300MB、0.1s 仍可完成。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130300" y="4465320"/>
            <a:ext cx="4635500" cy="838200"/>
          </a:xfrm>
          <a:prstGeom prst="roundRect">
            <a:avLst/>
          </a:prstGeom>
          <a:solidFill>
            <a:srgbClr val="E9F9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308100" y="4630420"/>
            <a:ext cx="42799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1050" b="1">
                <a:solidFill>
                  <a:srgbClr val="007878"/>
                </a:solidFill>
                <a:latin typeface="微软雅黑" panose="020B0503020204020204" charset="-122"/>
              </a:rPr>
              <a:t>结论</a:t>
            </a:r>
            <a:endParaRPr sz="1050" b="1">
              <a:solidFill>
                <a:srgbClr val="007878"/>
              </a:solidFill>
              <a:latin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308100" y="4883150"/>
            <a:ext cx="427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20">
                <a:solidFill>
                  <a:srgbClr val="464646"/>
                </a:solidFill>
                <a:latin typeface="微软雅黑" panose="020B0503020204020204" charset="-122"/>
              </a:rPr>
              <a:t>SABRE 不保证全局最优；它用 reverse traversal 改善初始映射，用局部 SWAP 搜索换取可扩展性。</a:t>
            </a:r>
            <a:endParaRPr sz="82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21" name="矩形: 圆角 20"/>
          <p:cNvSpPr/>
          <p:nvPr/>
        </p:nvSpPr>
        <p:spPr>
          <a:xfrm>
            <a:off x="6299200" y="4465320"/>
            <a:ext cx="4635500" cy="83820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6477000" y="4630420"/>
            <a:ext cx="42799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1050" b="1">
                <a:solidFill>
                  <a:srgbClr val="B23669"/>
                </a:solidFill>
                <a:latin typeface="微软雅黑" panose="020B0503020204020204" charset="-122"/>
              </a:rPr>
              <a:t>局限</a:t>
            </a:r>
            <a:endParaRPr sz="1050" b="1">
              <a:solidFill>
                <a:srgbClr val="B23669"/>
              </a:solidFill>
              <a:latin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477000" y="4883150"/>
            <a:ext cx="427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20">
                <a:solidFill>
                  <a:srgbClr val="464646"/>
                </a:solidFill>
                <a:latin typeface="微软雅黑" panose="020B0503020204020204" charset="-122"/>
              </a:rPr>
              <a:t>少 SWAP 不必然等于最高保真度；真实设备还需考虑不同 qubit/edge 的噪声、动态校准与串扰。</a:t>
            </a:r>
            <a:endParaRPr sz="82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143000" y="5605272"/>
            <a:ext cx="9601200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80">
                <a:solidFill>
                  <a:srgbClr val="78697D"/>
                </a:solidFill>
                <a:latin typeface="微软雅黑" panose="020B0503020204020204" charset="-122"/>
              </a:rPr>
              <a:t>数据来源：论文 Table II 与 Evaluation；BKA 为 C++ 实现，SABRE 为 Python 实现。</a:t>
            </a:r>
            <a:endParaRPr sz="580">
              <a:solidFill>
                <a:srgbClr val="78697D"/>
              </a:solidFill>
              <a:latin typeface="微软雅黑" panose="020B0503020204020204" charset="-122"/>
            </a:endParaRPr>
          </a:p>
        </p:txBody>
      </p:sp>
      <p:sp>
        <p:nvSpPr>
          <p:cNvPr id="8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14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总结与展望：SABRE 的贡献与后续方向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SABRE 将 qubit mapping 从全局穷举式搜索推进到可扩展的硬件感知启发式编译。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1117600" y="2311400"/>
            <a:ext cx="4699000" cy="1041400"/>
          </a:xfrm>
          <a:prstGeom prst="roundRect">
            <a:avLst/>
          </a:prstGeom>
          <a:solidFill>
            <a:srgbClr val="ECF4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1295400" y="24765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高效</a:t>
            </a:r>
            <a:endParaRPr lang="zh-CN" altLang="en-US" sz="130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1295400" y="28194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启发式搜索快速找到近优解
无需枚举所有 </a:t>
            </a:r>
            <a:r>
              <a:rPr lang="en-US" altLang="zh-CN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4" name="矩形: 圆角 33"/>
          <p:cNvSpPr/>
          <p:nvPr/>
        </p:nvSpPr>
        <p:spPr>
          <a:xfrm>
            <a:off x="6515100" y="2311400"/>
            <a:ext cx="4699000" cy="10414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6692900" y="24765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可扩展</a:t>
            </a:r>
            <a:endParaRPr lang="zh-CN" altLang="en-US" sz="130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692900" y="28194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多项式级候选搜索
适配更大规模量子硬件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7" name="矩形: 圆角 36"/>
          <p:cNvSpPr/>
          <p:nvPr/>
        </p:nvSpPr>
        <p:spPr>
          <a:xfrm>
            <a:off x="1117600" y="3733800"/>
            <a:ext cx="4699000" cy="1041400"/>
          </a:xfrm>
          <a:prstGeom prst="roundRect">
            <a:avLst/>
          </a:prstGeom>
          <a:solidFill>
            <a:srgbClr val="F4ED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1295400" y="38989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方法论价值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295400" y="42418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从全局搜索到增量决策
利用可逆性改善初始映射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0" name="矩形: 圆角 39"/>
          <p:cNvSpPr/>
          <p:nvPr/>
        </p:nvSpPr>
        <p:spPr>
          <a:xfrm>
            <a:off x="6515100" y="3733800"/>
            <a:ext cx="4699000" cy="1041400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6692900" y="38989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工程实用</a:t>
            </a:r>
            <a:endParaRPr lang="zh-CN" altLang="en-US" sz="130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692900" y="42418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思想已进入主流编译器
成为 </a:t>
            </a:r>
            <a:r>
              <a:rPr lang="en-US" altLang="zh-CN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NISQ </a:t>
            </a:r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编译重要基线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3" name="矩形: 圆角 42"/>
          <p:cNvSpPr/>
          <p:nvPr/>
        </p:nvSpPr>
        <p:spPr>
          <a:xfrm>
            <a:off x="1117600" y="5105400"/>
            <a:ext cx="10096500" cy="5842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397000" y="5245100"/>
            <a:ext cx="9588500" cy="18620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sz="820" b="1">
                <a:solidFill>
                  <a:srgbClr val="B47416"/>
                </a:solidFill>
                <a:latin typeface="微软雅黑" panose="020B0503020204020204" charset="-122"/>
              </a:rPr>
              <a:t>未来方向：Noise-aware Mapping、Hardware-aware Compilation、Learning-based Mapping</a:t>
            </a:r>
            <a:endParaRPr sz="820" b="1">
              <a:solidFill>
                <a:srgbClr val="B47416"/>
              </a:solidFill>
              <a:latin typeface="微软雅黑" panose="020B0503020204020204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1524000" y="5513832"/>
            <a:ext cx="9334500" cy="109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sz="650">
                <a:solidFill>
                  <a:srgbClr val="5F4B23"/>
                </a:solidFill>
                <a:latin typeface="微软雅黑" panose="020B0503020204020204" charset="-122"/>
              </a:rPr>
              <a:t>后续工作可将噪声模型、门保真度和动态校准信息纳入 cost function。</a:t>
            </a:r>
            <a:endParaRPr sz="650">
              <a:solidFill>
                <a:srgbClr val="5F4B23"/>
              </a:solidFill>
              <a:latin typeface="微软雅黑" panose="020B0503020204020204" charset="-122"/>
            </a:endParaRPr>
          </a:p>
        </p:txBody>
      </p:sp>
      <p:sp>
        <p:nvSpPr>
          <p:cNvPr id="88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15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-17748" y="-15897"/>
            <a:ext cx="12227495" cy="6857999"/>
          </a:xfrm>
          <a:prstGeom prst="rect">
            <a:avLst/>
          </a:prstGeom>
          <a:gradFill flip="none" rotWithShape="1">
            <a:gsLst>
              <a:gs pos="100000">
                <a:srgbClr val="992164"/>
              </a:gs>
              <a:gs pos="73000">
                <a:srgbClr val="7A1769"/>
              </a:gs>
              <a:gs pos="0">
                <a:srgbClr val="580C6E"/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024486">
            <a:off x="-135700" y="-4437113"/>
            <a:ext cx="10609201" cy="14974172"/>
          </a:xfrm>
          <a:prstGeom prst="rect">
            <a:avLst/>
          </a:prstGeom>
        </p:spPr>
      </p:pic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矩形 21"/>
          <p:cNvSpPr/>
          <p:nvPr/>
        </p:nvSpPr>
        <p:spPr>
          <a:xfrm>
            <a:off x="33890" y="0"/>
            <a:ext cx="12227495" cy="6857999"/>
          </a:xfrm>
          <a:prstGeom prst="rect">
            <a:avLst/>
          </a:prstGeom>
          <a:gradFill flip="none" rotWithShape="1">
            <a:gsLst>
              <a:gs pos="95000">
                <a:srgbClr val="992164"/>
              </a:gs>
              <a:gs pos="73000">
                <a:srgbClr val="7A1769">
                  <a:alpha val="50000"/>
                </a:srgbClr>
              </a:gs>
              <a:gs pos="0">
                <a:srgbClr val="580C6E">
                  <a:alpha val="78000"/>
                </a:srgbClr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/>
          <p:cNvSpPr txBox="1"/>
          <p:nvPr/>
        </p:nvSpPr>
        <p:spPr>
          <a:xfrm>
            <a:off x="1926153" y="1870223"/>
            <a:ext cx="106758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9600" spc="13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汉仪雪君体简" panose="02010604000101010101" pitchFamily="2" charset="-122"/>
              <a:ea typeface="金桥简行楷" pitchFamily="2" charset="-122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270667" y="287180"/>
            <a:ext cx="3277389" cy="1008394"/>
            <a:chOff x="9730702" y="211219"/>
            <a:chExt cx="2374282" cy="701101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2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 rotWithShape="1">
            <a:blip r:embed="rId4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21" name="文本框 20"/>
          <p:cNvSpPr txBox="1"/>
          <p:nvPr/>
        </p:nvSpPr>
        <p:spPr>
          <a:xfrm>
            <a:off x="4303594" y="3658243"/>
            <a:ext cx="3887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+mj-cs"/>
            </a:endParaRPr>
          </a:p>
        </p:txBody>
      </p:sp>
      <p:pic>
        <p:nvPicPr>
          <p:cNvPr id="23" name="图片 22" descr="建筑的设计&#10;&#10;描述已自动生成"/>
          <p:cNvPicPr>
            <a:picLocks noChangeAspect="1"/>
          </p:cNvPicPr>
          <p:nvPr/>
        </p:nvPicPr>
        <p:blipFill>
          <a:blip r:embed="rId5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701" y="4616132"/>
            <a:ext cx="3360499" cy="2254967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210435" y="3067050"/>
            <a:ext cx="7874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3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Thanks for listening</a:t>
            </a:r>
            <a:endParaRPr lang="zh-CN" altLang="en-US" sz="3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921000" y="3843020"/>
            <a:ext cx="6604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汇报人：计</a:t>
            </a:r>
            <a:r>
              <a:rPr lang="en-US" altLang="zh-CN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42 </a:t>
            </a:r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张芝源，计</a:t>
            </a:r>
            <a:r>
              <a:rPr lang="en-US" altLang="zh-CN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42 </a:t>
            </a:r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陈家睦</a:t>
            </a:r>
            <a:endParaRPr lang="zh-CN" altLang="en-US" sz="16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F5F7FA"/>
                </a:solidFill>
                <a:latin typeface="Aptos"/>
              </a:rPr>
              <a:t>16 / 16</a:t>
            </a:r>
            <a:endParaRPr sz="800">
              <a:solidFill>
                <a:srgbClr val="F5F7FA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>
</file>

<file path=ppt/tags/tag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3.xml><?xml version="1.0" encoding="utf-8"?>
<p:tagLst xmlns:p="http://schemas.openxmlformats.org/presentationml/2006/main">
  <p:tag name="ISLIDE.ICON" val="#370237;"/>
</p:tagLst>
</file>

<file path=ppt/tags/tag34.xml><?xml version="1.0" encoding="utf-8"?>
<p:tagLst xmlns:p="http://schemas.openxmlformats.org/presentationml/2006/main">
  <p:tag name="ISLIDE.ICON" val="#370237;"/>
</p:tagLst>
</file>

<file path=ppt/tags/tag35.xml><?xml version="1.0" encoding="utf-8"?>
<p:tagLst xmlns:p="http://schemas.openxmlformats.org/presentationml/2006/main">
  <p:tag name="ISLIDE.ICON" val="#370237;"/>
</p:tagLst>
</file>

<file path=ppt/tags/tag36.xml><?xml version="1.0" encoding="utf-8"?>
<p:tagLst xmlns:p="http://schemas.openxmlformats.org/presentationml/2006/main">
  <p:tag name="ISLIDE.ICON" val="#370237;"/>
</p:tagLst>
</file>

<file path=ppt/tags/tag37.xml><?xml version="1.0" encoding="utf-8"?>
<p:tagLst xmlns:p="http://schemas.openxmlformats.org/presentationml/2006/main">
  <p:tag name="ISLIDE.ICON" val="#370237;"/>
</p:tagLst>
</file>

<file path=ppt/tags/tag38.xml><?xml version="1.0" encoding="utf-8"?>
<p:tagLst xmlns:p="http://schemas.openxmlformats.org/presentationml/2006/main">
  <p:tag name="ISLIDE.ICON" val="#370237;"/>
</p:tagLst>
</file>

<file path=ppt/tags/tag39.xml><?xml version="1.0" encoding="utf-8"?>
<p:tagLst xmlns:p="http://schemas.openxmlformats.org/presentationml/2006/main">
  <p:tag name="ISLIDE.ICON" val="#370237;"/>
</p:tagLst>
</file>

<file path=ppt/tags/tag40.xml><?xml version="1.0" encoding="utf-8"?>
<p:tagLst xmlns:p="http://schemas.openxmlformats.org/presentationml/2006/main">
  <p:tag name="ISLIDE.ICON" val="#370237;"/>
</p:tagLst>
</file>

<file path=ppt/tags/tag41.xml><?xml version="1.0" encoding="utf-8"?>
<p:tagLst xmlns:p="http://schemas.openxmlformats.org/presentationml/2006/main">
  <p:tag name="ISLIDE.ICON" val="#370237;"/>
</p:tagLst>
</file>

<file path=ppt/tags/tag42.xml><?xml version="1.0" encoding="utf-8"?>
<p:tagLst xmlns:p="http://schemas.openxmlformats.org/presentationml/2006/main">
  <p:tag name="ISLIDE.ICON" val="#370237;"/>
</p:tagLst>
</file>

<file path=ppt/tags/tag43.xml><?xml version="1.0" encoding="utf-8"?>
<p:tagLst xmlns:p="http://schemas.openxmlformats.org/presentationml/2006/main">
  <p:tag name="ISLIDE.ICON" val="#370237;"/>
</p:tagLst>
</file>

<file path=ppt/tags/tag44.xml><?xml version="1.0" encoding="utf-8"?>
<p:tagLst xmlns:p="http://schemas.openxmlformats.org/presentationml/2006/main">
  <p:tag name="ISLIDE.ICON" val="#370237;"/>
</p:tagLst>
</file>

<file path=ppt/tags/tag45.xml><?xml version="1.0" encoding="utf-8"?>
<p:tagLst xmlns:p="http://schemas.openxmlformats.org/presentationml/2006/main">
  <p:tag name="ISLIDE.ICON" val="#370237;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5129</Words>
  <Application>WPS 演示</Application>
  <PresentationFormat>宽屏</PresentationFormat>
  <Paragraphs>714</Paragraphs>
  <Slides>16</Slides>
  <Notes>1</Notes>
  <HiddenSlides>0</HiddenSlides>
  <MMClips>2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7" baseType="lpstr">
      <vt:lpstr>Arial</vt:lpstr>
      <vt:lpstr>宋体</vt:lpstr>
      <vt:lpstr>Wingdings</vt:lpstr>
      <vt:lpstr>汉仪雪君体简</vt:lpstr>
      <vt:lpstr>金桥简行楷</vt:lpstr>
      <vt:lpstr>微软雅黑 Light</vt:lpstr>
      <vt:lpstr>Microsoft YaHei UI</vt:lpstr>
      <vt:lpstr>微软雅黑</vt:lpstr>
      <vt:lpstr>Aptos</vt:lpstr>
      <vt:lpstr>Segoe UI</vt:lpstr>
      <vt:lpstr>HelveticaExt-Normal</vt:lpstr>
      <vt:lpstr>思源宋体 CN Heavy</vt:lpstr>
      <vt:lpstr>阿里巴巴普惠体 R</vt:lpstr>
      <vt:lpstr>思源宋体 CN Medium</vt:lpstr>
      <vt:lpstr>Cambria Math</vt:lpstr>
      <vt:lpstr>等线</vt:lpstr>
      <vt:lpstr>Arial Unicode MS</vt:lpstr>
      <vt:lpstr>等线 Light</vt:lpstr>
      <vt:lpstr>Calibri</vt:lpstr>
      <vt:lpstr>Segoe Print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张芝源(2024010701)</cp:lastModifiedBy>
  <cp:revision>109</cp:revision>
  <dcterms:created xsi:type="dcterms:W3CDTF">2021-06-01T08:57:00Z</dcterms:created>
  <dcterms:modified xsi:type="dcterms:W3CDTF">2026-06-07T15:39:09Z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81907C837B7C473592253A54797DB0D3</vt:lpwstr>
  </property>
  <property fmtid="{D5CDD505-2E9C-101B-9397-08002B2CF9AE}" pid="3" name="KSOProductBuildVer">
    <vt:lpwstr>2052-12.1.0.26375</vt:lpwstr>
  </property>
</Properties>
</file>