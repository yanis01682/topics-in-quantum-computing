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mp3" ContentType="audio/mp3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98" r:id="rId5"/>
    <p:sldId id="710" r:id="rId6"/>
    <p:sldId id="711" r:id="rId7"/>
    <p:sldId id="712" r:id="rId8"/>
    <p:sldId id="713" r:id="rId9"/>
    <p:sldId id="721" r:id="rId10"/>
    <p:sldId id="722" r:id="rId11"/>
    <p:sldId id="714" r:id="rId12"/>
    <p:sldId id="715" r:id="rId13"/>
    <p:sldId id="716" r:id="rId14"/>
    <p:sldId id="717" r:id="rId15"/>
    <p:sldId id="718" r:id="rId16"/>
    <p:sldId id="719" r:id="rId17"/>
    <p:sldId id="723" r:id="rId18"/>
    <p:sldId id="72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129A"/>
    <a:srgbClr val="BD26E6"/>
    <a:srgbClr val="E29EF4"/>
    <a:srgbClr val="580C6E"/>
    <a:srgbClr val="972064"/>
    <a:srgbClr val="630E7C"/>
    <a:srgbClr val="E7E7E7"/>
    <a:srgbClr val="D8D9DA"/>
    <a:srgbClr val="C5BBC8"/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microsoft.com/office/2007/relationships/hdphoto" Target="../media/image3.wdp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image" Target="../media/image6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4" Type="http://schemas.openxmlformats.org/officeDocument/2006/relationships/slideLayout" Target="../slideLayouts/slideLayout1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tags" Target="../tags/tag30.xml"/><Relationship Id="rId30" Type="http://schemas.openxmlformats.org/officeDocument/2006/relationships/tags" Target="../tags/tag29.xml"/><Relationship Id="rId3" Type="http://schemas.openxmlformats.org/officeDocument/2006/relationships/tags" Target="../tags/tag3.xml"/><Relationship Id="rId29" Type="http://schemas.openxmlformats.org/officeDocument/2006/relationships/tags" Target="../tags/tag28.xml"/><Relationship Id="rId28" Type="http://schemas.openxmlformats.org/officeDocument/2006/relationships/tags" Target="../tags/tag27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2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4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5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6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9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0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1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2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4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5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5.png"/><Relationship Id="rId7" Type="http://schemas.openxmlformats.org/officeDocument/2006/relationships/image" Target="../media/image4.png"/><Relationship Id="rId6" Type="http://schemas.microsoft.com/office/2007/relationships/hdphoto" Target="../media/image3.wdp"/><Relationship Id="rId5" Type="http://schemas.openxmlformats.org/officeDocument/2006/relationships/image" Target="../media/image2.png"/><Relationship Id="rId4" Type="http://schemas.openxmlformats.org/officeDocument/2006/relationships/image" Target="../media/image10.png"/><Relationship Id="rId3" Type="http://schemas.microsoft.com/office/2007/relationships/media" Target="../media/media1.mp3"/><Relationship Id="rId2" Type="http://schemas.openxmlformats.org/officeDocument/2006/relationships/audio" Target="../media/media1.mp3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1895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4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7430" y="2102993"/>
            <a:ext cx="6903720" cy="1143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SABRE: 面向 NISQ 设备的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量子比特映射算法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85850" y="3429000"/>
            <a:ext cx="67208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E8F5"/>
                </a:solidFill>
                <a:latin typeface="微软雅黑" panose="020B0503020204020204" charset="-122"/>
              </a:rPr>
              <a:t>Tackling the Qubit Mapping Problem for NISQ-Era Quantum Devices</a:t>
            </a:r>
            <a:endParaRPr sz="1500" b="1">
              <a:solidFill>
                <a:srgbClr val="ECE8F5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73150" y="3904615"/>
            <a:ext cx="62636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Gushu Li, Yufei Ding, Yuan Xie | arXiv:1809.02573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量子计算研讨课 · 期末论文汇报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242810" y="45904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1"/>
                </a:solidFill>
              </a:rPr>
              <a:t>汇报人：计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张芝源，计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陈家睦</a:t>
            </a:r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2" grpId="0" animBg="1"/>
      <p:bldP spid="38" grpId="0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/>
          <p:cNvSpPr/>
          <p:nvPr/>
        </p:nvSpPr>
        <p:spPr>
          <a:xfrm rot="5400000">
            <a:off x="-1765935" y="1766570"/>
            <a:ext cx="6866255" cy="3333750"/>
          </a:xfrm>
          <a:prstGeom prst="rect">
            <a:avLst/>
          </a:prstGeom>
          <a:gradFill flip="none" rotWithShape="1">
            <a:gsLst>
              <a:gs pos="100000">
                <a:srgbClr val="8F1E65"/>
              </a:gs>
              <a:gs pos="90000">
                <a:srgbClr val="72156A"/>
              </a:gs>
              <a:gs pos="74000">
                <a:srgbClr val="580C6E"/>
              </a:gs>
              <a:gs pos="100000">
                <a:srgbClr val="AC2761"/>
              </a:gs>
            </a:gsLst>
            <a:lin ang="21594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Ext-Normal"/>
              <a:cs typeface="+mn-cs"/>
            </a:endParaRPr>
          </a:p>
        </p:txBody>
      </p:sp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509024" y="968641"/>
            <a:ext cx="1778001" cy="941665"/>
            <a:chOff x="509024" y="968641"/>
            <a:chExt cx="1778001" cy="941665"/>
          </a:xfrm>
        </p:grpSpPr>
        <p:sp>
          <p:nvSpPr>
            <p:cNvPr id="19" name="1"/>
            <p:cNvSpPr txBox="1"/>
            <p:nvPr/>
          </p:nvSpPr>
          <p:spPr>
            <a:xfrm>
              <a:off x="509024" y="968641"/>
              <a:ext cx="1778001" cy="670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32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2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 Heavy" panose="02010600030101010101" pitchFamily="18" charset="-122"/>
                  <a:ea typeface="思源宋体 CN Heavy" panose="02010600030101010101" pitchFamily="18" charset="-122"/>
                </a:rPr>
                <a:t>目录</a:t>
              </a:r>
              <a:endParaRPr kumimoji="0" lang="zh-CN" altLang="en-US" sz="3200" b="0" i="0" u="none" strike="noStrike" kern="0" cap="none" spc="1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 Heavy" panose="02010600030101010101" pitchFamily="18" charset="-122"/>
                <a:ea typeface="思源宋体 CN Heavy" panose="02010600030101010101" pitchFamily="18" charset="-122"/>
              </a:endParaRPr>
            </a:p>
          </p:txBody>
        </p:sp>
        <p:sp>
          <p:nvSpPr>
            <p:cNvPr id="20" name="11"/>
            <p:cNvSpPr txBox="1"/>
            <p:nvPr/>
          </p:nvSpPr>
          <p:spPr>
            <a:xfrm>
              <a:off x="569509" y="1506524"/>
              <a:ext cx="1693632" cy="3529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>
                      <a:lumMod val="85000"/>
                    </a:srgbClr>
                  </a:solidFill>
                  <a:effectLst/>
                  <a:uLnTx/>
                  <a:uFillTx/>
                  <a:latin typeface="阿里巴巴普惠体 R"/>
                </a:rPr>
                <a:t>CONTENT</a:t>
              </a:r>
              <a:endParaRPr kumimoji="0" lang="en-US" altLang="zh-CN" sz="1400" b="0" i="0" u="none" strike="noStrike" kern="0" cap="none" spc="13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676665" y="1859506"/>
              <a:ext cx="711200" cy="508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"/>
            </p:custDataLst>
          </p:nvPr>
        </p:nvGrpSpPr>
        <p:grpSpPr>
          <a:xfrm>
            <a:off x="4005386" y="2470426"/>
            <a:ext cx="8142641" cy="787523"/>
            <a:chOff x="3496116" y="992179"/>
            <a:chExt cx="8142641" cy="787523"/>
          </a:xfrm>
        </p:grpSpPr>
        <p:sp>
          <p:nvSpPr>
            <p:cNvPr id="37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39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0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1" name="等腰三角形 40"/>
            <p:cNvSpPr/>
            <p:nvPr>
              <p:custDataLst>
                <p:tags r:id="rId2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2" name="矩形 41"/>
            <p:cNvSpPr/>
            <p:nvPr>
              <p:custDataLst>
                <p:tags r:id="rId3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4"/>
            </p:custDataLst>
          </p:nvPr>
        </p:nvGrpSpPr>
        <p:grpSpPr>
          <a:xfrm>
            <a:off x="4005386" y="3948673"/>
            <a:ext cx="8142641" cy="787523"/>
            <a:chOff x="3496116" y="992179"/>
            <a:chExt cx="8142641" cy="787523"/>
          </a:xfrm>
        </p:grpSpPr>
        <p:sp>
          <p:nvSpPr>
            <p:cNvPr id="44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5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6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7" name="等腰三角形 46"/>
            <p:cNvSpPr/>
            <p:nvPr>
              <p:custDataLst>
                <p:tags r:id="rId5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8" name="矩形 47"/>
            <p:cNvSpPr/>
            <p:nvPr>
              <p:custDataLst>
                <p:tags r:id="rId6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74"/>
          <a:stretch>
            <a:fillRect/>
          </a:stretch>
        </p:blipFill>
        <p:spPr>
          <a:xfrm>
            <a:off x="-758169" y="3471206"/>
            <a:ext cx="4099825" cy="3429000"/>
          </a:xfrm>
          <a:prstGeom prst="rect">
            <a:avLst/>
          </a:prstGeom>
        </p:spPr>
      </p:pic>
      <p:sp>
        <p:nvSpPr>
          <p:cNvPr id="2" name="矩形 1"/>
          <p:cNvSpPr/>
          <p:nvPr>
            <p:custDataLst>
              <p:tags r:id="rId8"/>
            </p:custDataLst>
          </p:nvPr>
        </p:nvSpPr>
        <p:spPr>
          <a:xfrm>
            <a:off x="3480435" y="1375410"/>
            <a:ext cx="8710930" cy="4040505"/>
          </a:xfrm>
          <a:prstGeom prst="rect">
            <a:avLst/>
          </a:prstGeom>
          <a:solidFill>
            <a:srgbClr val="F2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Rounded Rectangle 57"/>
          <p:cNvSpPr/>
          <p:nvPr>
            <p:custDataLst>
              <p:tags r:id="rId9"/>
            </p:custDataLst>
          </p:nvPr>
        </p:nvSpPr>
        <p:spPr>
          <a:xfrm>
            <a:off x="3663950" y="1627632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>
            <p:custDataLst>
              <p:tags r:id="rId10"/>
            </p:custDataLst>
          </p:nvPr>
        </p:nvSpPr>
        <p:spPr>
          <a:xfrm>
            <a:off x="3874262" y="1755648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>
            <p:custDataLst>
              <p:tags r:id="rId11"/>
            </p:custDataLst>
          </p:nvPr>
        </p:nvSpPr>
        <p:spPr>
          <a:xfrm>
            <a:off x="3874262" y="1851660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>
            <p:custDataLst>
              <p:tags r:id="rId12"/>
            </p:custDataLst>
          </p:nvPr>
        </p:nvSpPr>
        <p:spPr>
          <a:xfrm>
            <a:off x="4368038" y="1737360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问题背景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>
            <p:custDataLst>
              <p:tags r:id="rId13"/>
            </p:custDataLst>
          </p:nvPr>
        </p:nvSpPr>
        <p:spPr>
          <a:xfrm>
            <a:off x="5648198" y="1764792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NISQ 硬件连接受限，理论线路不能直接落到芯片上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>
            <p:custDataLst>
              <p:tags r:id="rId14"/>
            </p:custDataLst>
          </p:nvPr>
        </p:nvSpPr>
        <p:spPr>
          <a:xfrm>
            <a:off x="3663950" y="2414016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>
            <p:custDataLst>
              <p:tags r:id="rId15"/>
            </p:custDataLst>
          </p:nvPr>
        </p:nvSpPr>
        <p:spPr>
          <a:xfrm>
            <a:off x="3874262" y="2542032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>
            <p:custDataLst>
              <p:tags r:id="rId16"/>
            </p:custDataLst>
          </p:nvPr>
        </p:nvSpPr>
        <p:spPr>
          <a:xfrm>
            <a:off x="3874262" y="2638044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>
            <p:custDataLst>
              <p:tags r:id="rId17"/>
            </p:custDataLst>
          </p:nvPr>
        </p:nvSpPr>
        <p:spPr>
          <a:xfrm>
            <a:off x="4368038" y="2523744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Mapping 定义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>
            <p:custDataLst>
              <p:tags r:id="rId18"/>
            </p:custDataLst>
          </p:nvPr>
        </p:nvSpPr>
        <p:spPr>
          <a:xfrm>
            <a:off x="5648198" y="2551176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输入线路 + 耦合图，输出初始映射 + SWAP 序列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8" name="Rounded Rectangle 67"/>
          <p:cNvSpPr/>
          <p:nvPr>
            <p:custDataLst>
              <p:tags r:id="rId19"/>
            </p:custDataLst>
          </p:nvPr>
        </p:nvSpPr>
        <p:spPr>
          <a:xfrm>
            <a:off x="3663950" y="3200400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>
            <p:custDataLst>
              <p:tags r:id="rId20"/>
            </p:custDataLst>
          </p:nvPr>
        </p:nvSpPr>
        <p:spPr>
          <a:xfrm>
            <a:off x="3874262" y="3328416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>
            <p:custDataLst>
              <p:tags r:id="rId21"/>
            </p:custDataLst>
          </p:nvPr>
        </p:nvSpPr>
        <p:spPr>
          <a:xfrm>
            <a:off x="3874262" y="3424428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>
            <p:custDataLst>
              <p:tags r:id="rId22"/>
            </p:custDataLst>
          </p:nvPr>
        </p:nvSpPr>
        <p:spPr>
          <a:xfrm>
            <a:off x="4368038" y="3310128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困难来源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2" name="TextBox 71"/>
          <p:cNvSpPr txBox="1"/>
          <p:nvPr>
            <p:custDataLst>
              <p:tags r:id="rId23"/>
            </p:custDataLst>
          </p:nvPr>
        </p:nvSpPr>
        <p:spPr>
          <a:xfrm>
            <a:off x="5648198" y="3337560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搜索空间巨大、初始映射敏感、门数与深度冲突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3" name="Rounded Rectangle 72"/>
          <p:cNvSpPr/>
          <p:nvPr>
            <p:custDataLst>
              <p:tags r:id="rId24"/>
            </p:custDataLst>
          </p:nvPr>
        </p:nvSpPr>
        <p:spPr>
          <a:xfrm>
            <a:off x="3663950" y="3986784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>
            <p:custDataLst>
              <p:tags r:id="rId25"/>
            </p:custDataLst>
          </p:nvPr>
        </p:nvSpPr>
        <p:spPr>
          <a:xfrm>
            <a:off x="3874262" y="4114800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>
            <p:custDataLst>
              <p:tags r:id="rId26"/>
            </p:custDataLst>
          </p:nvPr>
        </p:nvSpPr>
        <p:spPr>
          <a:xfrm>
            <a:off x="3874262" y="4210812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>
            <p:custDataLst>
              <p:tags r:id="rId27"/>
            </p:custDataLst>
          </p:nvPr>
        </p:nvSpPr>
        <p:spPr>
          <a:xfrm>
            <a:off x="4368038" y="4096512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SABRE 方法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>
            <p:custDataLst>
              <p:tags r:id="rId28"/>
            </p:custDataLst>
          </p:nvPr>
        </p:nvSpPr>
        <p:spPr>
          <a:xfrm>
            <a:off x="5648198" y="4123944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Front layer、启发式代价、Reverse traversal、Decay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8" name="Rounded Rectangle 77"/>
          <p:cNvSpPr/>
          <p:nvPr>
            <p:custDataLst>
              <p:tags r:id="rId29"/>
            </p:custDataLst>
          </p:nvPr>
        </p:nvSpPr>
        <p:spPr>
          <a:xfrm>
            <a:off x="3663950" y="4773168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>
            <p:custDataLst>
              <p:tags r:id="rId30"/>
            </p:custDataLst>
          </p:nvPr>
        </p:nvSpPr>
        <p:spPr>
          <a:xfrm>
            <a:off x="3874262" y="4901183"/>
            <a:ext cx="320040" cy="320040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>
            <p:custDataLst>
              <p:tags r:id="rId31"/>
            </p:custDataLst>
          </p:nvPr>
        </p:nvSpPr>
        <p:spPr>
          <a:xfrm>
            <a:off x="3874262" y="4997196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1" name="TextBox 80"/>
          <p:cNvSpPr txBox="1"/>
          <p:nvPr>
            <p:custDataLst>
              <p:tags r:id="rId32"/>
            </p:custDataLst>
          </p:nvPr>
        </p:nvSpPr>
        <p:spPr>
          <a:xfrm>
            <a:off x="4368038" y="4882896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实验与评价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>
            <p:custDataLst>
              <p:tags r:id="rId33"/>
            </p:custDataLst>
          </p:nvPr>
        </p:nvSpPr>
        <p:spPr>
          <a:xfrm>
            <a:off x="5648198" y="4910328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IBM Q20 Tokyo benchmark 结果、局限与</a:t>
            </a:r>
            <a:r>
              <a:rPr lang="zh-CN" sz="1120" b="0">
                <a:solidFill>
                  <a:srgbClr val="24262D"/>
                </a:solidFill>
                <a:latin typeface="微软雅黑" panose="020B0503020204020204" charset="-122"/>
              </a:rPr>
              <a:t>总结</a:t>
            </a:r>
            <a:endParaRPr lang="zh-CN"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真实量子芯片不是全连接：mapping 问题的根源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理论线路默认任意两个 logical qubit 可做双比特门；真实 NISQ 芯片只允许耦合图上相邻的 physical qubit 直接交互。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70230" y="1938655"/>
            <a:ext cx="3876040" cy="3169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2415" y="2212848"/>
            <a:ext cx="21945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01256"/>
                </a:solidFill>
                <a:latin typeface="微软雅黑" panose="020B0503020204020204" charset="-122"/>
              </a:rPr>
              <a:t>IBM Q20 Tokyo 耦合图示意</a:t>
            </a:r>
            <a:endParaRPr sz="12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288161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90933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493705" y="2815209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96478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288161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890933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493705" y="3352053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96478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288161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890933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493705" y="3888897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96478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88161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890933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493705" y="4425741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96478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288161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890933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493705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96478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699250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88161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90933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3705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96478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99250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288161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890933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493705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96478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699250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288161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890933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96478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288161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096478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288161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096478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1170432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70432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1773204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773204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2375976" y="2697480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375976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2978749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978749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Q3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3581521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81521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1170432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170432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1773204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773204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2375976" y="3234324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75976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Q7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2978749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978749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3581521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81521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1170432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70432" y="3841805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1773204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773204" y="3841805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2375976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75976" y="3841805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2978749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978749" y="3841805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Q13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3581521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81521" y="3841805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1170432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70432" y="4378650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1773204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773204" y="4378650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2375976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375976" y="4378650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Q17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2978749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978749" y="4378650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3581521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581521" y="4378650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3" name="Rounded Rectangle 172"/>
          <p:cNvSpPr/>
          <p:nvPr/>
        </p:nvSpPr>
        <p:spPr>
          <a:xfrm>
            <a:off x="5833872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943600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连接有限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5" name="Rounded Rectangle 174"/>
          <p:cNvSpPr/>
          <p:nvPr/>
        </p:nvSpPr>
        <p:spPr>
          <a:xfrm>
            <a:off x="7543800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653527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门有噪声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7" name="Rounded Rectangle 176"/>
          <p:cNvSpPr/>
          <p:nvPr/>
        </p:nvSpPr>
        <p:spPr>
          <a:xfrm>
            <a:off x="9253728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363455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时间有限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5925312" y="2779776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不是任意两点都有边；CNOT 只能沿耦合边执行。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7635240" y="2779776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双比特门错误率通常更高，额外 SWAP 会累积误差。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9354312" y="2834640"/>
            <a:ext cx="1115568" cy="3017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线路越深，越容易受退相干影响。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2" name="Rounded Rectangle 181"/>
          <p:cNvSpPr/>
          <p:nvPr/>
        </p:nvSpPr>
        <p:spPr>
          <a:xfrm>
            <a:off x="5833872" y="3730752"/>
            <a:ext cx="4828032" cy="9601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108192" y="4014215"/>
            <a:ext cx="4297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Mapping 不是“格式转换”，而是直接影响保真度的编译优化。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真实量子芯片是一张稀疏耦合图，不是所有 qubit 都能直接做双比特门。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mapping =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初始放置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中途换位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输入量子线路与硬件耦合图，输出满足连接约束的可执行线路；核心代价来自额外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889000" y="2235200"/>
            <a:ext cx="3276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: 圆角 68"/>
          <p:cNvSpPr/>
          <p:nvPr/>
        </p:nvSpPr>
        <p:spPr>
          <a:xfrm>
            <a:off x="4572000" y="2235200"/>
            <a:ext cx="3022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/>
          <p:cNvSpPr/>
          <p:nvPr/>
        </p:nvSpPr>
        <p:spPr>
          <a:xfrm>
            <a:off x="8318500" y="2235200"/>
            <a:ext cx="38100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1219200" y="2565400"/>
            <a:ext cx="2667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：量子线路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902200" y="2565400"/>
            <a:ext cx="23622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B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：耦合图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8712200" y="2565400"/>
            <a:ext cx="30226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输出：硬件可执行线路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282700" y="3441700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q0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1714500" y="3505200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1282700" y="4013200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q1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7" name="直接连接符 76"/>
          <p:cNvCxnSpPr/>
          <p:nvPr/>
        </p:nvCxnSpPr>
        <p:spPr>
          <a:xfrm>
            <a:off x="1714500" y="4076700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1282700" y="4584700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q2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9" name="直接连接符 78"/>
          <p:cNvCxnSpPr/>
          <p:nvPr/>
        </p:nvCxnSpPr>
        <p:spPr>
          <a:xfrm>
            <a:off x="1714500" y="4648200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/>
          <p:nvPr/>
        </p:nvCxnSpPr>
        <p:spPr>
          <a:xfrm>
            <a:off x="2781300" y="3505200"/>
            <a:ext cx="0" cy="1143000"/>
          </a:xfrm>
          <a:prstGeom prst="line">
            <a:avLst/>
          </a:prstGeom>
          <a:ln w="2159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椭圆 81"/>
          <p:cNvSpPr/>
          <p:nvPr/>
        </p:nvSpPr>
        <p:spPr>
          <a:xfrm>
            <a:off x="2692400" y="3416300"/>
            <a:ext cx="177800" cy="1778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/>
          <p:cNvSpPr/>
          <p:nvPr/>
        </p:nvSpPr>
        <p:spPr>
          <a:xfrm>
            <a:off x="2654300" y="4521200"/>
            <a:ext cx="254000" cy="25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连接符 83"/>
          <p:cNvCxnSpPr/>
          <p:nvPr/>
        </p:nvCxnSpPr>
        <p:spPr>
          <a:xfrm>
            <a:off x="2679700" y="4648200"/>
            <a:ext cx="203200" cy="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2781300" y="4546600"/>
            <a:ext cx="0" cy="20320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1892300" y="4940300"/>
            <a:ext cx="20320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逻辑线路中可出现远距离双比特门</a:t>
            </a:r>
            <a:endParaRPr lang="zh-CN" altLang="en-US" sz="85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89" name="直接连接符 88"/>
          <p:cNvCxnSpPr/>
          <p:nvPr/>
        </p:nvCxnSpPr>
        <p:spPr>
          <a:xfrm>
            <a:off x="5435600" y="3695700"/>
            <a:ext cx="127000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5435600" y="3695700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/>
          <p:cNvCxnSpPr/>
          <p:nvPr/>
        </p:nvCxnSpPr>
        <p:spPr>
          <a:xfrm flipV="1">
            <a:off x="6070600" y="3695700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/>
          <p:cNvSpPr/>
          <p:nvPr/>
        </p:nvSpPr>
        <p:spPr>
          <a:xfrm>
            <a:off x="5232400" y="3492500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5232400" y="3632200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P0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4" name="椭圆 93"/>
          <p:cNvSpPr/>
          <p:nvPr/>
        </p:nvSpPr>
        <p:spPr>
          <a:xfrm>
            <a:off x="6502400" y="3492500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6502400" y="3632200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P1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6" name="椭圆 95"/>
          <p:cNvSpPr/>
          <p:nvPr/>
        </p:nvSpPr>
        <p:spPr>
          <a:xfrm>
            <a:off x="5867400" y="4508500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5867400" y="4648200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P2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5080000" y="5092700"/>
            <a:ext cx="2006600" cy="2585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只有耦合边相连的物理比特可直接做双比特门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8839200" y="3365500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P0(q0)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0" name="直接连接符 99"/>
          <p:cNvCxnSpPr/>
          <p:nvPr/>
        </p:nvCxnSpPr>
        <p:spPr>
          <a:xfrm>
            <a:off x="9550400" y="3429000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8839200" y="3848100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P1(q1)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2" name="直接连接符 101"/>
          <p:cNvCxnSpPr/>
          <p:nvPr/>
        </p:nvCxnSpPr>
        <p:spPr>
          <a:xfrm>
            <a:off x="9550400" y="3911600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8839200" y="4330700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P2(q2)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4" name="直接连接符 103"/>
          <p:cNvCxnSpPr/>
          <p:nvPr/>
        </p:nvCxnSpPr>
        <p:spPr>
          <a:xfrm>
            <a:off x="9550400" y="4394200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/>
          <p:cNvCxnSpPr/>
          <p:nvPr/>
        </p:nvCxnSpPr>
        <p:spPr>
          <a:xfrm>
            <a:off x="10020300" y="3911600"/>
            <a:ext cx="0" cy="482600"/>
          </a:xfrm>
          <a:prstGeom prst="line">
            <a:avLst/>
          </a:prstGeom>
          <a:ln w="1778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9944100" y="38354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 flipV="1">
            <a:off x="9944100" y="38354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/>
          <p:cNvCxnSpPr/>
          <p:nvPr/>
        </p:nvCxnSpPr>
        <p:spPr>
          <a:xfrm>
            <a:off x="9944100" y="43180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/>
          <p:cNvCxnSpPr/>
          <p:nvPr/>
        </p:nvCxnSpPr>
        <p:spPr>
          <a:xfrm flipV="1">
            <a:off x="9944100" y="43180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/>
          <p:cNvCxnSpPr/>
          <p:nvPr/>
        </p:nvCxnSpPr>
        <p:spPr>
          <a:xfrm>
            <a:off x="10820400" y="3429000"/>
            <a:ext cx="0" cy="482600"/>
          </a:xfrm>
          <a:prstGeom prst="line">
            <a:avLst/>
          </a:prstGeom>
          <a:ln w="2032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/>
          <p:cNvSpPr/>
          <p:nvPr/>
        </p:nvSpPr>
        <p:spPr>
          <a:xfrm>
            <a:off x="10744200" y="3352800"/>
            <a:ext cx="152400" cy="1524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/>
          <p:cNvSpPr/>
          <p:nvPr/>
        </p:nvSpPr>
        <p:spPr>
          <a:xfrm>
            <a:off x="10706100" y="3797300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3" name="直接连接符 112"/>
          <p:cNvCxnSpPr/>
          <p:nvPr/>
        </p:nvCxnSpPr>
        <p:spPr>
          <a:xfrm>
            <a:off x="10731500" y="3911600"/>
            <a:ext cx="177800" cy="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/>
          <p:nvPr/>
        </p:nvCxnSpPr>
        <p:spPr>
          <a:xfrm>
            <a:off x="10820400" y="3822700"/>
            <a:ext cx="0" cy="17780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/>
          <p:cNvSpPr txBox="1"/>
          <p:nvPr/>
        </p:nvSpPr>
        <p:spPr>
          <a:xfrm>
            <a:off x="9448800" y="4775200"/>
            <a:ext cx="1968500" cy="2554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后，原本不相邻的逻辑门可在耦合边上执行</a:t>
            </a:r>
            <a:endParaRPr lang="zh-CN" altLang="en-US" sz="83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6" name="直接连接符 115"/>
          <p:cNvCxnSpPr/>
          <p:nvPr/>
        </p:nvCxnSpPr>
        <p:spPr>
          <a:xfrm>
            <a:off x="4229100" y="4140200"/>
            <a:ext cx="279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/>
          <p:cNvSpPr txBox="1"/>
          <p:nvPr/>
        </p:nvSpPr>
        <p:spPr>
          <a:xfrm>
            <a:off x="4076700" y="4318000"/>
            <a:ext cx="609600" cy="12003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8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78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8" name="直接连接符 117"/>
          <p:cNvCxnSpPr/>
          <p:nvPr/>
        </p:nvCxnSpPr>
        <p:spPr>
          <a:xfrm>
            <a:off x="7670800" y="4140200"/>
            <a:ext cx="5588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/>
          <p:cNvSpPr txBox="1"/>
          <p:nvPr/>
        </p:nvSpPr>
        <p:spPr>
          <a:xfrm>
            <a:off x="7708900" y="4318000"/>
            <a:ext cx="533400" cy="2277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4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insert
SWAP</a:t>
            </a:r>
            <a:endParaRPr lang="zh-CN" altLang="en-US" sz="74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0" name="矩形: 圆角 119"/>
          <p:cNvSpPr/>
          <p:nvPr/>
        </p:nvSpPr>
        <p:spPr>
          <a:xfrm>
            <a:off x="2628900" y="6096000"/>
            <a:ext cx="7772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2921000" y="6235700"/>
            <a:ext cx="7188200" cy="1615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的输出包括初始映射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π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序列，本质是量子编译优化问题。</a:t>
            </a:r>
            <a:endParaRPr lang="zh-CN" altLang="en-US" sz="10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难点不是“会不会插 SWAP”，而是“插在哪里、插哪个”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一个局部看起来最短的交换，可能把后面大量门推到更差的位置；全局搜索又会遇到指数级映射空间。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68680" y="2148840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1560" y="2331720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4C1984"/>
                </a:solidFill>
                <a:latin typeface="微软雅黑" panose="020B0503020204020204" charset="-122"/>
              </a:rPr>
              <a:t>n!</a:t>
            </a:r>
            <a:endParaRPr sz="3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944368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搜索空间爆炸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97280" y="3401568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n 个 logical qubit 到 physical qubit 的排列组合随 n 急剧增长；论文指出该问题 NP-Complete。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4023360" y="2148840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06240" y="2331720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8491"/>
                </a:solidFill>
                <a:latin typeface="微软雅黑" panose="020B0503020204020204" charset="-122"/>
              </a:rPr>
              <a:t>π0</a:t>
            </a:r>
            <a:endParaRPr sz="3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279392" y="2944368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初始映射敏感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251960" y="3401568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一开始放错位置，后面可能连续插 SWAP 补救；好的初始布局能显著减少开销。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7178040" y="2148840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60919" y="2331720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A62A47"/>
                </a:solidFill>
                <a:latin typeface="微软雅黑" panose="020B0503020204020204" charset="-122"/>
              </a:rPr>
              <a:t>G vs D</a:t>
            </a:r>
            <a:endParaRPr sz="30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7434071" y="2944368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优化目标冲突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406640" y="3401568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门数少不一定深度低；若想并行执行 SWAP，可能需要接受略多操作。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143000" y="4754880"/>
            <a:ext cx="9052560" cy="54864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17320" y="4919472"/>
            <a:ext cx="850392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008491"/>
                </a:solidFill>
                <a:latin typeface="微软雅黑" panose="020B0503020204020204" charset="-122"/>
              </a:rPr>
              <a:t>论文策略：不穷举所有 mapping，而是在每一步只评估“当前相关”的候选 SWAP。</a:t>
            </a:r>
            <a:endParaRPr sz="12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局部最短 SWAP 不一定带来全局低开销，因此需要启发式 look-ahead。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SABRE 的核心转向：从 mapping 搜索到 SWAP 搜索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SABRE = SWAP-based BidiREctional heuristic search。它每轮选择一个低代价 SWAP，逐步把线路变成硬件可执行。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3797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49809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9809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72085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临时正向遍历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73913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从随机/简单 π0 出发，生成一条可行路径并得到最终映射 πf。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98" name="Connector 97"/>
          <p:cNvCxnSpPr/>
          <p:nvPr/>
        </p:nvCxnSpPr>
        <p:spPr>
          <a:xfrm>
            <a:off x="4171441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78409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744209" y="2514600"/>
            <a:ext cx="475488" cy="47548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44209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96697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反向遍历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985257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倒序分析双比特门，用 πf 作为起点，反推出更适合开头的 πr。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104" name="Connector 103"/>
          <p:cNvCxnSpPr/>
          <p:nvPr/>
        </p:nvCxnSpPr>
        <p:spPr>
          <a:xfrm>
            <a:off x="7417562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803021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9033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9033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21309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最终正向遍历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23137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用 πr 作为初始映射，输出最终可执行线路和 SWAP 序列。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784858" y="4892040"/>
            <a:ext cx="8641080" cy="47548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95170" y="5029200"/>
            <a:ext cx="8183879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70" b="1">
                <a:solidFill>
                  <a:srgbClr val="24262D"/>
                </a:solidFill>
                <a:latin typeface="微软雅黑" panose="020B0503020204020204" charset="-122"/>
              </a:rPr>
              <a:t>贯穿三步的局部决策：Front layer 找当前门，Heuristic 选 SWAP，Decay 控制深度。</a:t>
            </a:r>
            <a:endParaRPr sz="117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SABRE 把全局 mapping 搜索拆成正向、反向、最终正向三次可扩展遍历。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复杂度分析：指数级 mapping 搜索 vs 可扩展 SWAP 搜索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传统方法在完整 mapping 状态空间中搜索；SABRE 每步只评估 front layer 相关的候选 SWAP。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965200" y="2235200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/>
          <p:cNvSpPr/>
          <p:nvPr/>
        </p:nvSpPr>
        <p:spPr>
          <a:xfrm>
            <a:off x="6604000" y="2235200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333500" y="2565400"/>
            <a:ext cx="406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传统 </a:t>
            </a:r>
            <a:r>
              <a:rPr lang="en-US" altLang="zh-CN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搜索：状态空间爆炸</a:t>
            </a:r>
            <a:endParaRPr lang="zh-CN" altLang="en-US" sz="14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85000" y="2565400"/>
            <a:ext cx="406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1000" b="1">
                <a:solidFill>
                  <a:srgbClr val="008080"/>
                </a:solidFill>
                <a:latin typeface="微软雅黑" panose="020B0503020204020204" charset="-122"/>
              </a:rPr>
              <a:t>SABRE SWAP 搜索：局部候选选择</a:t>
            </a:r>
            <a:endParaRPr sz="1000" b="1">
              <a:solidFill>
                <a:srgbClr val="008080"/>
              </a:solidFill>
              <a:latin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197100" y="2946400"/>
            <a:ext cx="23495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8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O(e^N)</a:t>
            </a:r>
            <a:endParaRPr lang="zh-CN" altLang="en-US" sz="28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848600" y="2946400"/>
            <a:ext cx="2803525" cy="36893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O(N^2.5) / gate</a:t>
            </a:r>
            <a:endParaRPr sz="2400" b="1">
              <a:solidFill>
                <a:srgbClr val="008983"/>
              </a:solidFill>
              <a:latin typeface="微软雅黑" panose="020B0503020204020204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1625600" y="506412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1625600" y="473075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1625600" y="439737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1625600" y="5397500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1625600" y="4064000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4622800" y="54991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574800" y="3886200"/>
            <a:ext cx="584200" cy="2246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73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search
space</a:t>
            </a:r>
            <a:endParaRPr lang="zh-CN" altLang="en-US" sz="73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1" name="直接连接符 40"/>
          <p:cNvCxnSpPr/>
          <p:nvPr/>
        </p:nvCxnSpPr>
        <p:spPr>
          <a:xfrm>
            <a:off x="24511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23495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766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31750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5" name="直接连接符 44"/>
          <p:cNvCxnSpPr/>
          <p:nvPr/>
        </p:nvCxnSpPr>
        <p:spPr>
          <a:xfrm>
            <a:off x="41021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40005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7264400" y="506412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连接符 129"/>
          <p:cNvCxnSpPr/>
          <p:nvPr/>
        </p:nvCxnSpPr>
        <p:spPr>
          <a:xfrm>
            <a:off x="7264400" y="473075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/>
          <p:cNvCxnSpPr/>
          <p:nvPr/>
        </p:nvCxnSpPr>
        <p:spPr>
          <a:xfrm>
            <a:off x="7264400" y="439737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/>
          <p:nvPr/>
        </p:nvCxnSpPr>
        <p:spPr>
          <a:xfrm>
            <a:off x="7264400" y="5397500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/>
          <p:nvPr/>
        </p:nvCxnSpPr>
        <p:spPr>
          <a:xfrm>
            <a:off x="7264400" y="4064000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/>
          <p:cNvSpPr txBox="1"/>
          <p:nvPr/>
        </p:nvSpPr>
        <p:spPr>
          <a:xfrm>
            <a:off x="10261600" y="54991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7213600" y="3886200"/>
            <a:ext cx="584200" cy="2246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700">
                <a:solidFill>
                  <a:srgbClr val="696969"/>
                </a:solidFill>
                <a:latin typeface="微软雅黑" panose="020B0503020204020204" charset="-122"/>
              </a:rPr>
              <a:t>cost | trend</a:t>
            </a:r>
            <a:endParaRPr sz="700">
              <a:solidFill>
                <a:srgbClr val="696969"/>
              </a:solidFill>
              <a:latin typeface="微软雅黑" panose="020B0503020204020204" charset="-122"/>
            </a:endParaRPr>
          </a:p>
        </p:txBody>
      </p:sp>
      <p:cxnSp>
        <p:nvCxnSpPr>
          <p:cNvPr id="136" name="直接连接符 135"/>
          <p:cNvCxnSpPr/>
          <p:nvPr/>
        </p:nvCxnSpPr>
        <p:spPr>
          <a:xfrm>
            <a:off x="80899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79883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38" name="直接连接符 137"/>
          <p:cNvCxnSpPr/>
          <p:nvPr/>
        </p:nvCxnSpPr>
        <p:spPr>
          <a:xfrm>
            <a:off x="89154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文本框 138"/>
          <p:cNvSpPr txBox="1"/>
          <p:nvPr/>
        </p:nvSpPr>
        <p:spPr>
          <a:xfrm>
            <a:off x="88138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0" name="直接连接符 139"/>
          <p:cNvCxnSpPr/>
          <p:nvPr/>
        </p:nvCxnSpPr>
        <p:spPr>
          <a:xfrm>
            <a:off x="97409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/>
          <p:cNvSpPr txBox="1"/>
          <p:nvPr/>
        </p:nvSpPr>
        <p:spPr>
          <a:xfrm>
            <a:off x="96393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2" name="直接连接符 141"/>
          <p:cNvCxnSpPr/>
          <p:nvPr/>
        </p:nvCxnSpPr>
        <p:spPr>
          <a:xfrm flipV="1">
            <a:off x="1625600" y="5395830"/>
            <a:ext cx="137583" cy="167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142"/>
          <p:cNvCxnSpPr/>
          <p:nvPr/>
        </p:nvCxnSpPr>
        <p:spPr>
          <a:xfrm flipV="1">
            <a:off x="1763183" y="5393755"/>
            <a:ext cx="137584" cy="207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连接符 143"/>
          <p:cNvCxnSpPr/>
          <p:nvPr/>
        </p:nvCxnSpPr>
        <p:spPr>
          <a:xfrm flipV="1">
            <a:off x="1900767" y="5391179"/>
            <a:ext cx="137583" cy="257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连接符 144"/>
          <p:cNvCxnSpPr/>
          <p:nvPr/>
        </p:nvCxnSpPr>
        <p:spPr>
          <a:xfrm flipV="1">
            <a:off x="2038350" y="5387980"/>
            <a:ext cx="137583" cy="31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/>
          <p:cNvCxnSpPr/>
          <p:nvPr/>
        </p:nvCxnSpPr>
        <p:spPr>
          <a:xfrm flipV="1">
            <a:off x="2175933" y="5384006"/>
            <a:ext cx="137584" cy="397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连接符 146"/>
          <p:cNvCxnSpPr/>
          <p:nvPr/>
        </p:nvCxnSpPr>
        <p:spPr>
          <a:xfrm flipV="1">
            <a:off x="2313517" y="5379071"/>
            <a:ext cx="137583" cy="493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连接符 147"/>
          <p:cNvCxnSpPr/>
          <p:nvPr/>
        </p:nvCxnSpPr>
        <p:spPr>
          <a:xfrm flipV="1">
            <a:off x="2451100" y="5372943"/>
            <a:ext cx="137583" cy="612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/>
          <p:cNvCxnSpPr/>
          <p:nvPr/>
        </p:nvCxnSpPr>
        <p:spPr>
          <a:xfrm flipV="1">
            <a:off x="2588683" y="5365331"/>
            <a:ext cx="137584" cy="761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连接符 149"/>
          <p:cNvCxnSpPr/>
          <p:nvPr/>
        </p:nvCxnSpPr>
        <p:spPr>
          <a:xfrm flipV="1">
            <a:off x="2726267" y="5355878"/>
            <a:ext cx="137583" cy="945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连接符 150"/>
          <p:cNvCxnSpPr/>
          <p:nvPr/>
        </p:nvCxnSpPr>
        <p:spPr>
          <a:xfrm flipV="1">
            <a:off x="2863850" y="5344138"/>
            <a:ext cx="137583" cy="1174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连接符 151"/>
          <p:cNvCxnSpPr/>
          <p:nvPr/>
        </p:nvCxnSpPr>
        <p:spPr>
          <a:xfrm flipV="1">
            <a:off x="3001433" y="5329558"/>
            <a:ext cx="137584" cy="1458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/>
          <p:cNvCxnSpPr/>
          <p:nvPr/>
        </p:nvCxnSpPr>
        <p:spPr>
          <a:xfrm flipV="1">
            <a:off x="3139017" y="5311450"/>
            <a:ext cx="137583" cy="1810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/>
          <p:cNvCxnSpPr/>
          <p:nvPr/>
        </p:nvCxnSpPr>
        <p:spPr>
          <a:xfrm flipV="1">
            <a:off x="3276600" y="5288962"/>
            <a:ext cx="137583" cy="2248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连接符 154"/>
          <p:cNvCxnSpPr/>
          <p:nvPr/>
        </p:nvCxnSpPr>
        <p:spPr>
          <a:xfrm flipV="1">
            <a:off x="3414183" y="5261033"/>
            <a:ext cx="137584" cy="2792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/>
          <p:cNvCxnSpPr/>
          <p:nvPr/>
        </p:nvCxnSpPr>
        <p:spPr>
          <a:xfrm flipV="1">
            <a:off x="3551767" y="5226347"/>
            <a:ext cx="137583" cy="3468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/>
          <p:cNvCxnSpPr/>
          <p:nvPr/>
        </p:nvCxnSpPr>
        <p:spPr>
          <a:xfrm flipV="1">
            <a:off x="3689350" y="5183270"/>
            <a:ext cx="137583" cy="43077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连接符 157"/>
          <p:cNvCxnSpPr/>
          <p:nvPr/>
        </p:nvCxnSpPr>
        <p:spPr>
          <a:xfrm flipV="1">
            <a:off x="3826933" y="5129771"/>
            <a:ext cx="137584" cy="534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/>
          <p:cNvCxnSpPr/>
          <p:nvPr/>
        </p:nvCxnSpPr>
        <p:spPr>
          <a:xfrm flipV="1">
            <a:off x="3964517" y="5063329"/>
            <a:ext cx="137583" cy="6644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/>
          <p:cNvCxnSpPr/>
          <p:nvPr/>
        </p:nvCxnSpPr>
        <p:spPr>
          <a:xfrm flipV="1">
            <a:off x="4102100" y="4980813"/>
            <a:ext cx="137583" cy="8251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连接符 160"/>
          <p:cNvCxnSpPr/>
          <p:nvPr/>
        </p:nvCxnSpPr>
        <p:spPr>
          <a:xfrm flipV="1">
            <a:off x="4239683" y="4878334"/>
            <a:ext cx="137584" cy="10247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V="1">
            <a:off x="4377267" y="4751062"/>
            <a:ext cx="137583" cy="12727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/>
          <p:cNvCxnSpPr/>
          <p:nvPr/>
        </p:nvCxnSpPr>
        <p:spPr>
          <a:xfrm flipV="1">
            <a:off x="4514850" y="4592998"/>
            <a:ext cx="137583" cy="15806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连接符 163"/>
          <p:cNvCxnSpPr/>
          <p:nvPr/>
        </p:nvCxnSpPr>
        <p:spPr>
          <a:xfrm flipV="1">
            <a:off x="4652433" y="4396695"/>
            <a:ext cx="137584" cy="19630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/>
          <p:nvPr/>
        </p:nvCxnSpPr>
        <p:spPr>
          <a:xfrm flipV="1">
            <a:off x="4790017" y="4152900"/>
            <a:ext cx="137583" cy="24379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/>
          <p:cNvCxnSpPr/>
          <p:nvPr/>
        </p:nvCxnSpPr>
        <p:spPr>
          <a:xfrm flipV="1">
            <a:off x="7264400" y="5397126"/>
            <a:ext cx="137583" cy="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/>
          <p:cNvCxnSpPr/>
          <p:nvPr/>
        </p:nvCxnSpPr>
        <p:spPr>
          <a:xfrm flipV="1">
            <a:off x="7401983" y="5395387"/>
            <a:ext cx="137584" cy="173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/>
          <p:cNvCxnSpPr/>
          <p:nvPr/>
        </p:nvCxnSpPr>
        <p:spPr>
          <a:xfrm flipV="1">
            <a:off x="7539567" y="5391677"/>
            <a:ext cx="137583" cy="371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/>
          <p:nvPr/>
        </p:nvCxnSpPr>
        <p:spPr>
          <a:xfrm flipV="1">
            <a:off x="7677150" y="5385546"/>
            <a:ext cx="137583" cy="613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/>
          <p:nvPr/>
        </p:nvCxnSpPr>
        <p:spPr>
          <a:xfrm flipV="1">
            <a:off x="7814733" y="5376618"/>
            <a:ext cx="137584" cy="89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/>
          <p:cNvCxnSpPr/>
          <p:nvPr/>
        </p:nvCxnSpPr>
        <p:spPr>
          <a:xfrm flipV="1">
            <a:off x="7952317" y="5364559"/>
            <a:ext cx="137583" cy="1205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/>
          <p:nvPr/>
        </p:nvCxnSpPr>
        <p:spPr>
          <a:xfrm flipV="1">
            <a:off x="8089900" y="5349072"/>
            <a:ext cx="137583" cy="1548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/>
          <p:cNvCxnSpPr/>
          <p:nvPr/>
        </p:nvCxnSpPr>
        <p:spPr>
          <a:xfrm flipV="1">
            <a:off x="8227483" y="5329879"/>
            <a:ext cx="137584" cy="1919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/>
          <p:cNvCxnSpPr/>
          <p:nvPr/>
        </p:nvCxnSpPr>
        <p:spPr>
          <a:xfrm flipV="1">
            <a:off x="8365067" y="5306726"/>
            <a:ext cx="137583" cy="2315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/>
          <p:cNvCxnSpPr/>
          <p:nvPr/>
        </p:nvCxnSpPr>
        <p:spPr>
          <a:xfrm flipV="1">
            <a:off x="8502650" y="5279372"/>
            <a:ext cx="137583" cy="2735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/>
          <p:cNvCxnSpPr/>
          <p:nvPr/>
        </p:nvCxnSpPr>
        <p:spPr>
          <a:xfrm flipV="1">
            <a:off x="8640233" y="5247588"/>
            <a:ext cx="137584" cy="3178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/>
          <p:cNvCxnSpPr/>
          <p:nvPr/>
        </p:nvCxnSpPr>
        <p:spPr>
          <a:xfrm flipV="1">
            <a:off x="8777817" y="5211160"/>
            <a:ext cx="137583" cy="364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/>
          <p:cNvCxnSpPr/>
          <p:nvPr/>
        </p:nvCxnSpPr>
        <p:spPr>
          <a:xfrm flipV="1">
            <a:off x="8915400" y="5169879"/>
            <a:ext cx="137583" cy="4128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/>
          <p:cNvCxnSpPr/>
          <p:nvPr/>
        </p:nvCxnSpPr>
        <p:spPr>
          <a:xfrm flipV="1">
            <a:off x="9052983" y="5123549"/>
            <a:ext cx="137584" cy="4633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/>
          <p:cNvCxnSpPr/>
          <p:nvPr/>
        </p:nvCxnSpPr>
        <p:spPr>
          <a:xfrm flipV="1">
            <a:off x="9190567" y="5071977"/>
            <a:ext cx="137583" cy="51572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/>
          <p:cNvCxnSpPr/>
          <p:nvPr/>
        </p:nvCxnSpPr>
        <p:spPr>
          <a:xfrm flipV="1">
            <a:off x="9328150" y="5014980"/>
            <a:ext cx="137583" cy="5699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/>
          <p:cNvCxnSpPr/>
          <p:nvPr/>
        </p:nvCxnSpPr>
        <p:spPr>
          <a:xfrm flipV="1">
            <a:off x="9465733" y="4952381"/>
            <a:ext cx="137584" cy="6259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/>
          <p:cNvCxnSpPr/>
          <p:nvPr/>
        </p:nvCxnSpPr>
        <p:spPr>
          <a:xfrm flipV="1">
            <a:off x="9603317" y="4884007"/>
            <a:ext cx="137583" cy="68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/>
          <p:cNvCxnSpPr/>
          <p:nvPr/>
        </p:nvCxnSpPr>
        <p:spPr>
          <a:xfrm flipV="1">
            <a:off x="9740900" y="4809689"/>
            <a:ext cx="137583" cy="7431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/>
          <p:cNvCxnSpPr/>
          <p:nvPr/>
        </p:nvCxnSpPr>
        <p:spPr>
          <a:xfrm flipV="1">
            <a:off x="9878483" y="4729266"/>
            <a:ext cx="137584" cy="8042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/>
          <p:cNvCxnSpPr/>
          <p:nvPr/>
        </p:nvCxnSpPr>
        <p:spPr>
          <a:xfrm flipV="1">
            <a:off x="10016067" y="4642578"/>
            <a:ext cx="137583" cy="8668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/>
          <p:nvPr/>
        </p:nvCxnSpPr>
        <p:spPr>
          <a:xfrm flipV="1">
            <a:off x="10153650" y="4549472"/>
            <a:ext cx="137583" cy="93106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/>
          <p:nvPr/>
        </p:nvCxnSpPr>
        <p:spPr>
          <a:xfrm flipV="1">
            <a:off x="10291233" y="4449795"/>
            <a:ext cx="137584" cy="9967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/>
          <p:cNvCxnSpPr/>
          <p:nvPr/>
        </p:nvCxnSpPr>
        <p:spPr>
          <a:xfrm flipV="1">
            <a:off x="10428817" y="4343400"/>
            <a:ext cx="137583" cy="106395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/>
          <p:cNvCxnSpPr/>
          <p:nvPr/>
        </p:nvCxnSpPr>
        <p:spPr>
          <a:xfrm>
            <a:off x="3870960" y="4114800"/>
            <a:ext cx="0" cy="1282700"/>
          </a:xfrm>
          <a:prstGeom prst="line">
            <a:avLst/>
          </a:prstGeom>
          <a:ln w="15240">
            <a:solidFill>
              <a:srgbClr val="C2355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文本框 190"/>
          <p:cNvSpPr txBox="1"/>
          <p:nvPr/>
        </p:nvSpPr>
        <p:spPr>
          <a:xfrm>
            <a:off x="3934460" y="4203700"/>
            <a:ext cx="863600" cy="2339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pt-BR" altLang="zh-CN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 </a:t>
            </a:r>
            <a:r>
              <a:rPr lang="zh-CN" altLang="pt-BR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稍大
即不可行</a:t>
            </a:r>
            <a:endParaRPr lang="zh-CN" altLang="en-US" sz="76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2" name="矩形: 圆角 191"/>
          <p:cNvSpPr/>
          <p:nvPr/>
        </p:nvSpPr>
        <p:spPr>
          <a:xfrm>
            <a:off x="8788400" y="4267200"/>
            <a:ext cx="1346200" cy="3048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B9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文本框 192"/>
          <p:cNvSpPr txBox="1"/>
          <p:nvPr/>
        </p:nvSpPr>
        <p:spPr>
          <a:xfrm>
            <a:off x="8915400" y="4356100"/>
            <a:ext cx="1092200" cy="1292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可继续扩展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4" name="文本框 193"/>
          <p:cNvSpPr txBox="1"/>
          <p:nvPr/>
        </p:nvSpPr>
        <p:spPr>
          <a:xfrm>
            <a:off x="1625600" y="3530600"/>
            <a:ext cx="3492500" cy="2546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l">
              <a:buClrTx/>
              <a:buSzTx/>
              <a:buNone/>
            </a:pPr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枚举完整 logical-to-physical mapping 状态；
运行时间与内存随 N 急剧膨胀。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7264400" y="3530600"/>
            <a:ext cx="34925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每个 two-qubit gate 最多 O(N^2.5)；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整条线路 worst-case 为 O(N^2.5 g)。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6" name="文本框 195"/>
          <p:cNvSpPr txBox="1"/>
          <p:nvPr/>
        </p:nvSpPr>
        <p:spPr>
          <a:xfrm>
            <a:off x="5918200" y="3835400"/>
            <a:ext cx="5588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0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VS</a:t>
            </a:r>
            <a:endParaRPr lang="zh-CN" altLang="en-US" sz="20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97" name="直接连接符 196"/>
          <p:cNvCxnSpPr/>
          <p:nvPr/>
        </p:nvCxnSpPr>
        <p:spPr>
          <a:xfrm>
            <a:off x="5803900" y="4216400"/>
            <a:ext cx="787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: 圆角 197"/>
          <p:cNvSpPr/>
          <p:nvPr/>
        </p:nvSpPr>
        <p:spPr>
          <a:xfrm>
            <a:off x="2628900" y="6172200"/>
            <a:ext cx="7137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文本框 198"/>
          <p:cNvSpPr txBox="1"/>
          <p:nvPr/>
        </p:nvSpPr>
        <p:spPr>
          <a:xfrm>
            <a:off x="2921000" y="6311900"/>
            <a:ext cx="6553200" cy="1585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 b="1">
                <a:solidFill>
                  <a:srgbClr val="965800"/>
                </a:solidFill>
                <a:latin typeface="微软雅黑" panose="020B0503020204020204" charset="-122"/>
              </a:rPr>
              <a:t>核心优势：把指数级 mapping 状态搜索，转成可扩展的局部 SWAP 决策。</a:t>
            </a:r>
            <a:endParaRPr sz="900" b="1">
              <a:solidFill>
                <a:srgbClr val="965800"/>
              </a:solidFill>
              <a:latin typeface="微软雅黑" panose="020B0503020204020204" charset="-122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7086600" y="5715000"/>
            <a:ext cx="35661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20" b="0">
                <a:solidFill>
                  <a:srgbClr val="695A69"/>
                </a:solidFill>
                <a:latin typeface="微软雅黑" panose="020B0503020204020204" charset="-122"/>
              </a:rPr>
              <a:t>注：g 为原线路中 two-qubit gate 数量。</a:t>
            </a:r>
            <a:endParaRPr sz="720" b="0">
              <a:solidFill>
                <a:srgbClr val="695A69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SABRE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算法完整工作流：三次遍历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每步局部启发式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每次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traversal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都包含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、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Decay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；三次遍历共同改善初始映射与最终线路。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438150" y="2133600"/>
            <a:ext cx="11332845" cy="3523615"/>
          </a:xfrm>
          <a:prstGeom prst="roundRect">
            <a:avLst/>
          </a:prstGeom>
          <a:solidFill>
            <a:srgbClr val="F8F8FB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/>
          <p:cNvSpPr/>
          <p:nvPr/>
        </p:nvSpPr>
        <p:spPr>
          <a:xfrm>
            <a:off x="996950" y="2527300"/>
            <a:ext cx="2667000" cy="19050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1987550" y="2235200"/>
            <a:ext cx="660400" cy="660400"/>
          </a:xfrm>
          <a:prstGeom prst="ellipse">
            <a:avLst/>
          </a:prstGeom>
          <a:solidFill>
            <a:srgbClr val="2C70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9875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1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2001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临时正向遍历</a:t>
            </a:r>
            <a:endParaRPr lang="zh-CN" altLang="en-US" sz="14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2763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
Heuristic + Decay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得到最终映射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f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37655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/>
        </p:nvSpPr>
        <p:spPr>
          <a:xfrm>
            <a:off x="4578350" y="2527300"/>
            <a:ext cx="2667000" cy="19050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5568950" y="2235200"/>
            <a:ext cx="660400" cy="660400"/>
          </a:xfrm>
          <a:prstGeom prst="ellipse">
            <a:avLst/>
          </a:prstGeom>
          <a:solidFill>
            <a:srgbClr val="0096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689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2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7815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反向遍历</a:t>
            </a:r>
            <a:endParaRPr lang="zh-CN" altLang="en-US" sz="14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77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Traversal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倒序处理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circuit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得到改进初始映射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73469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/>
          <p:cNvSpPr/>
          <p:nvPr/>
        </p:nvSpPr>
        <p:spPr>
          <a:xfrm>
            <a:off x="8159750" y="2527300"/>
            <a:ext cx="2667000" cy="19050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9150350" y="2235200"/>
            <a:ext cx="660400" cy="660400"/>
          </a:xfrm>
          <a:prstGeom prst="ellipse">
            <a:avLst/>
          </a:prstGeom>
          <a:solidFill>
            <a:srgbClr val="EC91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91503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3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83629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最终正向遍历</a:t>
            </a:r>
            <a:endParaRPr lang="zh-CN" altLang="en-US" sz="14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4391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以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πr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作为初始映射
再次执行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搜索
输出硬件可执行线路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7683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9207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Front layer</a:t>
            </a:r>
            <a:endParaRPr lang="zh-CN" altLang="en-US" sz="115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9334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找当前可执行但被拓扑卡住的门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30670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/>
          <p:cNvSpPr/>
          <p:nvPr/>
        </p:nvSpPr>
        <p:spPr>
          <a:xfrm>
            <a:off x="35877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37401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Candidate SWAP</a:t>
            </a:r>
            <a:endParaRPr lang="zh-CN" altLang="en-US" sz="11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7528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只枚举相关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附近的交换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9" name="直接连接符 68"/>
          <p:cNvCxnSpPr/>
          <p:nvPr/>
        </p:nvCxnSpPr>
        <p:spPr>
          <a:xfrm>
            <a:off x="58864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/>
          <p:cNvSpPr/>
          <p:nvPr/>
        </p:nvSpPr>
        <p:spPr>
          <a:xfrm>
            <a:off x="64071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65595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</a:t>
            </a:r>
            <a:endParaRPr lang="zh-CN" altLang="en-US" sz="11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65722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当前距离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W×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未来距离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decay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3" name="直接连接符 72"/>
          <p:cNvCxnSpPr/>
          <p:nvPr/>
        </p:nvCxnSpPr>
        <p:spPr>
          <a:xfrm>
            <a:off x="87058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圆角 73"/>
          <p:cNvSpPr/>
          <p:nvPr/>
        </p:nvSpPr>
        <p:spPr>
          <a:xfrm>
            <a:off x="92265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93789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Update mapping</a:t>
            </a:r>
            <a:endParaRPr lang="zh-CN" altLang="en-US" sz="115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93916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插入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，刷新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DAG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与映射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Front layer：只关注当前真正卡住的门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把双比特门依赖表示成 DAG；front layer 是当前无未执行前驱、理论上可以执行的门集合。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77824" y="2148840"/>
            <a:ext cx="4800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78992" y="2331720"/>
            <a:ext cx="20116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DAG 与 front layer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618488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258568" y="3026664"/>
            <a:ext cx="621792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80360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258568" y="4050791"/>
            <a:ext cx="2377439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520440" y="4050791"/>
            <a:ext cx="1115567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298448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98448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2560320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560320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1938528" y="3886200"/>
            <a:ext cx="658368" cy="347472"/>
          </a:xfrm>
          <a:prstGeom prst="roundRect">
            <a:avLst/>
          </a:prstGeom>
          <a:solidFill>
            <a:srgbClr val="008491"/>
          </a:solidFill>
          <a:ln w="1270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38528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3200400" y="3886200"/>
            <a:ext cx="658368" cy="347472"/>
          </a:xfrm>
          <a:prstGeom prst="roundRect">
            <a:avLst/>
          </a:prstGeom>
          <a:solidFill>
            <a:srgbClr val="A62A47"/>
          </a:solidFill>
          <a:ln w="1270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0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g4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315968" y="4590288"/>
            <a:ext cx="658368" cy="347472"/>
          </a:xfrm>
          <a:prstGeom prst="roundRect">
            <a:avLst/>
          </a:prstGeom>
          <a:solidFill>
            <a:srgbClr val="E28430"/>
          </a:solidFill>
          <a:ln w="12700">
            <a:solidFill>
              <a:srgbClr val="E2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15968" y="4681727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g5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124712" y="3383280"/>
            <a:ext cx="1371600" cy="274320"/>
          </a:xfrm>
          <a:prstGeom prst="roundRect">
            <a:avLst/>
          </a:prstGeom>
          <a:solidFill>
            <a:srgbClr val="EBE5F6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61288" y="3433572"/>
            <a:ext cx="129844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C1984"/>
                </a:solidFill>
                <a:latin typeface="微软雅黑" panose="020B0503020204020204" charset="-122"/>
              </a:rPr>
              <a:t>Front layer</a:t>
            </a:r>
            <a:endParaRPr sz="1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697480" y="4416552"/>
            <a:ext cx="1417320" cy="274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34056" y="4466844"/>
            <a:ext cx="134416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8491"/>
                </a:solidFill>
                <a:latin typeface="微软雅黑" panose="020B0503020204020204" charset="-122"/>
              </a:rPr>
              <a:t>Extended set</a:t>
            </a:r>
            <a:endParaRPr sz="1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080760" y="2148840"/>
            <a:ext cx="44348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291072" y="2331720"/>
            <a:ext cx="18288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候选 SWAP 生成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6382512" y="2761488"/>
            <a:ext cx="292608" cy="29260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82512" y="2849270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6803136" y="2779776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检查 front layer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803136" y="3008376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若对应 physical qubit 相邻，直接执行门。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6382512" y="3474720"/>
            <a:ext cx="292608" cy="29260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82512" y="3562502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6803136" y="3493008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若不相邻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6803136" y="3721608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只考虑相关 qubit 附近的 SWAP，避免枚举全图。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6382512" y="4187952"/>
            <a:ext cx="292608" cy="292608"/>
          </a:xfrm>
          <a:prstGeom prst="ellipse">
            <a:avLst/>
          </a:prstGeom>
          <a:solidFill>
            <a:srgbClr val="A62A47"/>
          </a:solidFill>
          <a:ln w="1651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82512" y="4275734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6803136" y="4206240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更新映射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803136" y="4434840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选择代价最低 SWAP 后，重新检查 front layer。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96112" y="5971032"/>
            <a:ext cx="96012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front layer 把搜索焦点限制在当前真正受阻的双比特门附近。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932815" y="5230495"/>
            <a:ext cx="9829800" cy="403860"/>
          </a:xfrm>
          <a:prstGeom prst="roundRect">
            <a:avLst/>
          </a:prstGeom>
          <a:solidFill>
            <a:srgbClr val="F9FFFF"/>
          </a:solidFill>
          <a:ln w="9525">
            <a:solidFill>
              <a:srgbClr val="C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43000" y="5340477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20" b="1">
                <a:solidFill>
                  <a:srgbClr val="37373C"/>
                </a:solidFill>
                <a:latin typeface="微软雅黑" panose="020B0503020204020204" charset="-122"/>
              </a:rPr>
              <a:t>小例子</a:t>
            </a:r>
            <a:endParaRPr sz="820" b="1">
              <a:solidFill>
                <a:srgbClr val="660066"/>
              </a:solidFill>
              <a:latin typeface="微软雅黑" panose="020B0503020204020204" charset="-122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331720" y="5303901"/>
            <a:ext cx="22402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front layer: CNOT(q0,q2)
当前映射: q0@P0, q2@P3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709160" y="5303901"/>
            <a:ext cx="20116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候选 SWAP 只从 P0/P3 邻边取：
SWAP(P0,P1), SWAP(P3,P2)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949440" y="5303901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启发式评分目标：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当前门距离降低，后续门代价不显著上升。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48056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667512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启发式函数：当前距离 + 未来距离 + decay 惩罚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论文用 front layer 与 extended set 的平均距离评分候选 SWAP，再用 decay 惩罚近期重叠交换。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41248" y="2121408"/>
            <a:ext cx="4892040" cy="14173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9611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2415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F / front layer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21284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当前可执行双比特门；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第一项优先优化它们。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423367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7997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8491"/>
                </a:solidFill>
                <a:latin typeface="微软雅黑" panose="020B0503020204020204" charset="-122"/>
              </a:rPr>
              <a:t>E / extended set</a:t>
            </a:r>
            <a:endParaRPr sz="10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5040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front layer 的后继门；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提供轻量 look-ahead。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571231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1753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28430"/>
                </a:solidFill>
                <a:latin typeface="微软雅黑" panose="020B0503020204020204" charset="-122"/>
              </a:rPr>
              <a:t>D / distance</a:t>
            </a:r>
            <a:endParaRPr sz="1050" b="1">
              <a:solidFill>
                <a:srgbClr val="E28430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887967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两个 physical qubit 在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耦合图上的最短路。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89611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42415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62A47"/>
                </a:solidFill>
                <a:latin typeface="微软雅黑" panose="020B0503020204020204" charset="-122"/>
              </a:rPr>
              <a:t>W / weight</a:t>
            </a:r>
            <a:endParaRPr sz="105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21284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未来项权重，论文实验中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W = 0.5。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23367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79976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881"/>
                </a:solidFill>
                <a:latin typeface="微软雅黑" panose="020B0503020204020204" charset="-122"/>
              </a:rPr>
              <a:t>decay</a:t>
            </a:r>
            <a:endParaRPr sz="1050" b="1">
              <a:solidFill>
                <a:srgbClr val="5B6881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55040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若 qubit 最近参与 SWAP，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decay(q)=1+δ。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6126480" y="2121408"/>
            <a:ext cx="4389120" cy="1417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启发式函数同时编码当前门距离、未来门影响和近期重叠 SWAP 惩罚。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50976" y="2258568"/>
            <a:ext cx="4709160" cy="1078992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699248" y="4645152"/>
            <a:ext cx="2542032" cy="347472"/>
          </a:xfrm>
          <a:prstGeom prst="roundRect">
            <a:avLst/>
          </a:prstGeom>
          <a:solidFill>
            <a:srgbClr val="FFF8E8"/>
          </a:solidFill>
          <a:ln w="9525">
            <a:solidFill>
              <a:srgbClr val="F5D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18120" y="4736592"/>
            <a:ext cx="23317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>
                <a:solidFill>
                  <a:srgbClr val="5F4B23"/>
                </a:solidFill>
                <a:latin typeface="微软雅黑" panose="020B0503020204020204" charset="-122"/>
              </a:rPr>
              <a:t>候选 SWAP 评分：临时更新映射，计算 H，选择代价最小者。</a:t>
            </a:r>
            <a:endParaRPr sz="66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115060" y="2221865"/>
            <a:ext cx="4435475" cy="1170305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15568" y="2331720"/>
            <a:ext cx="45902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 panose="020B0503020204020204" charset="-122"/>
              </a:rPr>
              <a:t>H = max(decay(SWAP.q1), decay(SWAP.q2)) × {</a:t>
            </a:r>
            <a:endParaRPr sz="11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261872" y="2587752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1/|F|  Σ gate∈F  D[π(gate.q1)][π(gate.q2)]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261872" y="2834640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+  W × 1/|E|  Σ gate∈E  D[π(gate.q1)][π(gate.q2)]  }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1298448" y="3127248"/>
            <a:ext cx="41879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0">
                <a:solidFill>
                  <a:srgbClr val="E6DAEE"/>
                </a:solidFill>
                <a:latin typeface="微软雅黑" panose="020B0503020204020204" charset="-122"/>
              </a:rPr>
              <a:t>与论文 Eq. (2) 一致：F 为 front layer，E 为 extended set。</a:t>
            </a:r>
            <a:endParaRPr sz="680" b="0">
              <a:solidFill>
                <a:srgbClr val="E6DAEE"/>
              </a:solidFill>
              <a:latin typeface="微软雅黑" panose="020B0503020204020204" charset="-122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46520" y="2633472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60" b="1">
                <a:solidFill>
                  <a:srgbClr val="2D3F43"/>
                </a:solidFill>
                <a:latin typeface="微软雅黑" panose="020B0503020204020204" charset="-122"/>
              </a:rPr>
              <a:t>评分含义：当前门均距 + W × 未来门均距，再乘 decay 惩罚。</a:t>
            </a:r>
            <a:endParaRPr sz="860" b="1">
              <a:solidFill>
                <a:srgbClr val="2D3F43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Reverse traversal：用一次正向结果反推更好的初始映射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这不是让真实量子机器反向运行程序，而是在编译阶段倒序分析双比特门。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π0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42415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临时初始映射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6070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随机或简单初始化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97" name="Connector 96"/>
          <p:cNvCxnSpPr/>
          <p:nvPr/>
        </p:nvCxnSpPr>
        <p:spPr>
          <a:xfrm>
            <a:off x="294436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350215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70332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πf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4845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正向最终映射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66674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第一次正向遍历得到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2" name="Connector 101"/>
          <p:cNvCxnSpPr/>
          <p:nvPr/>
        </p:nvCxnSpPr>
        <p:spPr>
          <a:xfrm>
            <a:off x="555040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610819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09359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008491"/>
                </a:solidFill>
                <a:latin typeface="微软雅黑" panose="020B0503020204020204" charset="-122"/>
              </a:rPr>
              <a:t>πr</a:t>
            </a:r>
            <a:endParaRPr sz="2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625449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反向得到新映射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72783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作为原线路更好的开局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815644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871423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1540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Final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886053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最终可执行线路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887882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第二次正向遍历输出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143000" y="4617720"/>
            <a:ext cx="8961120" cy="749808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371600" y="4773168"/>
            <a:ext cx="11430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8491"/>
                </a:solidFill>
                <a:latin typeface="微软雅黑" panose="020B0503020204020204" charset="-122"/>
              </a:rPr>
              <a:t>为什么有效？</a:t>
            </a:r>
            <a:endParaRPr sz="12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450592" y="4773168"/>
            <a:ext cx="74523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262D"/>
                </a:solidFill>
                <a:latin typeface="微软雅黑" panose="020B0503020204020204" charset="-122"/>
              </a:rPr>
              <a:t>反向线路最后处理的门，正是原线路开头的门；因此 πr 更适合原线路开头，同时也吸收了后续门的信息。</a:t>
            </a:r>
            <a:endParaRPr sz="115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reverse traversal 不是反向运行量子程序，而是在编译阶段倒推更好的开局。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Decay effect：在门数与线路深度之间做权衡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注意：decay 不是“距离随时间衰减”。它是对近期参与过 SWAP 的 qubit 临时加惩罚。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088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832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2A47"/>
                </a:solidFill>
                <a:latin typeface="微软雅黑" panose="020B0503020204020204" charset="-122"/>
              </a:rPr>
              <a:t>没有 decay</a:t>
            </a:r>
            <a:endParaRPr sz="14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9112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9112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9112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30441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4449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58457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180149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连续移动同一批 qubit，SWAP 互相依赖，难以并行。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2840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584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8491"/>
                </a:solidFill>
                <a:latin typeface="微软雅黑" panose="020B0503020204020204" charset="-122"/>
              </a:rPr>
              <a:t>加入 decay</a:t>
            </a:r>
            <a:endParaRPr sz="1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cxnSp>
        <p:nvCxnSpPr>
          <p:cNvPr id="116" name="Connector 115"/>
          <p:cNvCxnSpPr/>
          <p:nvPr/>
        </p:nvCxnSpPr>
        <p:spPr>
          <a:xfrm>
            <a:off x="66864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864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6864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143623" y="2788920"/>
            <a:ext cx="0" cy="502919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131175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8972423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662241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近期参与过 SWAP 的 qubit 代价升高，算法更愿意选不重叠交换。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2000250" y="5287518"/>
            <a:ext cx="7818120" cy="38404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274570" y="5406390"/>
            <a:ext cx="7269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301256"/>
                </a:solidFill>
                <a:latin typeface="微软雅黑" panose="020B0503020204020204" charset="-122"/>
              </a:rPr>
              <a:t>δ 较大：更偏向降低深度；δ 较小：更偏向减少额外门数。</a:t>
            </a:r>
            <a:endParaRPr sz="112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decay 惩罚近期重叠 SWAP，鼓励不相交交换并行执行，降低线路深度。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实验设置与评价指标：看速度，也看线路质量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论文在 IBM Q20 Tokyo 20-qubit 拓扑和多类 benchmark 上比较 SABRE 与 BKA。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硬件平台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IBM Q20 Tokyo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20 个 physical qubit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稀疏耦合图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142231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43399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测试基准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370831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通用量子线路 benchmark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覆盖不同 qubit 数、门数和依赖结构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38835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对比方法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61695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BKA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Best Known Algorithm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作为当时强 baseline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601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247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额外门数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9842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SWAP 会转成多个 CNOT，越少越好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57607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253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线路深度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7848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决定执行时间和退相干风险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601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247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运行时间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9842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编译器能否处理大线路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57607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9253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内存占用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7848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大 benchmark 是否 OOM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实验评价同时看额外门数、线路深度、运行时间和内存占用。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实验结果：门数、时间、内存三个维度体现可扩展性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相比 BKA，SABRE 的优势不只是一项指标；关键是在线路质量、编译资源和可扩展性之间取得平衡。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092200" y="2413000"/>
            <a:ext cx="3111500" cy="19685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270000" y="257810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300" b="1">
                <a:solidFill>
                  <a:srgbClr val="C53A70"/>
                </a:solidFill>
                <a:latin typeface="微软雅黑" panose="020B0503020204020204" charset="-122"/>
              </a:rPr>
              <a:t>≈10%</a:t>
            </a:r>
            <a:endParaRPr sz="2300" b="1">
              <a:solidFill>
                <a:srgbClr val="C53A70"/>
              </a:solidFill>
              <a:latin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270000" y="304800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Gate Reduction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门数优化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0800" y="336550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large/qft benchmark 平均额外门减少约 10%；小线路可减少 91% 甚至完全消除额外门。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4635500" y="2413000"/>
            <a:ext cx="3111500" cy="19685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813300" y="257810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300" b="1">
                <a:solidFill>
                  <a:srgbClr val="009187"/>
                </a:solidFill>
                <a:latin typeface="微软雅黑" panose="020B0503020204020204" charset="-122"/>
              </a:rPr>
              <a:t>5000×+</a:t>
            </a:r>
            <a:endParaRPr sz="2300" b="1">
              <a:solidFill>
                <a:srgbClr val="009187"/>
              </a:solidFill>
              <a:latin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813300" y="304800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Runtime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运行速度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864100" y="336550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部分 benchmark 加速数千倍：如 qft16 约 5652×、qft13 约 7396×。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8178800" y="2413000"/>
            <a:ext cx="3111500" cy="1968500"/>
          </a:xfrm>
          <a:prstGeom prst="roundRect">
            <a:avLst/>
          </a:prstGeom>
          <a:solidFill>
            <a:srgbClr val="FFEE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56600" y="2578100"/>
            <a:ext cx="2755900" cy="3539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3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No OOM</a:t>
            </a:r>
            <a:endParaRPr lang="zh-CN" altLang="en-US" sz="23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56600" y="304800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Memory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内存占用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8407400" y="336550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BKA 在 ising16 / qft20 上超过 378GB 内存；SABRE 约 300MB、0.1s 仍可完成。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308100" y="4699000"/>
            <a:ext cx="4635500" cy="838200"/>
          </a:xfrm>
          <a:prstGeom prst="roundRect">
            <a:avLst/>
          </a:prstGeom>
          <a:solidFill>
            <a:srgbClr val="E9F9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485900" y="486410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007878"/>
                </a:solidFill>
                <a:latin typeface="微软雅黑" panose="020B0503020204020204" charset="-122"/>
              </a:rPr>
              <a:t>结论</a:t>
            </a:r>
            <a:endParaRPr sz="1050" b="1">
              <a:solidFill>
                <a:srgbClr val="007878"/>
              </a:solidFill>
              <a:latin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85900" y="511683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SABRE 不保证全局最优；它用 reverse traversal 改善初始映射，用局部 SWAP 搜索换取可扩展性。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6477000" y="4699000"/>
            <a:ext cx="4635500" cy="83820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6654800" y="486410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B23669"/>
                </a:solidFill>
                <a:latin typeface="微软雅黑" panose="020B0503020204020204" charset="-122"/>
              </a:rPr>
              <a:t>局限</a:t>
            </a:r>
            <a:endParaRPr sz="1050" b="1">
              <a:solidFill>
                <a:srgbClr val="B23669"/>
              </a:solidFill>
              <a:latin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654800" y="511683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少 SWAP 不必然等于最高保真度；真实设备还需考虑不同 qubit/edge 的噪声、动态校准与串扰。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143000" y="5605272"/>
            <a:ext cx="9601200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80">
                <a:solidFill>
                  <a:srgbClr val="78697D"/>
                </a:solidFill>
                <a:latin typeface="微软雅黑" panose="020B0503020204020204" charset="-122"/>
              </a:rPr>
              <a:t>数据来源：论文 Table II 与 Evaluation；BKA 为 C++ 实现，SABRE 为 Python 实现。</a:t>
            </a:r>
            <a:endParaRPr sz="580">
              <a:solidFill>
                <a:srgbClr val="78697D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总结与展望：SABRE 的贡献与后续方向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SABRE 将 qubit mapping 从全局穷举式搜索推进到可扩展的硬件感知启发式编译。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1117600" y="2311400"/>
            <a:ext cx="4699000" cy="10414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12954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高效</a:t>
            </a:r>
            <a:endParaRPr lang="zh-CN" altLang="en-US" sz="13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2954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启发式搜索快速找到近优解
无需枚举所有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4" name="矩形: 圆角 33"/>
          <p:cNvSpPr/>
          <p:nvPr/>
        </p:nvSpPr>
        <p:spPr>
          <a:xfrm>
            <a:off x="6515100" y="2311400"/>
            <a:ext cx="4699000" cy="10414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66929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可扩展</a:t>
            </a:r>
            <a:endParaRPr lang="zh-CN" altLang="en-US" sz="13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6929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多项式级候选搜索
适配更大规模量子硬件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117600" y="3733800"/>
            <a:ext cx="4699000" cy="10414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12954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方法论价值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2954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从全局搜索到增量决策
利用可逆性改善初始映射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6515100" y="3733800"/>
            <a:ext cx="4699000" cy="10414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66929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工程实用</a:t>
            </a:r>
            <a:endParaRPr lang="zh-CN" altLang="en-US" sz="13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6929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思想已进入主流编译器
成为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NISQ </a:t>
            </a:r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编译重要基线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1117600" y="5105400"/>
            <a:ext cx="10096500" cy="5842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397000" y="5245100"/>
            <a:ext cx="9588500" cy="18620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820" b="1">
                <a:solidFill>
                  <a:srgbClr val="B47416"/>
                </a:solidFill>
                <a:latin typeface="微软雅黑" panose="020B0503020204020204" charset="-122"/>
              </a:rPr>
              <a:t>未来方向：Noise-aware Mapping、Hardware-aware Compilation、Learning-based Mapping</a:t>
            </a:r>
            <a:endParaRPr sz="820" b="1">
              <a:solidFill>
                <a:srgbClr val="B47416"/>
              </a:solidFill>
              <a:latin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24000" y="5513832"/>
            <a:ext cx="9334500" cy="109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650">
                <a:solidFill>
                  <a:srgbClr val="5F4B23"/>
                </a:solidFill>
                <a:latin typeface="微软雅黑" panose="020B0503020204020204" charset="-122"/>
              </a:rPr>
              <a:t>后续工作可将噪声模型、门保真度和动态校准信息纳入 cost function。</a:t>
            </a:r>
            <a:endParaRPr sz="65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9261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pic>
        <p:nvPicPr>
          <p:cNvPr id="12" name="5fb7f4e6457c9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017068" y="-65840"/>
            <a:ext cx="609600" cy="609600"/>
          </a:xfrm>
          <a:prstGeom prst="rect">
            <a:avLst/>
          </a:prstGeom>
        </p:spPr>
      </p:pic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7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8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210435" y="3067050"/>
            <a:ext cx="7874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3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Thanks for listening</a:t>
            </a:r>
            <a:endParaRPr lang="zh-CN" altLang="en-US" sz="3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921000" y="3843020"/>
            <a:ext cx="660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汇报人：计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张芝源，计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陈家睦</a:t>
            </a:r>
            <a:endParaRPr lang="zh-CN" altLang="en-US" sz="16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25" repeatCount="indefinite" fill="remove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  <p:bldLst>
      <p:bldP spid="17" grpId="0" animBg="1"/>
      <p:bldP spid="22" grpId="0" animBg="1"/>
      <p:bldP spid="38" grpId="0"/>
      <p:bldP spid="21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3.xml><?xml version="1.0" encoding="utf-8"?>
<p:tagLst xmlns:p="http://schemas.openxmlformats.org/presentationml/2006/main">
  <p:tag name="ISLIDE.ICON" val="#370237;"/>
</p:tagLst>
</file>

<file path=ppt/tags/tag34.xml><?xml version="1.0" encoding="utf-8"?>
<p:tagLst xmlns:p="http://schemas.openxmlformats.org/presentationml/2006/main">
  <p:tag name="ISLIDE.ICON" val="#370237;"/>
</p:tagLst>
</file>

<file path=ppt/tags/tag35.xml><?xml version="1.0" encoding="utf-8"?>
<p:tagLst xmlns:p="http://schemas.openxmlformats.org/presentationml/2006/main">
  <p:tag name="ISLIDE.ICON" val="#370237;"/>
</p:tagLst>
</file>

<file path=ppt/tags/tag36.xml><?xml version="1.0" encoding="utf-8"?>
<p:tagLst xmlns:p="http://schemas.openxmlformats.org/presentationml/2006/main">
  <p:tag name="ISLIDE.ICON" val="#370237;"/>
</p:tagLst>
</file>

<file path=ppt/tags/tag37.xml><?xml version="1.0" encoding="utf-8"?>
<p:tagLst xmlns:p="http://schemas.openxmlformats.org/presentationml/2006/main">
  <p:tag name="ISLIDE.ICON" val="#370237;"/>
</p:tagLst>
</file>

<file path=ppt/tags/tag38.xml><?xml version="1.0" encoding="utf-8"?>
<p:tagLst xmlns:p="http://schemas.openxmlformats.org/presentationml/2006/main">
  <p:tag name="ISLIDE.ICON" val="#370237;"/>
</p:tagLst>
</file>

<file path=ppt/tags/tag39.xml><?xml version="1.0" encoding="utf-8"?>
<p:tagLst xmlns:p="http://schemas.openxmlformats.org/presentationml/2006/main">
  <p:tag name="ISLIDE.ICON" val="#370237;"/>
</p:tagLst>
</file>

<file path=ppt/tags/tag40.xml><?xml version="1.0" encoding="utf-8"?>
<p:tagLst xmlns:p="http://schemas.openxmlformats.org/presentationml/2006/main">
  <p:tag name="ISLIDE.ICON" val="#370237;"/>
</p:tagLst>
</file>

<file path=ppt/tags/tag41.xml><?xml version="1.0" encoding="utf-8"?>
<p:tagLst xmlns:p="http://schemas.openxmlformats.org/presentationml/2006/main">
  <p:tag name="ISLIDE.ICON" val="#370237;"/>
</p:tagLst>
</file>

<file path=ppt/tags/tag42.xml><?xml version="1.0" encoding="utf-8"?>
<p:tagLst xmlns:p="http://schemas.openxmlformats.org/presentationml/2006/main">
  <p:tag name="ISLIDE.ICON" val="#370237;"/>
</p:tagLst>
</file>

<file path=ppt/tags/tag43.xml><?xml version="1.0" encoding="utf-8"?>
<p:tagLst xmlns:p="http://schemas.openxmlformats.org/presentationml/2006/main">
  <p:tag name="ISLIDE.ICON" val="#370237;"/>
</p:tagLst>
</file>

<file path=ppt/tags/tag44.xml><?xml version="1.0" encoding="utf-8"?>
<p:tagLst xmlns:p="http://schemas.openxmlformats.org/presentationml/2006/main">
  <p:tag name="ISLIDE.ICON" val="#370237;"/>
</p:tagLst>
</file>

<file path=ppt/tags/tag45.xml><?xml version="1.0" encoding="utf-8"?>
<p:tagLst xmlns:p="http://schemas.openxmlformats.org/presentationml/2006/main">
  <p:tag name="ISLIDE.ICON" val="#370237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5015</Words>
  <Application>WPS 演示</Application>
  <PresentationFormat>宽屏</PresentationFormat>
  <Paragraphs>682</Paragraphs>
  <Slides>16</Slides>
  <Notes>1</Notes>
  <HiddenSlides>0</HiddenSlides>
  <MMClips>2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5" baseType="lpstr">
      <vt:lpstr>Arial</vt:lpstr>
      <vt:lpstr>宋体</vt:lpstr>
      <vt:lpstr>Wingdings</vt:lpstr>
      <vt:lpstr>汉仪雪君体简</vt:lpstr>
      <vt:lpstr>金桥简行楷</vt:lpstr>
      <vt:lpstr>微软雅黑 Light</vt:lpstr>
      <vt:lpstr>Microsoft YaHei UI</vt:lpstr>
      <vt:lpstr>微软雅黑</vt:lpstr>
      <vt:lpstr>HelveticaExt-Normal</vt:lpstr>
      <vt:lpstr>思源宋体 CN Heavy</vt:lpstr>
      <vt:lpstr>阿里巴巴普惠体 R</vt:lpstr>
      <vt:lpstr>思源宋体 CN Medium</vt:lpstr>
      <vt:lpstr>Cambria Math</vt:lpstr>
      <vt:lpstr>等线</vt:lpstr>
      <vt:lpstr>Arial Unicode MS</vt:lpstr>
      <vt:lpstr>等线 Light</vt:lpstr>
      <vt:lpstr>Calibri</vt:lpstr>
      <vt:lpstr>Segoe Print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张芝源(2024010701)</cp:lastModifiedBy>
  <cp:revision>102</cp:revision>
  <dcterms:created xsi:type="dcterms:W3CDTF">2021-06-01T08:57:00Z</dcterms:created>
  <dcterms:modified xsi:type="dcterms:W3CDTF">2026-06-07T14:23:37Z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81907C837B7C473592253A54797DB0D3</vt:lpwstr>
  </property>
  <property fmtid="{D5CDD505-2E9C-101B-9397-08002B2CF9AE}" pid="3" name="KSOProductBuildVer">
    <vt:lpwstr>2052-12.1.0.26375</vt:lpwstr>
  </property>
</Properties>
</file>