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8" r:id="rId5"/>
    <p:sldId id="710" r:id="rId6"/>
    <p:sldId id="711" r:id="rId7"/>
    <p:sldId id="712" r:id="rId8"/>
    <p:sldId id="713" r:id="rId9"/>
    <p:sldId id="721" r:id="rId10"/>
    <p:sldId id="722" r:id="rId11"/>
    <p:sldId id="714" r:id="rId12"/>
    <p:sldId id="715" r:id="rId13"/>
    <p:sldId id="716" r:id="rId14"/>
    <p:sldId id="717" r:id="rId15"/>
    <p:sldId id="718" r:id="rId16"/>
    <p:sldId id="719" r:id="rId17"/>
    <p:sldId id="723" r:id="rId18"/>
    <p:sldId id="72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129A"/>
    <a:srgbClr val="BD26E6"/>
    <a:srgbClr val="E29EF4"/>
    <a:srgbClr val="580C6E"/>
    <a:srgbClr val="972064"/>
    <a:srgbClr val="630E7C"/>
    <a:srgbClr val="E7E7E7"/>
    <a:srgbClr val="D8D9DA"/>
    <a:srgbClr val="C5BBC8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9A20EA-8362-4E9C-B645-B721ECF0B4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6574A2-176D-4D82-B53C-6806CB91D5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/>
    <mc:Fallback/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6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1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17748" y="-15897"/>
            <a:ext cx="12227495" cy="6857999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24486">
            <a:off x="-135700" y="-4437113"/>
            <a:ext cx="10609201" cy="14974172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矩形 21"/>
          <p:cNvSpPr/>
          <p:nvPr/>
        </p:nvSpPr>
        <p:spPr>
          <a:xfrm>
            <a:off x="33890" y="0"/>
            <a:ext cx="12227495" cy="6857999"/>
          </a:xfrm>
          <a:prstGeom prst="rect">
            <a:avLst/>
          </a:prstGeom>
          <a:gradFill flip="none" rotWithShape="1">
            <a:gsLst>
              <a:gs pos="95000">
                <a:srgbClr val="992164"/>
              </a:gs>
              <a:gs pos="73000">
                <a:srgbClr val="7A1769">
                  <a:alpha val="50000"/>
                </a:srgbClr>
              </a:gs>
              <a:gs pos="0">
                <a:srgbClr val="580C6E">
                  <a:alpha val="78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1189553" y="1870223"/>
            <a:ext cx="106758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9600" spc="13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雪君体简" panose="02010604000101010101" pitchFamily="2" charset="-122"/>
              <a:ea typeface="金桥简行楷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70667" y="287180"/>
            <a:ext cx="3277389" cy="1008394"/>
            <a:chOff x="9730702" y="211219"/>
            <a:chExt cx="2374282" cy="701101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4303594" y="3658243"/>
            <a:ext cx="3887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  <p:pic>
        <p:nvPicPr>
          <p:cNvPr id="23" name="图片 22" descr="建筑的设计&#10;&#10;描述已自动生成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701" y="4616132"/>
            <a:ext cx="3360499" cy="225496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7430" y="2102993"/>
            <a:ext cx="690372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 UI" panose="020B0503020204020204" charset="-122"/>
              </a:rPr>
              <a:t>SABRE: 面向 NISQ 设备的</a:t>
            </a:r>
            <a:endParaRPr sz="3400" b="1">
              <a:solidFill>
                <a:srgbClr val="FFFFFF"/>
              </a:solidFill>
              <a:latin typeface="Microsoft YaHei UI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 UI" panose="020B0503020204020204" charset="-122"/>
              </a:rPr>
              <a:t>量子比特映射算法</a:t>
            </a:r>
            <a:endParaRPr sz="3400" b="1">
              <a:solidFill>
                <a:srgbClr val="FFFFFF"/>
              </a:solidFill>
              <a:latin typeface="Microsoft YaHei U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85850" y="3429000"/>
            <a:ext cx="67208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E8F5"/>
                </a:solidFill>
                <a:latin typeface="微软雅黑" panose="020B0503020204020204" charset="-122"/>
              </a:rPr>
              <a:t>Tackling the Qubit Mapping Problem for NISQ-Era Quantum Devices</a:t>
            </a:r>
            <a:endParaRPr sz="1500" b="1">
              <a:solidFill>
                <a:srgbClr val="ECE8F5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73150" y="3904615"/>
            <a:ext cx="6263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DDEF"/>
                </a:solidFill>
                <a:latin typeface="微软雅黑" panose="020B0503020204020204" charset="-122"/>
              </a:rPr>
              <a:t>Gushu Li, Yufei Ding, Yuan Xie | arXiv:1809.02573</a:t>
            </a:r>
            <a:endParaRPr sz="1200" b="0">
              <a:solidFill>
                <a:srgbClr val="E5DDE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DDEF"/>
                </a:solidFill>
                <a:latin typeface="微软雅黑" panose="020B0503020204020204" charset="-122"/>
              </a:rPr>
              <a:t>量子计算研讨课 · 期末论文汇报</a:t>
            </a:r>
            <a:endParaRPr sz="1200" b="0">
              <a:solidFill>
                <a:srgbClr val="E5DDEF"/>
              </a:solidFill>
              <a:latin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42810" y="4590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汇报人：计</a:t>
            </a:r>
            <a:r>
              <a:rPr lang="en-US" altLang="zh-CN">
                <a:solidFill>
                  <a:schemeClr val="bg1"/>
                </a:solidFill>
              </a:rPr>
              <a:t>42</a:t>
            </a:r>
            <a:r>
              <a:rPr lang="zh-CN" altLang="en-US">
                <a:solidFill>
                  <a:schemeClr val="bg1"/>
                </a:solidFill>
              </a:rPr>
              <a:t>张芝源，计</a:t>
            </a:r>
            <a:r>
              <a:rPr lang="en-US" altLang="zh-CN">
                <a:solidFill>
                  <a:schemeClr val="bg1"/>
                </a:solidFill>
              </a:rPr>
              <a:t>42</a:t>
            </a:r>
            <a:r>
              <a:rPr lang="zh-CN" altLang="en-US">
                <a:solidFill>
                  <a:schemeClr val="bg1"/>
                </a:solidFill>
              </a:rPr>
              <a:t>陈家睦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F5F7FA"/>
                </a:solidFill>
                <a:latin typeface="Aptos"/>
              </a:rPr>
              <a:t>01 / 16</a:t>
            </a:r>
            <a:endParaRPr sz="800">
              <a:solidFill>
                <a:srgbClr val="F5F7FA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 rot="5400000">
            <a:off x="-1765935" y="1766570"/>
            <a:ext cx="6866255" cy="3333750"/>
          </a:xfrm>
          <a:prstGeom prst="rect">
            <a:avLst/>
          </a:prstGeom>
          <a:gradFill flip="none" rotWithShape="1">
            <a:gsLst>
              <a:gs pos="100000">
                <a:srgbClr val="8F1E65"/>
              </a:gs>
              <a:gs pos="90000">
                <a:srgbClr val="72156A"/>
              </a:gs>
              <a:gs pos="74000">
                <a:srgbClr val="580C6E"/>
              </a:gs>
              <a:gs pos="100000">
                <a:srgbClr val="AC2761"/>
              </a:gs>
            </a:gsLst>
            <a:lin ang="21594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cs typeface="+mn-cs"/>
            </a:endParaRP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09024" y="968641"/>
            <a:ext cx="1778001" cy="941665"/>
            <a:chOff x="509024" y="968641"/>
            <a:chExt cx="1778001" cy="941665"/>
          </a:xfrm>
        </p:grpSpPr>
        <p:sp>
          <p:nvSpPr>
            <p:cNvPr id="19" name="1"/>
            <p:cNvSpPr txBox="1"/>
            <p:nvPr/>
          </p:nvSpPr>
          <p:spPr>
            <a:xfrm>
              <a:off x="509024" y="968641"/>
              <a:ext cx="1778001" cy="670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2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di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13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目录</a:t>
              </a:r>
              <a:endParaRPr kumimoji="0" lang="zh-CN" altLang="en-US" sz="3200" b="0" i="0" u="none" strike="noStrike" kern="0" cap="none" spc="1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10600030101010101" pitchFamily="18" charset="-122"/>
                <a:ea typeface="思源宋体 CN Heavy" panose="02010600030101010101" pitchFamily="18" charset="-122"/>
              </a:endParaRPr>
            </a:p>
          </p:txBody>
        </p:sp>
        <p:sp>
          <p:nvSpPr>
            <p:cNvPr id="20" name="11"/>
            <p:cNvSpPr txBox="1"/>
            <p:nvPr/>
          </p:nvSpPr>
          <p:spPr>
            <a:xfrm>
              <a:off x="569509" y="1506524"/>
              <a:ext cx="1693632" cy="352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pc="13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marL="0" marR="0" lvl="0" indent="0" algn="di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13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阿里巴巴普惠体 R"/>
                </a:rPr>
                <a:t>CONTENT</a:t>
              </a:r>
              <a:endParaRPr kumimoji="0" lang="en-US" altLang="zh-CN" sz="1400" b="0" i="0" u="none" strike="noStrike" kern="0" cap="none" spc="13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阿里巴巴普惠体 R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76665" y="1859506"/>
              <a:ext cx="711200" cy="508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R"/>
                <a:cs typeface="+mn-cs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"/>
            </p:custDataLst>
          </p:nvPr>
        </p:nvGrpSpPr>
        <p:grpSpPr>
          <a:xfrm>
            <a:off x="4005386" y="2470426"/>
            <a:ext cx="8142641" cy="787523"/>
            <a:chOff x="3496116" y="992179"/>
            <a:chExt cx="8142641" cy="787523"/>
          </a:xfrm>
        </p:grpSpPr>
        <p:sp>
          <p:nvSpPr>
            <p:cNvPr id="37" name="1"/>
            <p:cNvSpPr txBox="1"/>
            <p:nvPr/>
          </p:nvSpPr>
          <p:spPr>
            <a:xfrm>
              <a:off x="3943350" y="992179"/>
              <a:ext cx="2208297" cy="50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30" normalizeH="0" baseline="0" noProof="0" dirty="0">
                <a:ln>
                  <a:noFill/>
                </a:ln>
                <a:solidFill>
                  <a:srgbClr val="580C6E"/>
                </a:solidFill>
                <a:effectLst/>
                <a:uLnTx/>
                <a:uFillTx/>
                <a:latin typeface="思源宋体 CN Medium"/>
                <a:ea typeface="思源宋体 CN Medium"/>
              </a:endParaRPr>
            </a:p>
          </p:txBody>
        </p:sp>
        <p:sp>
          <p:nvSpPr>
            <p:cNvPr id="39" name="11"/>
            <p:cNvSpPr txBox="1"/>
            <p:nvPr/>
          </p:nvSpPr>
          <p:spPr>
            <a:xfrm>
              <a:off x="5989865" y="992179"/>
              <a:ext cx="5648892" cy="787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pc="13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13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阿里巴巴普惠体 R"/>
              </a:endParaRPr>
            </a:p>
          </p:txBody>
        </p:sp>
        <p:sp>
          <p:nvSpPr>
            <p:cNvPr id="40" name="1"/>
            <p:cNvSpPr txBox="1"/>
            <p:nvPr/>
          </p:nvSpPr>
          <p:spPr>
            <a:xfrm>
              <a:off x="3981450" y="1386167"/>
              <a:ext cx="2208297" cy="309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13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</a:endParaRPr>
            </a:p>
          </p:txBody>
        </p:sp>
        <p:sp>
          <p:nvSpPr>
            <p:cNvPr id="41" name="等腰三角形 40"/>
            <p:cNvSpPr/>
            <p:nvPr>
              <p:custDataLst>
                <p:tags r:id="rId2"/>
              </p:custDataLst>
            </p:nvPr>
          </p:nvSpPr>
          <p:spPr>
            <a:xfrm rot="5400000">
              <a:off x="3479223" y="1147193"/>
              <a:ext cx="244941" cy="211156"/>
            </a:xfrm>
            <a:prstGeom prst="triangle">
              <a:avLst/>
            </a:prstGeom>
            <a:solidFill>
              <a:srgbClr val="580C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R"/>
                <a:cs typeface="+mn-cs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3"/>
              </p:custDataLst>
            </p:nvPr>
          </p:nvSpPr>
          <p:spPr>
            <a:xfrm>
              <a:off x="10807700" y="1728901"/>
              <a:ext cx="711200" cy="50800"/>
            </a:xfrm>
            <a:prstGeom prst="rect">
              <a:avLst/>
            </a:prstGeom>
            <a:solidFill>
              <a:srgbClr val="580C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R"/>
                <a:cs typeface="+mn-cs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4"/>
            </p:custDataLst>
          </p:nvPr>
        </p:nvGrpSpPr>
        <p:grpSpPr>
          <a:xfrm>
            <a:off x="4005386" y="3948673"/>
            <a:ext cx="8142641" cy="787523"/>
            <a:chOff x="3496116" y="992179"/>
            <a:chExt cx="8142641" cy="787523"/>
          </a:xfrm>
        </p:grpSpPr>
        <p:sp>
          <p:nvSpPr>
            <p:cNvPr id="44" name="1"/>
            <p:cNvSpPr txBox="1"/>
            <p:nvPr/>
          </p:nvSpPr>
          <p:spPr>
            <a:xfrm>
              <a:off x="3943350" y="992179"/>
              <a:ext cx="2208297" cy="50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30" normalizeH="0" baseline="0" noProof="0" dirty="0">
                <a:ln>
                  <a:noFill/>
                </a:ln>
                <a:solidFill>
                  <a:srgbClr val="580C6E"/>
                </a:solidFill>
                <a:effectLst/>
                <a:uLnTx/>
                <a:uFillTx/>
                <a:latin typeface="思源宋体 CN Medium"/>
                <a:ea typeface="思源宋体 CN Medium"/>
              </a:endParaRPr>
            </a:p>
          </p:txBody>
        </p:sp>
        <p:sp>
          <p:nvSpPr>
            <p:cNvPr id="45" name="11"/>
            <p:cNvSpPr txBox="1"/>
            <p:nvPr/>
          </p:nvSpPr>
          <p:spPr>
            <a:xfrm>
              <a:off x="5989865" y="992179"/>
              <a:ext cx="5648892" cy="787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pc="13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13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阿里巴巴普惠体 R"/>
              </a:endParaRPr>
            </a:p>
          </p:txBody>
        </p:sp>
        <p:sp>
          <p:nvSpPr>
            <p:cNvPr id="46" name="1"/>
            <p:cNvSpPr txBox="1"/>
            <p:nvPr/>
          </p:nvSpPr>
          <p:spPr>
            <a:xfrm>
              <a:off x="3981450" y="1386167"/>
              <a:ext cx="2208297" cy="309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13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</a:endParaRPr>
            </a:p>
          </p:txBody>
        </p:sp>
        <p:sp>
          <p:nvSpPr>
            <p:cNvPr id="47" name="等腰三角形 46"/>
            <p:cNvSpPr/>
            <p:nvPr>
              <p:custDataLst>
                <p:tags r:id="rId5"/>
              </p:custDataLst>
            </p:nvPr>
          </p:nvSpPr>
          <p:spPr>
            <a:xfrm rot="5400000">
              <a:off x="3479223" y="1147193"/>
              <a:ext cx="244941" cy="211156"/>
            </a:xfrm>
            <a:prstGeom prst="triangle">
              <a:avLst/>
            </a:prstGeom>
            <a:solidFill>
              <a:srgbClr val="580C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R"/>
                <a:cs typeface="+mn-cs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6"/>
              </p:custDataLst>
            </p:nvPr>
          </p:nvSpPr>
          <p:spPr>
            <a:xfrm>
              <a:off x="10807700" y="1728901"/>
              <a:ext cx="711200" cy="50800"/>
            </a:xfrm>
            <a:prstGeom prst="rect">
              <a:avLst/>
            </a:prstGeom>
            <a:solidFill>
              <a:srgbClr val="580C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R"/>
                <a:cs typeface="+mn-cs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74"/>
          <a:stretch>
            <a:fillRect/>
          </a:stretch>
        </p:blipFill>
        <p:spPr>
          <a:xfrm>
            <a:off x="-758169" y="3471206"/>
            <a:ext cx="4099825" cy="34290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3480435" y="1375410"/>
            <a:ext cx="8710930" cy="4040505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ounded Rectangle 57"/>
          <p:cNvSpPr/>
          <p:nvPr>
            <p:custDataLst>
              <p:tags r:id="rId9"/>
            </p:custDataLst>
          </p:nvPr>
        </p:nvSpPr>
        <p:spPr>
          <a:xfrm>
            <a:off x="3663950" y="1627632"/>
            <a:ext cx="7635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>
            <p:custDataLst>
              <p:tags r:id="rId10"/>
            </p:custDataLst>
          </p:nvPr>
        </p:nvSpPr>
        <p:spPr>
          <a:xfrm>
            <a:off x="3874262" y="1755648"/>
            <a:ext cx="320040" cy="320040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>
            <p:custDataLst>
              <p:tags r:id="rId11"/>
            </p:custDataLst>
          </p:nvPr>
        </p:nvSpPr>
        <p:spPr>
          <a:xfrm>
            <a:off x="3874262" y="1851660"/>
            <a:ext cx="32004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>
            <p:custDataLst>
              <p:tags r:id="rId12"/>
            </p:custDataLst>
          </p:nvPr>
        </p:nvSpPr>
        <p:spPr>
          <a:xfrm>
            <a:off x="4368038" y="1737360"/>
            <a:ext cx="132588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问题背景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>
            <p:custDataLst>
              <p:tags r:id="rId13"/>
            </p:custDataLst>
          </p:nvPr>
        </p:nvSpPr>
        <p:spPr>
          <a:xfrm>
            <a:off x="5648198" y="1764792"/>
            <a:ext cx="5257800" cy="2070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4262D"/>
                </a:solidFill>
                <a:latin typeface="微软雅黑" panose="020B0503020204020204" charset="-122"/>
              </a:rPr>
              <a:t>NISQ 硬件连接受限，理论线路不能直接落到芯片上</a:t>
            </a:r>
            <a:endParaRPr sz="11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>
            <p:custDataLst>
              <p:tags r:id="rId14"/>
            </p:custDataLst>
          </p:nvPr>
        </p:nvSpPr>
        <p:spPr>
          <a:xfrm>
            <a:off x="3663950" y="2414016"/>
            <a:ext cx="7635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>
            <p:custDataLst>
              <p:tags r:id="rId15"/>
            </p:custDataLst>
          </p:nvPr>
        </p:nvSpPr>
        <p:spPr>
          <a:xfrm>
            <a:off x="3874262" y="2542032"/>
            <a:ext cx="320040" cy="320040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>
            <p:custDataLst>
              <p:tags r:id="rId16"/>
            </p:custDataLst>
          </p:nvPr>
        </p:nvSpPr>
        <p:spPr>
          <a:xfrm>
            <a:off x="3874262" y="2638044"/>
            <a:ext cx="32004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>
            <p:custDataLst>
              <p:tags r:id="rId17"/>
            </p:custDataLst>
          </p:nvPr>
        </p:nvSpPr>
        <p:spPr>
          <a:xfrm>
            <a:off x="4368038" y="2523744"/>
            <a:ext cx="132588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Mapping 定义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>
            <p:custDataLst>
              <p:tags r:id="rId18"/>
            </p:custDataLst>
          </p:nvPr>
        </p:nvSpPr>
        <p:spPr>
          <a:xfrm>
            <a:off x="5648198" y="2551176"/>
            <a:ext cx="5257800" cy="2070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4262D"/>
                </a:solidFill>
                <a:latin typeface="微软雅黑" panose="020B0503020204020204" charset="-122"/>
              </a:rPr>
              <a:t>输入线路 + 耦合图，输出初始映射 + SWAP 序列</a:t>
            </a:r>
            <a:endParaRPr sz="11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>
            <p:custDataLst>
              <p:tags r:id="rId19"/>
            </p:custDataLst>
          </p:nvPr>
        </p:nvSpPr>
        <p:spPr>
          <a:xfrm>
            <a:off x="3663950" y="3200400"/>
            <a:ext cx="7635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>
            <p:custDataLst>
              <p:tags r:id="rId20"/>
            </p:custDataLst>
          </p:nvPr>
        </p:nvSpPr>
        <p:spPr>
          <a:xfrm>
            <a:off x="3874262" y="3328416"/>
            <a:ext cx="320040" cy="320040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>
            <p:custDataLst>
              <p:tags r:id="rId21"/>
            </p:custDataLst>
          </p:nvPr>
        </p:nvSpPr>
        <p:spPr>
          <a:xfrm>
            <a:off x="3874262" y="3424428"/>
            <a:ext cx="32004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>
            <p:custDataLst>
              <p:tags r:id="rId22"/>
            </p:custDataLst>
          </p:nvPr>
        </p:nvSpPr>
        <p:spPr>
          <a:xfrm>
            <a:off x="4368038" y="3310128"/>
            <a:ext cx="132588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困难来源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>
            <p:custDataLst>
              <p:tags r:id="rId23"/>
            </p:custDataLst>
          </p:nvPr>
        </p:nvSpPr>
        <p:spPr>
          <a:xfrm>
            <a:off x="5648198" y="3337560"/>
            <a:ext cx="5257800" cy="2070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4262D"/>
                </a:solidFill>
                <a:latin typeface="微软雅黑" panose="020B0503020204020204" charset="-122"/>
              </a:rPr>
              <a:t>搜索空间巨大、初始映射敏感、门数与深度冲突</a:t>
            </a:r>
            <a:endParaRPr sz="11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>
            <p:custDataLst>
              <p:tags r:id="rId24"/>
            </p:custDataLst>
          </p:nvPr>
        </p:nvSpPr>
        <p:spPr>
          <a:xfrm>
            <a:off x="3663950" y="3986784"/>
            <a:ext cx="7635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>
            <p:custDataLst>
              <p:tags r:id="rId25"/>
            </p:custDataLst>
          </p:nvPr>
        </p:nvSpPr>
        <p:spPr>
          <a:xfrm>
            <a:off x="3874262" y="4114800"/>
            <a:ext cx="320040" cy="320040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>
            <p:custDataLst>
              <p:tags r:id="rId26"/>
            </p:custDataLst>
          </p:nvPr>
        </p:nvSpPr>
        <p:spPr>
          <a:xfrm>
            <a:off x="3874262" y="4210812"/>
            <a:ext cx="32004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>
            <p:custDataLst>
              <p:tags r:id="rId27"/>
            </p:custDataLst>
          </p:nvPr>
        </p:nvSpPr>
        <p:spPr>
          <a:xfrm>
            <a:off x="4368038" y="4096512"/>
            <a:ext cx="132588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SABRE 方法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>
            <p:custDataLst>
              <p:tags r:id="rId28"/>
            </p:custDataLst>
          </p:nvPr>
        </p:nvSpPr>
        <p:spPr>
          <a:xfrm>
            <a:off x="5648198" y="4123944"/>
            <a:ext cx="5257800" cy="2070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4262D"/>
                </a:solidFill>
                <a:latin typeface="微软雅黑" panose="020B0503020204020204" charset="-122"/>
              </a:rPr>
              <a:t>Front layer、启发式代价、Reverse traversal、Decay</a:t>
            </a:r>
            <a:endParaRPr sz="11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>
            <p:custDataLst>
              <p:tags r:id="rId29"/>
            </p:custDataLst>
          </p:nvPr>
        </p:nvSpPr>
        <p:spPr>
          <a:xfrm>
            <a:off x="3663950" y="4773168"/>
            <a:ext cx="7635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>
            <p:custDataLst>
              <p:tags r:id="rId30"/>
            </p:custDataLst>
          </p:nvPr>
        </p:nvSpPr>
        <p:spPr>
          <a:xfrm>
            <a:off x="3874262" y="4901183"/>
            <a:ext cx="320040" cy="320040"/>
          </a:xfrm>
          <a:prstGeom prst="ellipse">
            <a:avLst/>
          </a:prstGeom>
          <a:solidFill>
            <a:srgbClr val="008491"/>
          </a:solidFill>
          <a:ln w="1651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>
            <p:custDataLst>
              <p:tags r:id="rId31"/>
            </p:custDataLst>
          </p:nvPr>
        </p:nvSpPr>
        <p:spPr>
          <a:xfrm>
            <a:off x="3874262" y="4997196"/>
            <a:ext cx="32004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>
            <p:custDataLst>
              <p:tags r:id="rId32"/>
            </p:custDataLst>
          </p:nvPr>
        </p:nvSpPr>
        <p:spPr>
          <a:xfrm>
            <a:off x="4368038" y="4882896"/>
            <a:ext cx="132588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实验与评价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>
            <p:custDataLst>
              <p:tags r:id="rId33"/>
            </p:custDataLst>
          </p:nvPr>
        </p:nvSpPr>
        <p:spPr>
          <a:xfrm>
            <a:off x="5648198" y="4910328"/>
            <a:ext cx="5257800" cy="2070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4262D"/>
                </a:solidFill>
                <a:latin typeface="微软雅黑" panose="020B0503020204020204" charset="-122"/>
              </a:rPr>
              <a:t>IBM Q20 Tokyo benchmark 结果、局限与</a:t>
            </a:r>
            <a:r>
              <a:rPr lang="zh-CN" sz="1120" b="0">
                <a:solidFill>
                  <a:srgbClr val="24262D"/>
                </a:solidFill>
                <a:latin typeface="微软雅黑" panose="020B0503020204020204" charset="-122"/>
              </a:rPr>
              <a:t>总结</a:t>
            </a:r>
            <a:endParaRPr lang="zh-CN" sz="11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83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02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真实量子芯片不是全连接：mapping 问题的根源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理论线路默认任意两个 logical qubit 可做双比特门；真实 NISQ 芯片只允许耦合图上相邻的 physical qubit 直接交互。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70230" y="1938655"/>
            <a:ext cx="3876040" cy="3169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2415" y="2212848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01256"/>
                </a:solidFill>
                <a:latin typeface="微软雅黑" panose="020B0503020204020204" charset="-122"/>
              </a:rPr>
              <a:t>IBM Q20 Tokyo 耦合图示意</a:t>
            </a:r>
            <a:endParaRPr sz="12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1288161" y="2815209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890933" y="2815209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493705" y="2815209"/>
            <a:ext cx="602773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096478" y="2815209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288161" y="3352053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890933" y="3352053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493705" y="3352053"/>
            <a:ext cx="602773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096478" y="3352053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288161" y="3888897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890933" y="3888897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493705" y="3888897"/>
            <a:ext cx="602773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096478" y="3888897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288161" y="4425741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890933" y="4425741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493705" y="4425741"/>
            <a:ext cx="602773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096478" y="4425741"/>
            <a:ext cx="602772" cy="0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288161" y="2815209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890933" y="2815209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493705" y="2815209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096478" y="2815209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699250" y="2815209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288161" y="3352053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890933" y="3352053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493705" y="3352053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096478" y="3352053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699250" y="3352053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288161" y="3888897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890933" y="3888897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493705" y="3888897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096478" y="3888897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699250" y="3888897"/>
            <a:ext cx="0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288161" y="2815209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890933" y="2815209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096478" y="2815209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288161" y="3352053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096478" y="3352053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288161" y="3888897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096478" y="3888897"/>
            <a:ext cx="602772" cy="536844"/>
          </a:xfrm>
          <a:prstGeom prst="line">
            <a:avLst/>
          </a:prstGeom>
          <a:ln w="11430">
            <a:solidFill>
              <a:srgbClr val="ABB5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1170432" y="2697480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70432" y="2768117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Q0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1773204" y="2697480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773204" y="2768117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2375976" y="2697480"/>
            <a:ext cx="235458" cy="23545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375976" y="2768117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微软雅黑" panose="020B0503020204020204" charset="-122"/>
              </a:rPr>
              <a:t>Q2</a:t>
            </a:r>
            <a:endParaRPr sz="6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2978749" y="2697480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78749" y="2768117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Q3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3581521" y="2697480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581521" y="2768117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Q4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1170432" y="3234324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70432" y="3304961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Q5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1773204" y="3234324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773204" y="3304961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Q6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2375976" y="3234324"/>
            <a:ext cx="235458" cy="23545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375976" y="3304961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微软雅黑" panose="020B0503020204020204" charset="-122"/>
              </a:rPr>
              <a:t>Q7</a:t>
            </a:r>
            <a:endParaRPr sz="6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2978749" y="3234324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978749" y="3304961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Q8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3581521" y="3234324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581521" y="3304961"/>
            <a:ext cx="235458" cy="9418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Q9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1170432" y="3771168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22680" y="3841750"/>
            <a:ext cx="33147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Q10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1773204" y="3771168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732915" y="3841750"/>
            <a:ext cx="30099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Q11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2375976" y="3771168"/>
            <a:ext cx="235458" cy="23545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355850" y="3841750"/>
            <a:ext cx="27559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微软雅黑" panose="020B0503020204020204" charset="-122"/>
              </a:rPr>
              <a:t>Q12</a:t>
            </a:r>
            <a:endParaRPr sz="6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2978749" y="3771168"/>
            <a:ext cx="235458" cy="23545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68625" y="3841750"/>
            <a:ext cx="25908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微软雅黑" panose="020B0503020204020204" charset="-122"/>
              </a:rPr>
              <a:t>Q13</a:t>
            </a:r>
            <a:endParaRPr sz="6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3581521" y="3771168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540760" y="3841750"/>
            <a:ext cx="327025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Q14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1170432" y="430801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24585" y="4378960"/>
            <a:ext cx="342265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Q15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1773204" y="430801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762760" y="4378960"/>
            <a:ext cx="26162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Q16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2375976" y="430801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335530" y="4378960"/>
            <a:ext cx="311785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Q17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2978749" y="430801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948305" y="4378960"/>
            <a:ext cx="295910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Q18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3581521" y="4308012"/>
            <a:ext cx="235458" cy="2354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561080" y="4378960"/>
            <a:ext cx="286385" cy="939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301256"/>
                </a:solidFill>
                <a:latin typeface="微软雅黑" panose="020B0503020204020204" charset="-122"/>
              </a:rPr>
              <a:t>Q19</a:t>
            </a:r>
            <a:endParaRPr sz="64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73" name="Rounded Rectangle 172"/>
          <p:cNvSpPr/>
          <p:nvPr/>
        </p:nvSpPr>
        <p:spPr>
          <a:xfrm>
            <a:off x="5833872" y="2221992"/>
            <a:ext cx="141732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943600" y="2395728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01256"/>
                </a:solidFill>
                <a:latin typeface="微软雅黑" panose="020B0503020204020204" charset="-122"/>
              </a:rPr>
              <a:t>连接有限</a:t>
            </a:r>
            <a:endParaRPr sz="13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7543800" y="2221992"/>
            <a:ext cx="141732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653527" y="2395728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01256"/>
                </a:solidFill>
                <a:latin typeface="微软雅黑" panose="020B0503020204020204" charset="-122"/>
              </a:rPr>
              <a:t>门有噪声</a:t>
            </a:r>
            <a:endParaRPr sz="13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77" name="Rounded Rectangle 176"/>
          <p:cNvSpPr/>
          <p:nvPr/>
        </p:nvSpPr>
        <p:spPr>
          <a:xfrm>
            <a:off x="9253728" y="2221992"/>
            <a:ext cx="141732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363455" y="2395728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01256"/>
                </a:solidFill>
                <a:latin typeface="微软雅黑" panose="020B0503020204020204" charset="-122"/>
              </a:rPr>
              <a:t>时间有限</a:t>
            </a:r>
            <a:endParaRPr sz="13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5944235" y="2780030"/>
            <a:ext cx="1236345" cy="458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5E606A"/>
                </a:solidFill>
                <a:latin typeface="微软雅黑" panose="020B0503020204020204" charset="-122"/>
              </a:rPr>
              <a:t>不是任意两点都有边；CNOT 只能沿耦合边执行。</a:t>
            </a:r>
            <a:endParaRPr sz="92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7635240" y="2779776"/>
            <a:ext cx="12344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5E606A"/>
                </a:solidFill>
                <a:latin typeface="微软雅黑" panose="020B0503020204020204" charset="-122"/>
              </a:rPr>
              <a:t>双比特门错误率通常更高，额外 SWAP 会累积误差。</a:t>
            </a:r>
            <a:endParaRPr sz="92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354312" y="2834640"/>
            <a:ext cx="111556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5E606A"/>
                </a:solidFill>
                <a:latin typeface="微软雅黑" panose="020B0503020204020204" charset="-122"/>
              </a:rPr>
              <a:t>线路越深，越容易受退相干影响。</a:t>
            </a:r>
            <a:endParaRPr sz="92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5833872" y="3730752"/>
            <a:ext cx="4828032" cy="960120"/>
          </a:xfrm>
          <a:prstGeom prst="round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108192" y="4014215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Mapping 不是“格式转换”，而是直接影响保真度的编译优化。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真实量子芯片是一张稀疏耦合图，不是所有 qubit 都能直接做双比特门。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6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03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49300" y="1244600"/>
            <a:ext cx="10414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Qubit mapping = </a:t>
            </a:r>
            <a:r>
              <a:rPr lang="zh-CN" altLang="en-US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初始放置 </a:t>
            </a:r>
            <a:r>
              <a:rPr lang="en-US" altLang="zh-CN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+ </a:t>
            </a:r>
            <a:r>
              <a:rPr lang="zh-CN" altLang="en-US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中途换位</a:t>
            </a:r>
            <a:endParaRPr lang="zh-CN" altLang="en-US" sz="210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87400" y="1676400"/>
            <a:ext cx="10033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输入量子线路与硬件耦合图，输出满足连接约束的可执行线路；核心代价来自额外 </a:t>
            </a:r>
            <a:r>
              <a:rPr lang="en-US" altLang="zh-CN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SWAP</a:t>
            </a:r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11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393700" y="1923415"/>
            <a:ext cx="32766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4076700" y="1923415"/>
            <a:ext cx="30226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/>
          <p:cNvSpPr/>
          <p:nvPr/>
        </p:nvSpPr>
        <p:spPr>
          <a:xfrm>
            <a:off x="7823200" y="1923415"/>
            <a:ext cx="3810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723900" y="2253615"/>
            <a:ext cx="266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输入 </a:t>
            </a:r>
            <a:r>
              <a:rPr lang="en-US" altLang="zh-CN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：量子线路</a:t>
            </a:r>
            <a:endParaRPr lang="zh-CN" altLang="en-US" sz="130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406900" y="2253615"/>
            <a:ext cx="2362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输入 </a:t>
            </a:r>
            <a:r>
              <a:rPr lang="en-US" altLang="zh-CN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B</a:t>
            </a:r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：耦合图</a:t>
            </a:r>
            <a:endParaRPr lang="zh-CN" altLang="en-US" sz="130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216900" y="2253615"/>
            <a:ext cx="302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输出：硬件可执行线路</a:t>
            </a:r>
            <a:endParaRPr lang="zh-CN" altLang="en-US" sz="130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7400" y="3129915"/>
            <a:ext cx="330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q0</a:t>
            </a:r>
            <a:endParaRPr lang="zh-CN" altLang="en-US" sz="85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1219200" y="3193415"/>
            <a:ext cx="19812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787400" y="3701415"/>
            <a:ext cx="330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q1</a:t>
            </a:r>
            <a:endParaRPr lang="zh-CN" altLang="en-US" sz="85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1219200" y="3764915"/>
            <a:ext cx="19812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787400" y="4272915"/>
            <a:ext cx="330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q2</a:t>
            </a:r>
            <a:endParaRPr lang="zh-CN" altLang="en-US" sz="85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79" name="直接连接符 78"/>
          <p:cNvCxnSpPr/>
          <p:nvPr/>
        </p:nvCxnSpPr>
        <p:spPr>
          <a:xfrm>
            <a:off x="1219200" y="4336415"/>
            <a:ext cx="19812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2286000" y="3193415"/>
            <a:ext cx="0" cy="1143000"/>
          </a:xfrm>
          <a:prstGeom prst="line">
            <a:avLst/>
          </a:prstGeom>
          <a:ln w="2159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/>
          <p:cNvSpPr/>
          <p:nvPr/>
        </p:nvSpPr>
        <p:spPr>
          <a:xfrm>
            <a:off x="2197100" y="3104515"/>
            <a:ext cx="177800" cy="177800"/>
          </a:xfrm>
          <a:prstGeom prst="ellipse">
            <a:avLst/>
          </a:prstGeom>
          <a:solidFill>
            <a:srgbClr val="660066"/>
          </a:solidFill>
          <a:ln w="19050">
            <a:solidFill>
              <a:srgbClr val="66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2159000" y="4209415"/>
            <a:ext cx="254000" cy="25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>
            <a:off x="2184400" y="4336415"/>
            <a:ext cx="203200" cy="0"/>
          </a:xfrm>
          <a:prstGeom prst="line">
            <a:avLst/>
          </a:prstGeom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2286000" y="4234815"/>
            <a:ext cx="0" cy="203200"/>
          </a:xfrm>
          <a:prstGeom prst="line">
            <a:avLst/>
          </a:prstGeom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1397000" y="4628515"/>
            <a:ext cx="2032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逻辑线路中可出现远距离双比特门</a:t>
            </a:r>
            <a:endParaRPr lang="zh-CN" altLang="en-US" sz="85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4940300" y="3383915"/>
            <a:ext cx="127000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4940300" y="3383915"/>
            <a:ext cx="635000" cy="101600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5575300" y="3383915"/>
            <a:ext cx="635000" cy="101600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/>
          <p:cNvSpPr/>
          <p:nvPr/>
        </p:nvSpPr>
        <p:spPr>
          <a:xfrm>
            <a:off x="4737100" y="3180715"/>
            <a:ext cx="406400" cy="406400"/>
          </a:xfrm>
          <a:prstGeom prst="ellipse">
            <a:avLst/>
          </a:prstGeom>
          <a:solidFill>
            <a:srgbClr val="EEFBFA"/>
          </a:solidFill>
          <a:ln w="1905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4737100" y="3320415"/>
            <a:ext cx="4064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P0</a:t>
            </a:r>
            <a:endParaRPr lang="zh-CN" altLang="en-US" sz="85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6007100" y="3180715"/>
            <a:ext cx="406400" cy="406400"/>
          </a:xfrm>
          <a:prstGeom prst="ellipse">
            <a:avLst/>
          </a:prstGeom>
          <a:solidFill>
            <a:srgbClr val="EEFBFA"/>
          </a:solidFill>
          <a:ln w="1905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6007100" y="3320415"/>
            <a:ext cx="4064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P1</a:t>
            </a:r>
            <a:endParaRPr lang="zh-CN" altLang="en-US" sz="85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5372100" y="4196715"/>
            <a:ext cx="406400" cy="406400"/>
          </a:xfrm>
          <a:prstGeom prst="ellipse">
            <a:avLst/>
          </a:prstGeom>
          <a:solidFill>
            <a:srgbClr val="EEFBFA"/>
          </a:solidFill>
          <a:ln w="1905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5372100" y="4336415"/>
            <a:ext cx="4064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P2</a:t>
            </a:r>
            <a:endParaRPr lang="zh-CN" altLang="en-US" sz="85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584700" y="4780915"/>
            <a:ext cx="2006600" cy="2585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4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只有耦合边相连的物理比特可直接做双比特门</a:t>
            </a:r>
            <a:endParaRPr lang="zh-CN" altLang="en-US" sz="84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343900" y="3053715"/>
            <a:ext cx="609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P0(q0)</a:t>
            </a:r>
            <a:endParaRPr lang="zh-CN" altLang="en-US" sz="80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9055100" y="3117215"/>
            <a:ext cx="18796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8343900" y="3536315"/>
            <a:ext cx="609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P1(q1)</a:t>
            </a:r>
            <a:endParaRPr lang="zh-CN" altLang="en-US" sz="80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9055100" y="3599815"/>
            <a:ext cx="18796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8343900" y="4018915"/>
            <a:ext cx="609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P2(q2)</a:t>
            </a:r>
            <a:endParaRPr lang="zh-CN" altLang="en-US" sz="800" b="1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9055100" y="4082415"/>
            <a:ext cx="1879600" cy="0"/>
          </a:xfrm>
          <a:prstGeom prst="line">
            <a:avLst/>
          </a:prstGeom>
          <a:ln w="12700">
            <a:solidFill>
              <a:srgbClr val="878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9525000" y="3599815"/>
            <a:ext cx="0" cy="482600"/>
          </a:xfrm>
          <a:prstGeom prst="line">
            <a:avLst/>
          </a:prstGeom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9448800" y="3523615"/>
            <a:ext cx="152400" cy="152400"/>
          </a:xfrm>
          <a:prstGeom prst="line">
            <a:avLst/>
          </a:prstGeom>
          <a:ln w="2032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9448800" y="3523615"/>
            <a:ext cx="152400" cy="152400"/>
          </a:xfrm>
          <a:prstGeom prst="line">
            <a:avLst/>
          </a:prstGeom>
          <a:ln w="2032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9448800" y="4006215"/>
            <a:ext cx="152400" cy="152400"/>
          </a:xfrm>
          <a:prstGeom prst="line">
            <a:avLst/>
          </a:prstGeom>
          <a:ln w="2032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V="1">
            <a:off x="9448800" y="4006215"/>
            <a:ext cx="152400" cy="152400"/>
          </a:xfrm>
          <a:prstGeom prst="line">
            <a:avLst/>
          </a:prstGeom>
          <a:ln w="2032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10325100" y="3117215"/>
            <a:ext cx="0" cy="482600"/>
          </a:xfrm>
          <a:prstGeom prst="line">
            <a:avLst/>
          </a:prstGeom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/>
          <p:cNvSpPr/>
          <p:nvPr/>
        </p:nvSpPr>
        <p:spPr>
          <a:xfrm>
            <a:off x="10248900" y="3041015"/>
            <a:ext cx="152400" cy="152400"/>
          </a:xfrm>
          <a:prstGeom prst="ellipse">
            <a:avLst/>
          </a:prstGeom>
          <a:solidFill>
            <a:srgbClr val="660066"/>
          </a:solidFill>
          <a:ln w="19050">
            <a:solidFill>
              <a:srgbClr val="66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10210800" y="3485515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/>
          <p:nvPr/>
        </p:nvCxnSpPr>
        <p:spPr>
          <a:xfrm>
            <a:off x="10236200" y="3599815"/>
            <a:ext cx="177800" cy="0"/>
          </a:xfrm>
          <a:prstGeom prst="line">
            <a:avLst/>
          </a:prstGeom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10325100" y="3510915"/>
            <a:ext cx="0" cy="177800"/>
          </a:xfrm>
          <a:prstGeom prst="line">
            <a:avLst/>
          </a:prstGeom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8953500" y="4463415"/>
            <a:ext cx="1968500" cy="2554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3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SWAP </a:t>
            </a:r>
            <a:r>
              <a:rPr lang="zh-CN" altLang="en-US" sz="83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后，原本不相邻的逻辑门可在耦合边上执行</a:t>
            </a:r>
            <a:endParaRPr lang="zh-CN" altLang="en-US" sz="83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16" name="直接连接符 115"/>
          <p:cNvCxnSpPr/>
          <p:nvPr/>
        </p:nvCxnSpPr>
        <p:spPr>
          <a:xfrm>
            <a:off x="3733800" y="3828415"/>
            <a:ext cx="279400" cy="0"/>
          </a:xfrm>
          <a:prstGeom prst="line">
            <a:avLst/>
          </a:prstGeom>
          <a:ln w="2540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3581400" y="4006215"/>
            <a:ext cx="6096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8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mapping</a:t>
            </a:r>
            <a:endParaRPr lang="zh-CN" altLang="en-US" sz="78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18" name="直接连接符 117"/>
          <p:cNvCxnSpPr/>
          <p:nvPr/>
        </p:nvCxnSpPr>
        <p:spPr>
          <a:xfrm>
            <a:off x="7175500" y="3828415"/>
            <a:ext cx="558800" cy="0"/>
          </a:xfrm>
          <a:prstGeom prst="line">
            <a:avLst/>
          </a:prstGeom>
          <a:ln w="2540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7213600" y="4006215"/>
            <a:ext cx="5334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4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insert
SWAP</a:t>
            </a:r>
            <a:endParaRPr lang="zh-CN" altLang="en-US" sz="74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1752600" y="6045200"/>
            <a:ext cx="7772400" cy="431800"/>
          </a:xfrm>
          <a:prstGeom prst="roundRect">
            <a:avLst/>
          </a:prstGeom>
          <a:solidFill>
            <a:srgbClr val="FFFAEE"/>
          </a:solidFill>
          <a:ln w="12700">
            <a:solidFill>
              <a:srgbClr val="EECD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2044700" y="6184900"/>
            <a:ext cx="71882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mapping </a:t>
            </a:r>
            <a:r>
              <a:rPr lang="zh-CN" altLang="en-US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的输出包括初始映射 </a:t>
            </a:r>
            <a:r>
              <a:rPr lang="en-US" altLang="zh-CN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π </a:t>
            </a:r>
            <a:r>
              <a:rPr lang="zh-CN" altLang="en-US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和 </a:t>
            </a:r>
            <a:r>
              <a:rPr lang="en-US" altLang="zh-CN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SWAP </a:t>
            </a:r>
            <a:r>
              <a:rPr lang="zh-CN" altLang="en-US" sz="10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序列，本质是量子编译优化问题。</a:t>
            </a:r>
            <a:endParaRPr lang="zh-CN" altLang="en-US" sz="1050" b="1">
              <a:solidFill>
                <a:srgbClr val="EC912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2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04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难点不是“会不会插 SWAP”，而是“插在哪里、插哪个”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一个局部看起来最短的交换，可能把后面大量门推到更差的位置；全局搜索又会遇到指数级映射空间。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68680" y="214884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1560" y="2331720"/>
            <a:ext cx="2176272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4C1984"/>
                </a:solidFill>
                <a:latin typeface="微软雅黑" panose="020B0503020204020204" charset="-122"/>
              </a:rPr>
              <a:t>n!</a:t>
            </a:r>
            <a:endParaRPr sz="300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24712" y="2944368"/>
            <a:ext cx="20574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搜索空间爆炸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7280" y="3401568"/>
            <a:ext cx="2148840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n 个 logical qubit 到 physical qubit 的排列组合随 n 急剧增长；论文指出该问题 NP-Complete。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744720" y="2153285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27600" y="2336165"/>
            <a:ext cx="2176272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8491"/>
                </a:solidFill>
                <a:latin typeface="微软雅黑" panose="020B0503020204020204" charset="-122"/>
              </a:rPr>
              <a:t>π0</a:t>
            </a:r>
            <a:endParaRPr sz="300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000752" y="2948813"/>
            <a:ext cx="20574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初始映射敏感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973320" y="3406013"/>
            <a:ext cx="2148840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一开始放错位置，后面可能连续插 SWAP 补救；好的初始布局能显著减少开销。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8437880" y="2153285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20759" y="2336165"/>
            <a:ext cx="2176272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A62A47"/>
                </a:solidFill>
                <a:latin typeface="微软雅黑" panose="020B0503020204020204" charset="-122"/>
              </a:rPr>
              <a:t>G vs D</a:t>
            </a:r>
            <a:endParaRPr sz="3000" b="1">
              <a:solidFill>
                <a:srgbClr val="A62A47"/>
              </a:solidFill>
              <a:latin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693911" y="2948813"/>
            <a:ext cx="20574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01256"/>
                </a:solidFill>
                <a:latin typeface="微软雅黑" panose="020B0503020204020204" charset="-122"/>
              </a:rPr>
              <a:t>优化目标冲突</a:t>
            </a:r>
            <a:endParaRPr sz="14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666480" y="3406013"/>
            <a:ext cx="2148840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门数少不一定深度低；若想并行执行 SWAP，可能需要接受略多操作。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143000" y="4754880"/>
            <a:ext cx="9052560" cy="548640"/>
          </a:xfrm>
          <a:prstGeom prst="roundRect">
            <a:avLst/>
          </a:prstGeom>
          <a:solidFill>
            <a:srgbClr val="E1F6F7"/>
          </a:solidFill>
          <a:ln w="12700">
            <a:solidFill>
              <a:srgbClr val="E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17320" y="4919472"/>
            <a:ext cx="8503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08491"/>
                </a:solidFill>
                <a:latin typeface="微软雅黑" panose="020B0503020204020204" charset="-122"/>
              </a:rPr>
              <a:t>论文策略：不穷举所有 mapping，而是在每一步只评估“当前相关”的候选 SWAP。</a:t>
            </a:r>
            <a:endParaRPr sz="125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局部最短 SWAP 不一定带来全局低开销，因此需要启发式 look-ahead。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9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05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SABRE 的核心转向：从 mapping 搜索到 SWAP 搜索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SABRE = SWAP-based BidiREctional heuristic search。它每轮选择一个低代价 SWAP，逐步把线路变成硬件可执行。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537970" y="2240280"/>
            <a:ext cx="2560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498090" y="2514600"/>
            <a:ext cx="475488" cy="47548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98090" y="2657246"/>
            <a:ext cx="475488" cy="1901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720850" y="3218688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临时正向遍历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739138" y="3694176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4262D"/>
                </a:solidFill>
                <a:latin typeface="微软雅黑" panose="020B0503020204020204" charset="-122"/>
              </a:rPr>
              <a:t>从随机/简单 π0 出发，生成一条可行路径并得到最终映射 πf。</a:t>
            </a:r>
            <a:endParaRPr sz="100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4171441" y="3383280"/>
            <a:ext cx="457200" cy="0"/>
          </a:xfrm>
          <a:prstGeom prst="line">
            <a:avLst/>
          </a:prstGeom>
          <a:ln w="25400">
            <a:solidFill>
              <a:srgbClr val="4C1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784090" y="2240280"/>
            <a:ext cx="2560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744209" y="2514600"/>
            <a:ext cx="475488" cy="475488"/>
          </a:xfrm>
          <a:prstGeom prst="ellipse">
            <a:avLst/>
          </a:prstGeom>
          <a:solidFill>
            <a:srgbClr val="008491"/>
          </a:solidFill>
          <a:ln w="1651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44209" y="2657246"/>
            <a:ext cx="475488" cy="1901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966970" y="3218688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反向遍历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985257" y="3694176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4262D"/>
                </a:solidFill>
                <a:latin typeface="微软雅黑" panose="020B0503020204020204" charset="-122"/>
              </a:rPr>
              <a:t>倒序分析双比特门，用 πf 作为起点，反推出更适合开头的 πr。</a:t>
            </a:r>
            <a:endParaRPr sz="100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7417562" y="3383280"/>
            <a:ext cx="457200" cy="0"/>
          </a:xfrm>
          <a:prstGeom prst="line">
            <a:avLst/>
          </a:prstGeom>
          <a:ln w="25400">
            <a:solidFill>
              <a:srgbClr val="4C1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8030210" y="2240280"/>
            <a:ext cx="25603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90330" y="2514600"/>
            <a:ext cx="475488" cy="47548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90330" y="2657246"/>
            <a:ext cx="475488" cy="1901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13090" y="3218688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最终正向遍历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231378" y="3694176"/>
            <a:ext cx="215798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4262D"/>
                </a:solidFill>
                <a:latin typeface="微软雅黑" panose="020B0503020204020204" charset="-122"/>
              </a:rPr>
              <a:t>用 πr 作为初始映射，输出最终可执行线路和 SWAP 序列。</a:t>
            </a:r>
            <a:endParaRPr sz="100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1784858" y="4892040"/>
            <a:ext cx="8641080" cy="475488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95170" y="5029200"/>
            <a:ext cx="8183879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70" b="1">
                <a:solidFill>
                  <a:srgbClr val="24262D"/>
                </a:solidFill>
                <a:latin typeface="微软雅黑" panose="020B0503020204020204" charset="-122"/>
              </a:rPr>
              <a:t>贯穿三步的局部决策：Front layer 找当前门，Heuristic 选 SWAP，Decay 控制深度。</a:t>
            </a:r>
            <a:endParaRPr sz="1170" b="1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SABRE 把全局 mapping 搜索拆成正向、反向、最终正向三次可扩展遍历。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4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06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9300" y="12446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2000" b="1">
                <a:solidFill>
                  <a:srgbClr val="30153B"/>
                </a:solidFill>
                <a:latin typeface="微软雅黑" panose="020B0503020204020204" charset="-122"/>
              </a:rPr>
              <a:t>复杂度分析：指数级 mapping 搜索 vs 可扩展 SWAP 搜索</a:t>
            </a:r>
            <a:endParaRPr sz="2000" b="1">
              <a:solidFill>
                <a:srgbClr val="30153B"/>
              </a:solidFill>
              <a:latin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7400" y="1676400"/>
            <a:ext cx="10033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900">
                <a:solidFill>
                  <a:srgbClr val="5C505F"/>
                </a:solidFill>
                <a:latin typeface="微软雅黑" panose="020B0503020204020204" charset="-122"/>
              </a:rPr>
              <a:t>传统方法在完整 mapping 状态空间中搜索；SABRE 每步只评估 front layer 相关的候选 SWAP。</a:t>
            </a:r>
            <a:endParaRPr sz="900">
              <a:solidFill>
                <a:srgbClr val="5C505F"/>
              </a:solidFill>
              <a:latin typeface="微软雅黑" panose="020B050302020402020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944880" y="1898015"/>
            <a:ext cx="48260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6583680" y="1898015"/>
            <a:ext cx="48260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313180" y="2228215"/>
            <a:ext cx="406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传统 </a:t>
            </a:r>
            <a:r>
              <a:rPr lang="en-US" altLang="zh-CN" sz="140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mapping </a:t>
            </a:r>
            <a:r>
              <a:rPr lang="zh-CN" altLang="en-US" sz="140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搜索：状态空间爆炸</a:t>
            </a:r>
            <a:endParaRPr lang="zh-CN" altLang="en-US" sz="1400" b="1">
              <a:solidFill>
                <a:srgbClr val="C2355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64680" y="2228215"/>
            <a:ext cx="4064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1400" b="1">
                <a:solidFill>
                  <a:srgbClr val="008080"/>
                </a:solidFill>
                <a:latin typeface="微软雅黑" panose="020B0503020204020204" charset="-122"/>
              </a:rPr>
              <a:t>SABRE SWAP 搜索</a:t>
            </a:r>
            <a:r>
              <a:rPr sz="1400" b="1">
                <a:solidFill>
                  <a:srgbClr val="008080"/>
                </a:solidFill>
                <a:latin typeface="微软雅黑" panose="020B0503020204020204" charset="-122"/>
              </a:rPr>
              <a:t>：局部候选选择</a:t>
            </a:r>
            <a:endParaRPr sz="1400" b="1">
              <a:solidFill>
                <a:srgbClr val="008080"/>
              </a:solidFill>
              <a:latin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76780" y="2609215"/>
            <a:ext cx="2349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O(e^N)</a:t>
            </a:r>
            <a:endParaRPr lang="zh-CN" altLang="en-US" sz="2800" b="1">
              <a:solidFill>
                <a:srgbClr val="C2355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519035" y="2609215"/>
            <a:ext cx="3361055" cy="368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2400" b="1">
                <a:solidFill>
                  <a:srgbClr val="008983"/>
                </a:solidFill>
                <a:latin typeface="微软雅黑" panose="020B0503020204020204" charset="-122"/>
              </a:rPr>
              <a:t>O(N^2.5) </a:t>
            </a:r>
            <a:r>
              <a:rPr lang="en-US" sz="2400" b="1">
                <a:solidFill>
                  <a:srgbClr val="008983"/>
                </a:solidFill>
                <a:latin typeface="微软雅黑" panose="020B0503020204020204" charset="-122"/>
              </a:rPr>
              <a:t>per</a:t>
            </a:r>
            <a:r>
              <a:rPr sz="2400" b="1">
                <a:solidFill>
                  <a:srgbClr val="008983"/>
                </a:solidFill>
                <a:latin typeface="微软雅黑" panose="020B0503020204020204" charset="-122"/>
              </a:rPr>
              <a:t> gate</a:t>
            </a:r>
            <a:endParaRPr sz="2400" b="1">
              <a:solidFill>
                <a:srgbClr val="008983"/>
              </a:solidFill>
              <a:latin typeface="微软雅黑" panose="020B050302020402020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605280" y="4726940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605280" y="4393565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1605280" y="4060190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605280" y="5060315"/>
            <a:ext cx="3302000" cy="0"/>
          </a:xfrm>
          <a:prstGeom prst="line">
            <a:avLst/>
          </a:prstGeom>
          <a:ln w="1397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605280" y="3726815"/>
            <a:ext cx="0" cy="1333500"/>
          </a:xfrm>
          <a:prstGeom prst="line">
            <a:avLst/>
          </a:prstGeom>
          <a:ln w="1397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602480" y="5161915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endParaRPr lang="zh-CN" altLang="en-US" sz="80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54480" y="3549015"/>
            <a:ext cx="584200" cy="2246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3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search
space</a:t>
            </a:r>
            <a:endParaRPr lang="zh-CN" altLang="en-US" sz="73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24307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3291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5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2562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1546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0817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9801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244080" y="4726940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7244080" y="4393565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7244080" y="4060190"/>
            <a:ext cx="3302000" cy="0"/>
          </a:xfrm>
          <a:prstGeom prst="line">
            <a:avLst/>
          </a:prstGeom>
          <a:ln w="10160">
            <a:solidFill>
              <a:srgbClr val="E6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7244080" y="5060315"/>
            <a:ext cx="3302000" cy="0"/>
          </a:xfrm>
          <a:prstGeom prst="line">
            <a:avLst/>
          </a:prstGeom>
          <a:ln w="1397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7244080" y="3726815"/>
            <a:ext cx="0" cy="1333500"/>
          </a:xfrm>
          <a:prstGeom prst="line">
            <a:avLst/>
          </a:prstGeom>
          <a:ln w="1397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>
            <a:off x="10241280" y="5161915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endParaRPr lang="zh-CN" altLang="en-US" sz="80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7193280" y="3549015"/>
            <a:ext cx="584200" cy="2246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700">
                <a:solidFill>
                  <a:srgbClr val="696969"/>
                </a:solidFill>
                <a:latin typeface="微软雅黑" panose="020B0503020204020204" charset="-122"/>
              </a:rPr>
              <a:t>cost | trend</a:t>
            </a:r>
            <a:endParaRPr sz="700">
              <a:solidFill>
                <a:srgbClr val="696969"/>
              </a:solidFill>
              <a:latin typeface="微软雅黑" panose="020B0503020204020204" charset="-122"/>
            </a:endParaRPr>
          </a:p>
        </p:txBody>
      </p:sp>
      <p:cxnSp>
        <p:nvCxnSpPr>
          <p:cNvPr id="136" name="直接连接符 135"/>
          <p:cNvCxnSpPr/>
          <p:nvPr/>
        </p:nvCxnSpPr>
        <p:spPr>
          <a:xfrm>
            <a:off x="80695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79679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5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38" name="直接连接符 137"/>
          <p:cNvCxnSpPr/>
          <p:nvPr/>
        </p:nvCxnSpPr>
        <p:spPr>
          <a:xfrm>
            <a:off x="88950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87934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40" name="直接连接符 139"/>
          <p:cNvCxnSpPr/>
          <p:nvPr/>
        </p:nvCxnSpPr>
        <p:spPr>
          <a:xfrm>
            <a:off x="9720580" y="5022215"/>
            <a:ext cx="0" cy="76200"/>
          </a:xfrm>
          <a:prstGeom prst="line">
            <a:avLst/>
          </a:prstGeom>
          <a:ln w="10160">
            <a:solidFill>
              <a:srgbClr val="6E6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9618980" y="5161915"/>
            <a:ext cx="2032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7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42" name="直接连接符 141"/>
          <p:cNvCxnSpPr/>
          <p:nvPr/>
        </p:nvCxnSpPr>
        <p:spPr>
          <a:xfrm flipV="1">
            <a:off x="1605280" y="5058645"/>
            <a:ext cx="137583" cy="1670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1742863" y="5056570"/>
            <a:ext cx="137584" cy="2075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V="1">
            <a:off x="1880447" y="5053994"/>
            <a:ext cx="137583" cy="2576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 flipV="1">
            <a:off x="2018030" y="5050795"/>
            <a:ext cx="137583" cy="3199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 flipV="1">
            <a:off x="2155613" y="5046821"/>
            <a:ext cx="137584" cy="3974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 flipV="1">
            <a:off x="2293197" y="5041886"/>
            <a:ext cx="137583" cy="4935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 flipV="1">
            <a:off x="2430780" y="5035758"/>
            <a:ext cx="137583" cy="6128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 flipV="1">
            <a:off x="2568363" y="5028146"/>
            <a:ext cx="137584" cy="7612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V="1">
            <a:off x="2705947" y="5018693"/>
            <a:ext cx="137583" cy="9453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 flipV="1">
            <a:off x="2843530" y="5006953"/>
            <a:ext cx="137583" cy="11740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 flipV="1">
            <a:off x="2981113" y="4992373"/>
            <a:ext cx="137584" cy="14580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flipV="1">
            <a:off x="3118697" y="4974265"/>
            <a:ext cx="137583" cy="18108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>
          <a:xfrm flipV="1">
            <a:off x="3256280" y="4951777"/>
            <a:ext cx="137583" cy="22488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 flipV="1">
            <a:off x="3393863" y="4923848"/>
            <a:ext cx="137584" cy="27929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 flipV="1">
            <a:off x="3531447" y="4889162"/>
            <a:ext cx="137583" cy="34686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 flipV="1">
            <a:off x="3669030" y="4846085"/>
            <a:ext cx="137583" cy="43077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 flipV="1">
            <a:off x="3806613" y="4792586"/>
            <a:ext cx="137584" cy="53499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 flipV="1">
            <a:off x="3944197" y="4726144"/>
            <a:ext cx="137583" cy="66442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 flipV="1">
            <a:off x="4081780" y="4643628"/>
            <a:ext cx="137583" cy="82516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4219363" y="4541149"/>
            <a:ext cx="137584" cy="102479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V="1">
            <a:off x="4356947" y="4413877"/>
            <a:ext cx="137583" cy="127272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/>
        </p:nvCxnSpPr>
        <p:spPr>
          <a:xfrm flipV="1">
            <a:off x="4494530" y="4255813"/>
            <a:ext cx="137583" cy="158064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/>
          <p:cNvCxnSpPr/>
          <p:nvPr/>
        </p:nvCxnSpPr>
        <p:spPr>
          <a:xfrm flipV="1">
            <a:off x="4632113" y="4059510"/>
            <a:ext cx="137584" cy="196303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/>
          <p:nvPr/>
        </p:nvCxnSpPr>
        <p:spPr>
          <a:xfrm flipV="1">
            <a:off x="4769697" y="3815715"/>
            <a:ext cx="137583" cy="243795"/>
          </a:xfrm>
          <a:prstGeom prst="line">
            <a:avLst/>
          </a:prstGeom>
          <a:ln w="35560">
            <a:solidFill>
              <a:srgbClr val="C23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 flipV="1">
            <a:off x="7244080" y="5059941"/>
            <a:ext cx="137583" cy="374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 flipV="1">
            <a:off x="7381663" y="5058202"/>
            <a:ext cx="137584" cy="1739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flipV="1">
            <a:off x="7519247" y="5054492"/>
            <a:ext cx="137583" cy="3710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flipV="1">
            <a:off x="7656830" y="5048361"/>
            <a:ext cx="137583" cy="6131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flipV="1">
            <a:off x="7794413" y="5039433"/>
            <a:ext cx="137584" cy="8928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V="1">
            <a:off x="7931997" y="5027374"/>
            <a:ext cx="137583" cy="12059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flipV="1">
            <a:off x="8069580" y="5011887"/>
            <a:ext cx="137583" cy="15487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8207163" y="4992694"/>
            <a:ext cx="137584" cy="19193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V="1">
            <a:off x="8344747" y="4969541"/>
            <a:ext cx="137583" cy="23153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V="1">
            <a:off x="8482330" y="4942187"/>
            <a:ext cx="137583" cy="27354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V="1">
            <a:off x="8619913" y="4910403"/>
            <a:ext cx="137584" cy="31784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V="1">
            <a:off x="8757497" y="4873975"/>
            <a:ext cx="137583" cy="36428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>
          <a:xfrm flipV="1">
            <a:off x="8895080" y="4832694"/>
            <a:ext cx="137583" cy="41281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 flipV="1">
            <a:off x="9032663" y="4786364"/>
            <a:ext cx="137584" cy="46330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/>
          <p:nvPr/>
        </p:nvCxnSpPr>
        <p:spPr>
          <a:xfrm flipV="1">
            <a:off x="9170247" y="4734792"/>
            <a:ext cx="137583" cy="51572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/>
        </p:nvCxnSpPr>
        <p:spPr>
          <a:xfrm flipV="1">
            <a:off x="9307830" y="4677795"/>
            <a:ext cx="137583" cy="56997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9445413" y="4615196"/>
            <a:ext cx="137584" cy="62599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/>
          <p:nvPr/>
        </p:nvCxnSpPr>
        <p:spPr>
          <a:xfrm flipV="1">
            <a:off x="9582997" y="4546822"/>
            <a:ext cx="137583" cy="68374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/>
        </p:nvCxnSpPr>
        <p:spPr>
          <a:xfrm flipV="1">
            <a:off x="9720580" y="4472504"/>
            <a:ext cx="137583" cy="74318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/>
          <p:cNvCxnSpPr/>
          <p:nvPr/>
        </p:nvCxnSpPr>
        <p:spPr>
          <a:xfrm flipV="1">
            <a:off x="9858163" y="4392081"/>
            <a:ext cx="137584" cy="80423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>
          <a:xfrm flipV="1">
            <a:off x="9995747" y="4305393"/>
            <a:ext cx="137583" cy="86688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>
          <a:xfrm flipV="1">
            <a:off x="10133330" y="4212287"/>
            <a:ext cx="137583" cy="93106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>
          <a:xfrm flipV="1">
            <a:off x="10270913" y="4112610"/>
            <a:ext cx="137584" cy="99677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V="1">
            <a:off x="10408497" y="4006215"/>
            <a:ext cx="137583" cy="106395"/>
          </a:xfrm>
          <a:prstGeom prst="line">
            <a:avLst/>
          </a:prstGeom>
          <a:ln w="35560">
            <a:solidFill>
              <a:srgbClr val="0096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>
            <a:off x="3850640" y="3777615"/>
            <a:ext cx="0" cy="1282700"/>
          </a:xfrm>
          <a:prstGeom prst="line">
            <a:avLst/>
          </a:prstGeom>
          <a:ln w="15240">
            <a:solidFill>
              <a:srgbClr val="C2355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文本框 190"/>
          <p:cNvSpPr txBox="1"/>
          <p:nvPr/>
        </p:nvSpPr>
        <p:spPr>
          <a:xfrm>
            <a:off x="3914140" y="3866515"/>
            <a:ext cx="863600" cy="2339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altLang="zh-CN" sz="76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N </a:t>
            </a:r>
            <a:r>
              <a:rPr lang="zh-CN" altLang="pt-BR" sz="76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稍大
即不可行</a:t>
            </a:r>
            <a:endParaRPr lang="zh-CN" altLang="en-US" sz="760" b="1">
              <a:solidFill>
                <a:srgbClr val="C2355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2" name="矩形: 圆角 191"/>
          <p:cNvSpPr/>
          <p:nvPr/>
        </p:nvSpPr>
        <p:spPr>
          <a:xfrm>
            <a:off x="8768080" y="3930015"/>
            <a:ext cx="1346200" cy="3048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B9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文本框 192"/>
          <p:cNvSpPr txBox="1"/>
          <p:nvPr/>
        </p:nvSpPr>
        <p:spPr>
          <a:xfrm>
            <a:off x="8895080" y="4018915"/>
            <a:ext cx="1092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4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可继续扩展</a:t>
            </a:r>
            <a:endParaRPr lang="zh-CN" altLang="en-US" sz="84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605280" y="3193415"/>
            <a:ext cx="3492500" cy="2546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l">
              <a:buClrTx/>
              <a:buSzTx/>
              <a:buNone/>
            </a:pPr>
            <a:r>
              <a:rPr sz="830">
                <a:solidFill>
                  <a:srgbClr val="464646"/>
                </a:solidFill>
                <a:latin typeface="微软雅黑" panose="020B0503020204020204" charset="-122"/>
              </a:rPr>
              <a:t>枚举完整 logical-to-physical mapping 状态；
运行时间与内存随 N 急剧膨胀。</a:t>
            </a:r>
            <a:endParaRPr sz="83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7244080" y="3193415"/>
            <a:ext cx="34925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30">
                <a:solidFill>
                  <a:srgbClr val="464646"/>
                </a:solidFill>
                <a:latin typeface="微软雅黑" panose="020B0503020204020204" charset="-122"/>
              </a:rPr>
              <a:t>每个 two-qubit gate 最多 O(N^2.5)；</a:t>
            </a:r>
            <a:endParaRPr sz="83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830">
                <a:solidFill>
                  <a:srgbClr val="464646"/>
                </a:solidFill>
                <a:latin typeface="微软雅黑" panose="020B0503020204020204" charset="-122"/>
              </a:rPr>
              <a:t>整条线路 worst-case 为 O(N^2.5 g)。</a:t>
            </a:r>
            <a:endParaRPr sz="83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5897880" y="3498215"/>
            <a:ext cx="5588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VS</a:t>
            </a:r>
            <a:endParaRPr lang="zh-CN" altLang="en-US" sz="200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97" name="直接连接符 196"/>
          <p:cNvCxnSpPr/>
          <p:nvPr/>
        </p:nvCxnSpPr>
        <p:spPr>
          <a:xfrm>
            <a:off x="5783580" y="3879215"/>
            <a:ext cx="787400" cy="0"/>
          </a:xfrm>
          <a:prstGeom prst="line">
            <a:avLst/>
          </a:prstGeom>
          <a:ln w="2540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矩形: 圆角 197"/>
          <p:cNvSpPr/>
          <p:nvPr/>
        </p:nvSpPr>
        <p:spPr>
          <a:xfrm>
            <a:off x="2608580" y="6067425"/>
            <a:ext cx="7137400" cy="431800"/>
          </a:xfrm>
          <a:prstGeom prst="roundRect">
            <a:avLst/>
          </a:prstGeom>
          <a:solidFill>
            <a:srgbClr val="FFFAEE"/>
          </a:solidFill>
          <a:ln w="12700">
            <a:solidFill>
              <a:srgbClr val="EECD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文本框 198"/>
          <p:cNvSpPr txBox="1"/>
          <p:nvPr/>
        </p:nvSpPr>
        <p:spPr>
          <a:xfrm>
            <a:off x="2900680" y="6207125"/>
            <a:ext cx="65532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900" b="1">
                <a:solidFill>
                  <a:srgbClr val="965800"/>
                </a:solidFill>
                <a:latin typeface="微软雅黑" panose="020B0503020204020204" charset="-122"/>
              </a:rPr>
              <a:t>核心优势：把指数级 mapping 状态搜索，转成可扩展的局部 SWAP 决策。</a:t>
            </a:r>
            <a:endParaRPr sz="900" b="1">
              <a:solidFill>
                <a:srgbClr val="965800"/>
              </a:solidFill>
              <a:latin typeface="微软雅黑" panose="020B0503020204020204" charset="-122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7066280" y="5377815"/>
            <a:ext cx="35661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695A69"/>
                </a:solidFill>
                <a:latin typeface="微软雅黑" panose="020B0503020204020204" charset="-122"/>
              </a:rPr>
              <a:t>注：g 为原线路中 two-qubit gate 数量。</a:t>
            </a:r>
            <a:endParaRPr sz="720" b="0">
              <a:solidFill>
                <a:srgbClr val="695A69"/>
              </a:solidFill>
              <a:latin typeface="微软雅黑" panose="020B0503020204020204" charset="-122"/>
            </a:endParaRPr>
          </a:p>
        </p:txBody>
      </p:sp>
      <p:sp>
        <p:nvSpPr>
          <p:cNvPr id="201" name="slide_page_number_codex"/>
          <p:cNvSpPr txBox="1"/>
          <p:nvPr/>
        </p:nvSpPr>
        <p:spPr>
          <a:xfrm>
            <a:off x="11330432" y="6191631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07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9300" y="1244600"/>
            <a:ext cx="10414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SABRE </a:t>
            </a:r>
            <a:r>
              <a:rPr lang="zh-CN" altLang="en-US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算法完整工作流：三次遍历 </a:t>
            </a:r>
            <a:r>
              <a:rPr lang="en-US" altLang="zh-CN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+ </a:t>
            </a:r>
            <a:r>
              <a:rPr lang="zh-CN" altLang="en-US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每步局部启发式</a:t>
            </a:r>
            <a:endParaRPr lang="zh-CN" altLang="en-US" sz="210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76400"/>
            <a:ext cx="10033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每次 </a:t>
            </a:r>
            <a:r>
              <a:rPr lang="en-US" altLang="zh-CN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traversal </a:t>
            </a:r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都包含 </a:t>
            </a:r>
            <a:r>
              <a:rPr lang="en-US" altLang="zh-CN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SWAP-Based Search</a:t>
            </a:r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Heuristic cost </a:t>
            </a:r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和 </a:t>
            </a:r>
            <a:r>
              <a:rPr lang="en-US" altLang="zh-CN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Decay</a:t>
            </a:r>
            <a:r>
              <a:rPr lang="zh-CN" altLang="en-US" sz="1150">
                <a:solidFill>
                  <a:srgbClr val="5A5A60"/>
                </a:solidFill>
                <a:latin typeface="Arial" panose="020B0604020202020204" pitchFamily="34" charset="0"/>
                <a:ea typeface="微软雅黑" panose="020B0503020204020204" charset="-122"/>
              </a:rPr>
              <a:t>；三次遍历共同改善初始映射与最终线路。</a:t>
            </a:r>
            <a:endParaRPr lang="zh-CN" altLang="en-US" sz="1150">
              <a:solidFill>
                <a:srgbClr val="5A5A6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38150" y="2133600"/>
            <a:ext cx="11332845" cy="3523615"/>
          </a:xfrm>
          <a:prstGeom prst="roundRect">
            <a:avLst/>
          </a:prstGeom>
          <a:solidFill>
            <a:srgbClr val="F8F8FB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996950" y="2527300"/>
            <a:ext cx="2667000" cy="19050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987550" y="2235200"/>
            <a:ext cx="660400" cy="660400"/>
          </a:xfrm>
          <a:prstGeom prst="ellipse">
            <a:avLst/>
          </a:prstGeom>
          <a:solidFill>
            <a:srgbClr val="2C70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87550" y="2425700"/>
            <a:ext cx="660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0150" y="3073400"/>
            <a:ext cx="226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2C70D8"/>
                </a:solidFill>
                <a:latin typeface="Arial" panose="020B0604020202020204" pitchFamily="34" charset="0"/>
                <a:ea typeface="微软雅黑" panose="020B0503020204020204" charset="-122"/>
              </a:rPr>
              <a:t>临时正向遍历</a:t>
            </a:r>
            <a:endParaRPr lang="zh-CN" altLang="en-US" sz="1400" b="1">
              <a:solidFill>
                <a:srgbClr val="2C70D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6350" y="3530600"/>
            <a:ext cx="210820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SWAP-Based Search
Heuristic + Decay
</a:t>
            </a:r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得到最终映射 </a:t>
            </a:r>
            <a:r>
              <a:rPr lang="el-GR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π</a:t>
            </a:r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f</a:t>
            </a:r>
            <a:endParaRPr lang="zh-CN" altLang="en-US" sz="105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765550" y="3479800"/>
            <a:ext cx="711200" cy="0"/>
          </a:xfrm>
          <a:prstGeom prst="line">
            <a:avLst/>
          </a:prstGeom>
          <a:ln w="2794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/>
        </p:nvSpPr>
        <p:spPr>
          <a:xfrm>
            <a:off x="4578350" y="2527300"/>
            <a:ext cx="2667000" cy="19050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568950" y="2235200"/>
            <a:ext cx="660400" cy="660400"/>
          </a:xfrm>
          <a:prstGeom prst="ellipse">
            <a:avLst/>
          </a:prstGeom>
          <a:solidFill>
            <a:srgbClr val="0096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68950" y="2425700"/>
            <a:ext cx="660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81550" y="3073400"/>
            <a:ext cx="226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反向遍历</a:t>
            </a:r>
            <a:endParaRPr lang="zh-CN" altLang="en-US" sz="140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7750" y="3530600"/>
            <a:ext cx="210820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Reverse Traversal
</a:t>
            </a:r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倒序处理 </a:t>
            </a:r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reverse circuit
</a:t>
            </a:r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得到改进初始映射 </a:t>
            </a:r>
            <a:r>
              <a:rPr lang="el-GR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π</a:t>
            </a:r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r</a:t>
            </a:r>
            <a:endParaRPr lang="zh-CN" altLang="en-US" sz="105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346950" y="3479800"/>
            <a:ext cx="711200" cy="0"/>
          </a:xfrm>
          <a:prstGeom prst="line">
            <a:avLst/>
          </a:prstGeom>
          <a:ln w="2794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/>
          <p:cNvSpPr/>
          <p:nvPr/>
        </p:nvSpPr>
        <p:spPr>
          <a:xfrm>
            <a:off x="8159750" y="2527300"/>
            <a:ext cx="2667000" cy="190500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150350" y="2235200"/>
            <a:ext cx="660400" cy="660400"/>
          </a:xfrm>
          <a:prstGeom prst="ellipse">
            <a:avLst/>
          </a:prstGeom>
          <a:solidFill>
            <a:srgbClr val="EC91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9150350" y="2425700"/>
            <a:ext cx="660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362950" y="3073400"/>
            <a:ext cx="226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最终正向遍历</a:t>
            </a:r>
            <a:endParaRPr lang="zh-CN" altLang="en-US" sz="1400" b="1">
              <a:solidFill>
                <a:srgbClr val="EC912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439150" y="3530600"/>
            <a:ext cx="210820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以 </a:t>
            </a:r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πr </a:t>
            </a:r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作为初始映射
再次执行 </a:t>
            </a:r>
            <a:r>
              <a:rPr lang="en-US" altLang="zh-CN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SWAP </a:t>
            </a:r>
            <a:r>
              <a:rPr lang="zh-CN" altLang="en-US" sz="105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搜索
输出硬件可执行线路</a:t>
            </a:r>
            <a:endParaRPr lang="zh-CN" altLang="en-US" sz="105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768350" y="4775200"/>
            <a:ext cx="22606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920750" y="4902200"/>
            <a:ext cx="19558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2C70D8"/>
                </a:solidFill>
                <a:latin typeface="Arial" panose="020B0604020202020204" pitchFamily="34" charset="0"/>
                <a:ea typeface="微软雅黑" panose="020B0503020204020204" charset="-122"/>
              </a:rPr>
              <a:t>Front layer</a:t>
            </a:r>
            <a:endParaRPr lang="zh-CN" altLang="en-US" sz="1150" b="1">
              <a:solidFill>
                <a:srgbClr val="2C70D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33450" y="5181600"/>
            <a:ext cx="1930400" cy="1323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找当前可执行但被拓扑卡住的门</a:t>
            </a:r>
            <a:endParaRPr lang="zh-CN" altLang="en-US" sz="86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3067050" y="5143500"/>
            <a:ext cx="444500" cy="0"/>
          </a:xfrm>
          <a:prstGeom prst="line">
            <a:avLst/>
          </a:prstGeom>
          <a:ln w="2286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65"/>
          <p:cNvSpPr/>
          <p:nvPr/>
        </p:nvSpPr>
        <p:spPr>
          <a:xfrm>
            <a:off x="3587750" y="4775200"/>
            <a:ext cx="22606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740150" y="4902200"/>
            <a:ext cx="19558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Candidate SWAP</a:t>
            </a:r>
            <a:endParaRPr lang="zh-CN" altLang="en-US" sz="115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752850" y="5181600"/>
            <a:ext cx="1930400" cy="1323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只枚举相关 </a:t>
            </a:r>
            <a:r>
              <a:rPr lang="en-US" altLang="zh-CN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qubit </a:t>
            </a:r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附近的交换</a:t>
            </a:r>
            <a:endParaRPr lang="zh-CN" altLang="en-US" sz="86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5886450" y="5143500"/>
            <a:ext cx="444500" cy="0"/>
          </a:xfrm>
          <a:prstGeom prst="line">
            <a:avLst/>
          </a:prstGeom>
          <a:ln w="2286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/>
          <p:cNvSpPr/>
          <p:nvPr/>
        </p:nvSpPr>
        <p:spPr>
          <a:xfrm>
            <a:off x="6407150" y="4775200"/>
            <a:ext cx="22606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6559550" y="4902200"/>
            <a:ext cx="19558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Heuristic cost</a:t>
            </a:r>
            <a:endParaRPr lang="zh-CN" altLang="en-US" sz="1150" b="1">
              <a:solidFill>
                <a:srgbClr val="EC912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572250" y="5181600"/>
            <a:ext cx="1930400" cy="1323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当前距离 </a:t>
            </a:r>
            <a:r>
              <a:rPr lang="en-US" altLang="zh-CN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+ W×</a:t>
            </a:r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未来距离 </a:t>
            </a:r>
            <a:r>
              <a:rPr lang="en-US" altLang="zh-CN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+ decay</a:t>
            </a:r>
            <a:endParaRPr lang="zh-CN" altLang="en-US" sz="86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8705850" y="5143500"/>
            <a:ext cx="444500" cy="0"/>
          </a:xfrm>
          <a:prstGeom prst="line">
            <a:avLst/>
          </a:prstGeom>
          <a:ln w="22860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: 圆角 73"/>
          <p:cNvSpPr/>
          <p:nvPr/>
        </p:nvSpPr>
        <p:spPr>
          <a:xfrm>
            <a:off x="9226550" y="4775200"/>
            <a:ext cx="22606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9378950" y="4902200"/>
            <a:ext cx="19558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Update mapping</a:t>
            </a:r>
            <a:endParaRPr lang="zh-CN" altLang="en-US" sz="1150" b="1">
              <a:solidFill>
                <a:srgbClr val="C2355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391650" y="5181600"/>
            <a:ext cx="1930400" cy="1323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插入 </a:t>
            </a:r>
            <a:r>
              <a:rPr lang="en-US" altLang="zh-CN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SWAP</a:t>
            </a:r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，刷新 </a:t>
            </a:r>
            <a:r>
              <a:rPr lang="en-US" altLang="zh-CN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DAG </a:t>
            </a:r>
            <a:r>
              <a:rPr lang="zh-CN" altLang="en-US" sz="86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与映射</a:t>
            </a:r>
            <a:endParaRPr lang="zh-CN" altLang="en-US" sz="86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08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Front layer：只关注当前真正卡住的门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900">
                <a:solidFill>
                  <a:srgbClr val="5C505F"/>
                </a:solidFill>
                <a:latin typeface="微软雅黑" panose="020B0503020204020204" charset="-122"/>
              </a:rPr>
              <a:t>把双比特门依赖表示成 DAG；front layer 是当前无未执行前驱、理论上可以执行的门集合。</a:t>
            </a:r>
            <a:endParaRPr sz="900">
              <a:solidFill>
                <a:srgbClr val="5C505F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77824" y="2148840"/>
            <a:ext cx="4800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78992" y="2331720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1256"/>
                </a:solidFill>
                <a:latin typeface="微软雅黑" panose="020B0503020204020204" charset="-122"/>
              </a:rPr>
              <a:t>DAG 与 front layer</a:t>
            </a:r>
            <a:endParaRPr sz="13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1618488" y="3026664"/>
            <a:ext cx="640080" cy="1024127"/>
          </a:xfrm>
          <a:prstGeom prst="line">
            <a:avLst/>
          </a:prstGeom>
          <a:ln w="15240">
            <a:solidFill>
              <a:srgbClr val="ACB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2258568" y="3026664"/>
            <a:ext cx="621792" cy="1024127"/>
          </a:xfrm>
          <a:prstGeom prst="line">
            <a:avLst/>
          </a:prstGeom>
          <a:ln w="15240">
            <a:solidFill>
              <a:srgbClr val="ACB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880360" y="3026664"/>
            <a:ext cx="640080" cy="1024127"/>
          </a:xfrm>
          <a:prstGeom prst="line">
            <a:avLst/>
          </a:prstGeom>
          <a:ln w="15240">
            <a:solidFill>
              <a:srgbClr val="ACB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258568" y="4050791"/>
            <a:ext cx="2377439" cy="704088"/>
          </a:xfrm>
          <a:prstGeom prst="line">
            <a:avLst/>
          </a:prstGeom>
          <a:ln w="15240">
            <a:solidFill>
              <a:srgbClr val="ACB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520440" y="4050791"/>
            <a:ext cx="1115567" cy="704088"/>
          </a:xfrm>
          <a:prstGeom prst="line">
            <a:avLst/>
          </a:prstGeom>
          <a:ln w="15240">
            <a:solidFill>
              <a:srgbClr val="ACB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1298448" y="2862072"/>
            <a:ext cx="658368" cy="347472"/>
          </a:xfrm>
          <a:prstGeom prst="roundRect">
            <a:avLst/>
          </a:prstGeom>
          <a:solidFill>
            <a:srgbClr val="4C1984"/>
          </a:solidFill>
          <a:ln w="1270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98448" y="2953512"/>
            <a:ext cx="658368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g1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2560320" y="2862072"/>
            <a:ext cx="658368" cy="347472"/>
          </a:xfrm>
          <a:prstGeom prst="roundRect">
            <a:avLst/>
          </a:prstGeom>
          <a:solidFill>
            <a:srgbClr val="4C1984"/>
          </a:solidFill>
          <a:ln w="1270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560320" y="2953512"/>
            <a:ext cx="658368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g2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1938528" y="3886200"/>
            <a:ext cx="658368" cy="347472"/>
          </a:xfrm>
          <a:prstGeom prst="roundRect">
            <a:avLst/>
          </a:prstGeom>
          <a:solidFill>
            <a:srgbClr val="008491"/>
          </a:solidFill>
          <a:ln w="1270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38528" y="3977639"/>
            <a:ext cx="658368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g3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200400" y="3886200"/>
            <a:ext cx="658368" cy="347472"/>
          </a:xfrm>
          <a:prstGeom prst="roundRect">
            <a:avLst/>
          </a:prstGeom>
          <a:solidFill>
            <a:srgbClr val="A62A47"/>
          </a:solidFill>
          <a:ln w="12700">
            <a:solidFill>
              <a:srgbClr val="A6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3977639"/>
            <a:ext cx="658368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g4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4315968" y="4590288"/>
            <a:ext cx="658368" cy="347472"/>
          </a:xfrm>
          <a:prstGeom prst="roundRect">
            <a:avLst/>
          </a:prstGeom>
          <a:solidFill>
            <a:srgbClr val="E28430"/>
          </a:solidFill>
          <a:ln w="12700"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15968" y="4681727"/>
            <a:ext cx="658368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g5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1124712" y="3383280"/>
            <a:ext cx="1371600" cy="274320"/>
          </a:xfrm>
          <a:prstGeom prst="roundRect">
            <a:avLst/>
          </a:prstGeom>
          <a:solidFill>
            <a:srgbClr val="EBE5F6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61288" y="3433572"/>
            <a:ext cx="129844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1984"/>
                </a:solidFill>
                <a:latin typeface="微软雅黑" panose="020B0503020204020204" charset="-122"/>
              </a:rPr>
              <a:t>Front layer</a:t>
            </a:r>
            <a:endParaRPr sz="100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697480" y="4416552"/>
            <a:ext cx="1417320" cy="274320"/>
          </a:xfrm>
          <a:prstGeom prst="roundRect">
            <a:avLst/>
          </a:prstGeom>
          <a:solidFill>
            <a:srgbClr val="E1F6F7"/>
          </a:solidFill>
          <a:ln w="12700">
            <a:solidFill>
              <a:srgbClr val="E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34056" y="4466844"/>
            <a:ext cx="1344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8491"/>
                </a:solidFill>
                <a:latin typeface="微软雅黑" panose="020B0503020204020204" charset="-122"/>
              </a:rPr>
              <a:t>Extended set</a:t>
            </a:r>
            <a:endParaRPr sz="100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080760" y="2148840"/>
            <a:ext cx="4434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291072" y="233172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1256"/>
                </a:solidFill>
                <a:latin typeface="微软雅黑" panose="020B0503020204020204" charset="-122"/>
              </a:rPr>
              <a:t>候选 SWAP 生成</a:t>
            </a:r>
            <a:endParaRPr sz="130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382512" y="2761488"/>
            <a:ext cx="292608" cy="292608"/>
          </a:xfrm>
          <a:prstGeom prst="ellipse">
            <a:avLst/>
          </a:prstGeom>
          <a:solidFill>
            <a:srgbClr val="4C1984"/>
          </a:solidFill>
          <a:ln w="16510">
            <a:solidFill>
              <a:srgbClr val="4C1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82512" y="2849270"/>
            <a:ext cx="292608" cy="11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803136" y="2779776"/>
            <a:ext cx="1600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检查 front layer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803136" y="3008376"/>
            <a:ext cx="32461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0" b="0">
                <a:solidFill>
                  <a:srgbClr val="24262D"/>
                </a:solidFill>
                <a:latin typeface="微软雅黑" panose="020B0503020204020204" charset="-122"/>
              </a:rPr>
              <a:t>若对应 physical qubit 相邻，直接执行门。</a:t>
            </a:r>
            <a:endParaRPr sz="97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6382512" y="3474720"/>
            <a:ext cx="292608" cy="292608"/>
          </a:xfrm>
          <a:prstGeom prst="ellipse">
            <a:avLst/>
          </a:prstGeom>
          <a:solidFill>
            <a:srgbClr val="008491"/>
          </a:solidFill>
          <a:ln w="16510"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82512" y="3562502"/>
            <a:ext cx="292608" cy="11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803136" y="3493008"/>
            <a:ext cx="1600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若不相邻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03136" y="3721608"/>
            <a:ext cx="32461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0" b="0">
                <a:solidFill>
                  <a:srgbClr val="24262D"/>
                </a:solidFill>
                <a:latin typeface="微软雅黑" panose="020B0503020204020204" charset="-122"/>
              </a:rPr>
              <a:t>只考虑相关 qubit 附近的 SWAP，避免枚举全图。</a:t>
            </a:r>
            <a:endParaRPr sz="97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6382512" y="4187952"/>
            <a:ext cx="292608" cy="292608"/>
          </a:xfrm>
          <a:prstGeom prst="ellipse">
            <a:avLst/>
          </a:prstGeom>
          <a:solidFill>
            <a:srgbClr val="A62A47"/>
          </a:solidFill>
          <a:ln w="16510">
            <a:solidFill>
              <a:srgbClr val="A6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82512" y="4275734"/>
            <a:ext cx="292608" cy="11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803136" y="4206240"/>
            <a:ext cx="1600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更新映射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803136" y="4434840"/>
            <a:ext cx="32461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0" b="0">
                <a:solidFill>
                  <a:srgbClr val="24262D"/>
                </a:solidFill>
                <a:latin typeface="微软雅黑" panose="020B0503020204020204" charset="-122"/>
              </a:rPr>
              <a:t>选择代价最低 SWAP 后，重新检查 front layer。</a:t>
            </a:r>
            <a:endParaRPr sz="97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96112" y="5851017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front layer 把搜索焦点限制在当前真正受阻的双比特门附近。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932815" y="5230495"/>
            <a:ext cx="9829800" cy="403860"/>
          </a:xfrm>
          <a:prstGeom prst="roundRect">
            <a:avLst/>
          </a:prstGeom>
          <a:solidFill>
            <a:srgbClr val="F9FFFF"/>
          </a:solidFill>
          <a:ln w="9525">
            <a:solidFill>
              <a:srgbClr val="C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43000" y="5340477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37373C"/>
                </a:solidFill>
                <a:latin typeface="微软雅黑" panose="020B0503020204020204" charset="-122"/>
              </a:rPr>
              <a:t>小例子</a:t>
            </a:r>
            <a:endParaRPr sz="820" b="1">
              <a:solidFill>
                <a:srgbClr val="660066"/>
              </a:solidFill>
              <a:latin typeface="微软雅黑" panose="020B0503020204020204" charset="-122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2331720" y="530390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0">
                <a:solidFill>
                  <a:srgbClr val="37373C"/>
                </a:solidFill>
                <a:latin typeface="微软雅黑" panose="020B0503020204020204" charset="-122"/>
              </a:rPr>
              <a:t>front layer: CNOT(q0,q2)
当前映射: q0@P0, q2@P3</a:t>
            </a:r>
            <a:endParaRPr sz="740" b="0">
              <a:solidFill>
                <a:srgbClr val="37373C"/>
              </a:solidFill>
              <a:latin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709160" y="5303901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0">
                <a:solidFill>
                  <a:srgbClr val="37373C"/>
                </a:solidFill>
                <a:latin typeface="微软雅黑" panose="020B0503020204020204" charset="-122"/>
              </a:rPr>
              <a:t>候选 SWAP 只从 P0/P3 邻边取：
SWAP(P0,P1), SWAP(P3,P2)</a:t>
            </a:r>
            <a:endParaRPr sz="740" b="0">
              <a:solidFill>
                <a:srgbClr val="37373C"/>
              </a:solidFill>
              <a:latin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949440" y="5303901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37373C"/>
                </a:solidFill>
                <a:latin typeface="微软雅黑" panose="020B0503020204020204" charset="-122"/>
              </a:rPr>
              <a:t>启发式评分目标：</a:t>
            </a:r>
            <a:endParaRPr sz="800" b="0">
              <a:solidFill>
                <a:srgbClr val="37373C"/>
              </a:solidFill>
              <a:latin typeface="微软雅黑" panose="020B0503020204020204" charset="-122"/>
            </a:endParaRPr>
          </a:p>
          <a:p>
            <a:pPr algn="ctr"/>
            <a:r>
              <a:rPr sz="800" b="0">
                <a:solidFill>
                  <a:srgbClr val="37373C"/>
                </a:solidFill>
                <a:latin typeface="微软雅黑" panose="020B0503020204020204" charset="-122"/>
              </a:rPr>
              <a:t>当前门距离降低，后续门代价不显著上升。</a:t>
            </a:r>
            <a:endParaRPr sz="800" b="0">
              <a:solidFill>
                <a:srgbClr val="37373C"/>
              </a:solidFill>
              <a:latin typeface="微软雅黑" panose="020B0503020204020204" charset="-122"/>
            </a:endParaRPr>
          </a:p>
        </p:txBody>
      </p:sp>
      <p:cxnSp>
        <p:nvCxnSpPr>
          <p:cNvPr id="135" name="Connector 134"/>
          <p:cNvCxnSpPr/>
          <p:nvPr/>
        </p:nvCxnSpPr>
        <p:spPr>
          <a:xfrm>
            <a:off x="4480560" y="5230368"/>
            <a:ext cx="164592" cy="0"/>
          </a:xfrm>
          <a:prstGeom prst="line">
            <a:avLst/>
          </a:prstGeom>
          <a:ln w="15875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675120" y="5230368"/>
            <a:ext cx="164592" cy="0"/>
          </a:xfrm>
          <a:prstGeom prst="line">
            <a:avLst/>
          </a:prstGeom>
          <a:ln w="15875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09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000" b="1">
                <a:solidFill>
                  <a:srgbClr val="30153B"/>
                </a:solidFill>
                <a:latin typeface="微软雅黑" panose="020B0503020204020204" charset="-122"/>
              </a:rPr>
              <a:t>启发式函数：当前距离 + 未来距离 + decay 惩罚</a:t>
            </a:r>
            <a:endParaRPr sz="2000" b="1">
              <a:solidFill>
                <a:srgbClr val="30153B"/>
              </a:solidFill>
              <a:latin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900">
                <a:solidFill>
                  <a:srgbClr val="5C505F"/>
                </a:solidFill>
                <a:latin typeface="微软雅黑" panose="020B0503020204020204" charset="-122"/>
              </a:rPr>
              <a:t>论文用 front layer 与 extended set 的平均距离评分候选 SWAP，再用 decay 惩罚近期重叠交换。</a:t>
            </a:r>
            <a:endParaRPr sz="900">
              <a:solidFill>
                <a:srgbClr val="5C505F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41248" y="2121408"/>
            <a:ext cx="4892040" cy="1417320"/>
          </a:xfrm>
          <a:prstGeom prst="round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96112" y="391363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2415" y="4005072"/>
            <a:ext cx="12344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1984"/>
                </a:solidFill>
                <a:latin typeface="微软雅黑" panose="020B0503020204020204" charset="-122"/>
              </a:rPr>
              <a:t>F / front layer</a:t>
            </a:r>
            <a:endParaRPr sz="105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212848" y="4005072"/>
            <a:ext cx="135331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当前可执行双比特门；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第一项优先优化它们。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233672" y="391363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79976" y="4005072"/>
            <a:ext cx="12344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8491"/>
                </a:solidFill>
                <a:latin typeface="微软雅黑" panose="020B0503020204020204" charset="-122"/>
              </a:rPr>
              <a:t>E / extended set</a:t>
            </a:r>
            <a:endParaRPr sz="105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550408" y="4005072"/>
            <a:ext cx="135331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front layer 的后继门；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提供轻量 look-ahead。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7571231" y="391363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17536" y="4005072"/>
            <a:ext cx="12344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8430"/>
                </a:solidFill>
                <a:latin typeface="微软雅黑" panose="020B0503020204020204" charset="-122"/>
              </a:rPr>
              <a:t>D / distance</a:t>
            </a:r>
            <a:endParaRPr sz="1050" b="1">
              <a:solidFill>
                <a:srgbClr val="E28430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887967" y="4005072"/>
            <a:ext cx="135331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两个 physical qubit 在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耦合图上的最短路。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896112" y="466344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42415" y="4754880"/>
            <a:ext cx="12344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62A47"/>
                </a:solidFill>
                <a:latin typeface="微软雅黑" panose="020B0503020204020204" charset="-122"/>
              </a:rPr>
              <a:t>W / weight</a:t>
            </a:r>
            <a:endParaRPr sz="1050" b="1">
              <a:solidFill>
                <a:srgbClr val="A62A47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212848" y="4754880"/>
            <a:ext cx="135331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未来项权重，论文实验中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W = 0.5。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4233672" y="466344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79976" y="4754880"/>
            <a:ext cx="12344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881"/>
                </a:solidFill>
                <a:latin typeface="微软雅黑" panose="020B0503020204020204" charset="-122"/>
              </a:rPr>
              <a:t>decay</a:t>
            </a:r>
            <a:endParaRPr sz="1050" b="1">
              <a:solidFill>
                <a:srgbClr val="5B6881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550408" y="4754880"/>
            <a:ext cx="135331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若 qubit 最近参与 SWAP，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  <a:p>
            <a:r>
              <a:rPr sz="700">
                <a:solidFill>
                  <a:srgbClr val="464646"/>
                </a:solidFill>
                <a:latin typeface="微软雅黑" panose="020B0503020204020204" charset="-122"/>
              </a:rPr>
              <a:t>decay(q)=1+δ。</a:t>
            </a:r>
            <a:endParaRPr sz="70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6126480" y="2121408"/>
            <a:ext cx="4389120" cy="1417320"/>
          </a:xfrm>
          <a:prstGeom prst="roundRect">
            <a:avLst/>
          </a:prstGeom>
          <a:solidFill>
            <a:srgbClr val="E1F6F7"/>
          </a:solidFill>
          <a:ln w="12700">
            <a:solidFill>
              <a:srgbClr val="E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启发式函数同时编码当前门距离、未来门影响和近期重叠 SWAP 惩罚。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950976" y="2258568"/>
            <a:ext cx="4709160" cy="1078992"/>
          </a:xfrm>
          <a:prstGeom prst="roundRect">
            <a:avLst/>
          </a:prstGeom>
          <a:solidFill>
            <a:srgbClr val="3D1260"/>
          </a:solidFill>
          <a:ln w="9525">
            <a:solidFill>
              <a:srgbClr val="3D1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172200" y="2450592"/>
            <a:ext cx="4160520" cy="694944"/>
          </a:xfrm>
          <a:prstGeom prst="roundRect">
            <a:avLst/>
          </a:prstGeom>
          <a:solidFill>
            <a:srgbClr val="E6FFFF"/>
          </a:solidFill>
          <a:ln w="9525">
            <a:solidFill>
              <a:srgbClr val="D0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699248" y="4645152"/>
            <a:ext cx="2542032" cy="347472"/>
          </a:xfrm>
          <a:prstGeom prst="roundRect">
            <a:avLst/>
          </a:prstGeom>
          <a:solidFill>
            <a:srgbClr val="FFF8E8"/>
          </a:solidFill>
          <a:ln w="9525">
            <a:solidFill>
              <a:srgbClr val="F5D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18120" y="473659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">
                <a:solidFill>
                  <a:srgbClr val="5F4B23"/>
                </a:solidFill>
                <a:latin typeface="微软雅黑" panose="020B0503020204020204" charset="-122"/>
              </a:rPr>
              <a:t>候选 SWAP 评分：临时更新映射，计算 H，选择代价最小者。</a:t>
            </a:r>
            <a:endParaRPr sz="660">
              <a:solidFill>
                <a:srgbClr val="5F4B23"/>
              </a:solidFill>
              <a:latin typeface="微软雅黑" panose="020B0503020204020204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115060" y="2221865"/>
            <a:ext cx="4435475" cy="1170305"/>
          </a:xfrm>
          <a:prstGeom prst="roundRect">
            <a:avLst/>
          </a:prstGeom>
          <a:solidFill>
            <a:srgbClr val="3D1260"/>
          </a:solidFill>
          <a:ln w="9525">
            <a:solidFill>
              <a:srgbClr val="3D1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5568" y="2331720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 panose="020B0503020204020204" charset="-122"/>
              </a:rPr>
              <a:t>H = max(decay(SWAP.q1), decay(SWAP.q2)) × {</a:t>
            </a:r>
            <a:endParaRPr sz="11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261872" y="2587752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FFFFFF"/>
                </a:solidFill>
                <a:latin typeface="Cambria Math" panose="02040503050406030204"/>
              </a:rPr>
              <a:t>1/|F|  Σ gate∈F  D[π(gate.q1)][π(gate.q2)]</a:t>
            </a:r>
            <a:endParaRPr sz="1020" b="1">
              <a:solidFill>
                <a:srgbClr val="FFFFFF"/>
              </a:solidFill>
              <a:latin typeface="Cambria Math" panose="0204050305040603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261872" y="2834640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FFFFFF"/>
                </a:solidFill>
                <a:latin typeface="Cambria Math" panose="02040503050406030204"/>
              </a:rPr>
              <a:t>+  W × 1/|E|  Σ gate∈E  D[π(gate.q1)][π(gate.q2)]  }</a:t>
            </a:r>
            <a:endParaRPr sz="1020" b="1">
              <a:solidFill>
                <a:srgbClr val="FFFFFF"/>
              </a:solidFill>
              <a:latin typeface="Cambria Math" panose="0204050305040603020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298448" y="3127248"/>
            <a:ext cx="41879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E6DAEE"/>
                </a:solidFill>
                <a:latin typeface="微软雅黑" panose="020B0503020204020204" charset="-122"/>
              </a:rPr>
              <a:t>与论文 Eq. (2) 一致：F 为 front layer，E 为 extended set。</a:t>
            </a:r>
            <a:endParaRPr sz="680" b="0">
              <a:solidFill>
                <a:srgbClr val="E6DAEE"/>
              </a:solidFill>
              <a:latin typeface="微软雅黑" panose="020B0503020204020204" charset="-122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6172200" y="2450592"/>
            <a:ext cx="4160520" cy="694944"/>
          </a:xfrm>
          <a:prstGeom prst="roundRect">
            <a:avLst/>
          </a:prstGeom>
          <a:solidFill>
            <a:srgbClr val="E6FFFF"/>
          </a:solidFill>
          <a:ln w="9525">
            <a:solidFill>
              <a:srgbClr val="D0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46520" y="263347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>
                <a:solidFill>
                  <a:srgbClr val="2D3F43"/>
                </a:solidFill>
                <a:latin typeface="微软雅黑" panose="020B0503020204020204" charset="-122"/>
              </a:rPr>
              <a:t>评分含义：当前门均距 + W × 未来门均距，再乘 decay 惩罚。</a:t>
            </a:r>
            <a:endParaRPr sz="860" b="1">
              <a:solidFill>
                <a:srgbClr val="2D3F43"/>
              </a:solidFill>
              <a:latin typeface="微软雅黑" panose="020B0503020204020204" charset="-122"/>
            </a:endParaRPr>
          </a:p>
        </p:txBody>
      </p:sp>
      <p:sp>
        <p:nvSpPr>
          <p:cNvPr id="130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10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Reverse traversal：用一次正向结果反推更好的初始映射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这不是让真实量子机器反向运行程序，而是在编译阶段倒序分析双比特门。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96112" y="2450592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7280" y="2697480"/>
            <a:ext cx="1591056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4C1984"/>
                </a:solidFill>
                <a:latin typeface="微软雅黑" panose="020B0503020204020204" charset="-122"/>
              </a:rPr>
              <a:t>π0</a:t>
            </a:r>
            <a:endParaRPr sz="240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42415" y="3236976"/>
            <a:ext cx="171907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临时初始映射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60704" y="3547872"/>
            <a:ext cx="168249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5E606A"/>
                </a:solidFill>
                <a:latin typeface="微软雅黑" panose="020B0503020204020204" charset="-122"/>
              </a:rPr>
              <a:t>随机或简单初始化</a:t>
            </a:r>
            <a:endParaRPr sz="93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2944368" y="3246120"/>
            <a:ext cx="457200" cy="0"/>
          </a:xfrm>
          <a:prstGeom prst="line">
            <a:avLst/>
          </a:prstGeom>
          <a:ln w="25400">
            <a:solidFill>
              <a:srgbClr val="4C1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3502152" y="2450592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703320" y="2697480"/>
            <a:ext cx="1591056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4C1984"/>
                </a:solidFill>
                <a:latin typeface="微软雅黑" panose="020B0503020204020204" charset="-122"/>
              </a:rPr>
              <a:t>πf</a:t>
            </a:r>
            <a:endParaRPr sz="240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648456" y="3236976"/>
            <a:ext cx="171907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正向最终映射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666744" y="3547872"/>
            <a:ext cx="168249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5E606A"/>
                </a:solidFill>
                <a:latin typeface="微软雅黑" panose="020B0503020204020204" charset="-122"/>
              </a:rPr>
              <a:t>第一次正向遍历得到</a:t>
            </a:r>
            <a:endParaRPr sz="93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5550408" y="3246120"/>
            <a:ext cx="457200" cy="0"/>
          </a:xfrm>
          <a:prstGeom prst="line">
            <a:avLst/>
          </a:prstGeom>
          <a:ln w="25400">
            <a:solidFill>
              <a:srgbClr val="4C1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6108192" y="2450592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09359" y="2697480"/>
            <a:ext cx="1591056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8491"/>
                </a:solidFill>
                <a:latin typeface="微软雅黑" panose="020B0503020204020204" charset="-122"/>
              </a:rPr>
              <a:t>πr</a:t>
            </a:r>
            <a:endParaRPr sz="240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254496" y="3236976"/>
            <a:ext cx="171907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反向得到新映射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272783" y="3547872"/>
            <a:ext cx="168249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5E606A"/>
                </a:solidFill>
                <a:latin typeface="微软雅黑" panose="020B0503020204020204" charset="-122"/>
              </a:rPr>
              <a:t>作为原线路更好的开局</a:t>
            </a:r>
            <a:endParaRPr sz="93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8156448" y="3246120"/>
            <a:ext cx="457200" cy="0"/>
          </a:xfrm>
          <a:prstGeom prst="line">
            <a:avLst/>
          </a:prstGeom>
          <a:ln w="25400">
            <a:solidFill>
              <a:srgbClr val="4C1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8714232" y="2450592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15400" y="2697480"/>
            <a:ext cx="1591056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4C1984"/>
                </a:solidFill>
                <a:latin typeface="微软雅黑" panose="020B0503020204020204" charset="-122"/>
              </a:rPr>
              <a:t>Final</a:t>
            </a:r>
            <a:endParaRPr sz="240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860536" y="3236976"/>
            <a:ext cx="171907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301256"/>
                </a:solidFill>
                <a:latin typeface="微软雅黑" panose="020B0503020204020204" charset="-122"/>
              </a:rPr>
              <a:t>最终可执行线路</a:t>
            </a:r>
            <a:endParaRPr sz="11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878824" y="3547872"/>
            <a:ext cx="168249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5E606A"/>
                </a:solidFill>
                <a:latin typeface="微软雅黑" panose="020B0503020204020204" charset="-122"/>
              </a:rPr>
              <a:t>第二次正向遍历输出</a:t>
            </a:r>
            <a:endParaRPr sz="93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143000" y="4617720"/>
            <a:ext cx="8961120" cy="749808"/>
          </a:xfrm>
          <a:prstGeom prst="roundRect">
            <a:avLst/>
          </a:prstGeom>
          <a:solidFill>
            <a:srgbClr val="E1F6F7"/>
          </a:solidFill>
          <a:ln w="12700">
            <a:solidFill>
              <a:srgbClr val="E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371600" y="4773168"/>
            <a:ext cx="11430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8491"/>
                </a:solidFill>
                <a:latin typeface="微软雅黑" panose="020B0503020204020204" charset="-122"/>
              </a:rPr>
              <a:t>为什么有效？</a:t>
            </a:r>
            <a:endParaRPr sz="120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450592" y="4773168"/>
            <a:ext cx="7452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4262D"/>
                </a:solidFill>
                <a:latin typeface="微软雅黑" panose="020B0503020204020204" charset="-122"/>
              </a:rPr>
              <a:t>反向线路最后处理的门，正是原线路开头的门；因此 πr 更适合原线路开头，同时也吸收了后续门的信息。</a:t>
            </a:r>
            <a:endParaRPr sz="1150" b="1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reverse traversal 不是反向运行量子程序，而是在编译阶段倒推更好的开局。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7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11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Decay effect：在门数与线路深度之间做权衡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注意：decay 不是“距离随时间衰减”。它是对近期参与过 SWAP 的 qubit 临时加惩罚。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508887" y="2148840"/>
            <a:ext cx="3977639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83207" y="2395728"/>
            <a:ext cx="1417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62A47"/>
                </a:solidFill>
                <a:latin typeface="微软雅黑" panose="020B0503020204020204" charset="-122"/>
              </a:rPr>
              <a:t>没有 decay</a:t>
            </a:r>
            <a:endParaRPr sz="1400" b="1">
              <a:solidFill>
                <a:srgbClr val="A62A47"/>
              </a:solidFill>
              <a:latin typeface="微软雅黑" panose="020B0503020204020204" charset="-122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1911223" y="2788920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911223" y="3291839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911223" y="3794760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304415" y="2788920"/>
            <a:ext cx="0" cy="502920"/>
          </a:xfrm>
          <a:prstGeom prst="line">
            <a:avLst/>
          </a:prstGeom>
          <a:ln w="1778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212975" y="2697479"/>
            <a:ext cx="182880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212975" y="2697479"/>
            <a:ext cx="182880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212975" y="3200400"/>
            <a:ext cx="182880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212975" y="3200400"/>
            <a:ext cx="182880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944495" y="2788920"/>
            <a:ext cx="0" cy="502920"/>
          </a:xfrm>
          <a:prstGeom prst="line">
            <a:avLst/>
          </a:prstGeom>
          <a:ln w="1778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853054" y="2697479"/>
            <a:ext cx="182881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853054" y="2697479"/>
            <a:ext cx="182881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853054" y="3200400"/>
            <a:ext cx="182881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853054" y="3200400"/>
            <a:ext cx="182881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584575" y="2788920"/>
            <a:ext cx="0" cy="502920"/>
          </a:xfrm>
          <a:prstGeom prst="line">
            <a:avLst/>
          </a:prstGeom>
          <a:ln w="1778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493135" y="2697479"/>
            <a:ext cx="182880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493135" y="2697479"/>
            <a:ext cx="182880" cy="182881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493135" y="3200400"/>
            <a:ext cx="182880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493135" y="3200400"/>
            <a:ext cx="182880" cy="182880"/>
          </a:xfrm>
          <a:prstGeom prst="line">
            <a:avLst/>
          </a:prstGeom>
          <a:ln w="15240">
            <a:solidFill>
              <a:srgbClr val="A6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801495" y="4096512"/>
            <a:ext cx="32461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262D"/>
                </a:solidFill>
                <a:latin typeface="微软雅黑" panose="020B0503020204020204" charset="-122"/>
              </a:rPr>
              <a:t>连续移动同一批 qubit，SWAP 互相依赖，难以并行。</a:t>
            </a:r>
            <a:endParaRPr sz="1100" b="1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284087" y="2148840"/>
            <a:ext cx="3977639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58407" y="2395728"/>
            <a:ext cx="1417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491"/>
                </a:solidFill>
                <a:latin typeface="微软雅黑" panose="020B0503020204020204" charset="-122"/>
              </a:rPr>
              <a:t>加入 decay</a:t>
            </a:r>
            <a:endParaRPr sz="1400" b="1">
              <a:solidFill>
                <a:srgbClr val="008491"/>
              </a:solidFill>
              <a:latin typeface="微软雅黑" panose="020B0503020204020204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6686423" y="2788920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686423" y="3291839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686423" y="3794760"/>
            <a:ext cx="2862072" cy="0"/>
          </a:xfrm>
          <a:prstGeom prst="line">
            <a:avLst/>
          </a:prstGeom>
          <a:ln w="12700">
            <a:solidFill>
              <a:srgbClr val="B2B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143623" y="2788920"/>
            <a:ext cx="0" cy="502919"/>
          </a:xfrm>
          <a:prstGeom prst="line">
            <a:avLst/>
          </a:prstGeom>
          <a:ln w="1778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052183" y="2697479"/>
            <a:ext cx="182879" cy="182881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052183" y="2697479"/>
            <a:ext cx="182879" cy="182881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052183" y="3200399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052183" y="3200399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131175" y="3291840"/>
            <a:ext cx="0" cy="502920"/>
          </a:xfrm>
          <a:prstGeom prst="line">
            <a:avLst/>
          </a:prstGeom>
          <a:ln w="1778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39735" y="320040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039735" y="320040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039735" y="370332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039735" y="370332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972423" y="3291840"/>
            <a:ext cx="0" cy="502920"/>
          </a:xfrm>
          <a:prstGeom prst="line">
            <a:avLst/>
          </a:prstGeom>
          <a:ln w="1778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880983" y="370332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880983" y="370332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880983" y="320040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80983" y="3200400"/>
            <a:ext cx="182879" cy="182880"/>
          </a:xfrm>
          <a:prstGeom prst="line">
            <a:avLst/>
          </a:prstGeom>
          <a:ln w="1524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622415" y="4096512"/>
            <a:ext cx="32461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262D"/>
                </a:solidFill>
                <a:latin typeface="微软雅黑" panose="020B0503020204020204" charset="-122"/>
              </a:rPr>
              <a:t>近期参与过 SWAP 的 qubit 代价升高，算法更愿意选不重叠交换。</a:t>
            </a:r>
            <a:endParaRPr sz="1100" b="1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2000250" y="5287518"/>
            <a:ext cx="7818120" cy="384048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274570" y="5406390"/>
            <a:ext cx="72694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301256"/>
                </a:solidFill>
                <a:latin typeface="微软雅黑" panose="020B0503020204020204" charset="-122"/>
              </a:rPr>
              <a:t>δ 较大：更偏向降低深度；δ 较小：更偏向减少额外门数。</a:t>
            </a:r>
            <a:endParaRPr sz="112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decay 惩罚近期重叠 SWAP，鼓励不相交交换并行执行，降低线路深度。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9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12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9808" y="1243584"/>
            <a:ext cx="9692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01256"/>
                </a:solidFill>
                <a:latin typeface="Microsoft YaHei UI" panose="020B0503020204020204" charset="-122"/>
              </a:rPr>
              <a:t>实验设置与评价指标：看速度，也看线路质量</a:t>
            </a:r>
            <a:endParaRPr sz="2300" b="1">
              <a:solidFill>
                <a:srgbClr val="301256"/>
              </a:solidFill>
              <a:latin typeface="Microsoft YaHei UI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6384" y="16642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06A"/>
                </a:solidFill>
                <a:latin typeface="微软雅黑" panose="020B0503020204020204" charset="-122"/>
              </a:rPr>
              <a:t>论文在 IBM Q20 Tokyo 20-qubit 拓扑和多类 benchmark 上比较 SABRE 与 BKA。</a:t>
            </a:r>
            <a:endParaRPr sz="1050" b="0">
              <a:solidFill>
                <a:srgbClr val="5E606A"/>
              </a:solidFill>
              <a:latin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96112" y="214884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7280" y="2377440"/>
            <a:ext cx="214884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硬件平台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24712" y="2761488"/>
            <a:ext cx="2103120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IBM Q20 Tokyo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20 个 physical qubit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稀疏耦合图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142231" y="214884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399" y="2377440"/>
            <a:ext cx="214884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测试基准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370831" y="2761488"/>
            <a:ext cx="2103120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通用量子线路 benchmark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覆盖不同 qubit 数、门数和依赖结构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388352" y="214884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89520" y="2377440"/>
            <a:ext cx="214884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01256"/>
                </a:solidFill>
                <a:latin typeface="微软雅黑" panose="020B0503020204020204" charset="-122"/>
              </a:rPr>
              <a:t>对比方法</a:t>
            </a:r>
            <a:endParaRPr sz="1350" b="1">
              <a:solidFill>
                <a:srgbClr val="301256"/>
              </a:solidFill>
              <a:latin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616952" y="2761488"/>
            <a:ext cx="2103120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BKA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Best Known Algorithm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020" b="0">
                <a:solidFill>
                  <a:srgbClr val="24262D"/>
                </a:solidFill>
                <a:latin typeface="微软雅黑" panose="020B0503020204020204" charset="-122"/>
              </a:rPr>
              <a:t>作为当时强 baseline</a:t>
            </a:r>
            <a:endParaRPr sz="102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960120" y="4160520"/>
            <a:ext cx="4297680" cy="43891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24712" y="4279392"/>
            <a:ext cx="91440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1984"/>
                </a:solidFill>
                <a:latin typeface="微软雅黑" panose="020B0503020204020204" charset="-122"/>
              </a:rPr>
              <a:t>额外门数</a:t>
            </a:r>
            <a:endParaRPr sz="105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984248" y="4279392"/>
            <a:ext cx="301752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24262D"/>
                </a:solidFill>
                <a:latin typeface="微软雅黑" panose="020B0503020204020204" charset="-122"/>
              </a:rPr>
              <a:t>SWAP 会转成多个 CNOT，越少越好</a:t>
            </a:r>
            <a:endParaRPr sz="96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5760720" y="4160520"/>
            <a:ext cx="4297680" cy="43891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25312" y="4279392"/>
            <a:ext cx="91440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1984"/>
                </a:solidFill>
                <a:latin typeface="微软雅黑" panose="020B0503020204020204" charset="-122"/>
              </a:rPr>
              <a:t>线路深度</a:t>
            </a:r>
            <a:endParaRPr sz="105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784848" y="4279392"/>
            <a:ext cx="301752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24262D"/>
                </a:solidFill>
                <a:latin typeface="微软雅黑" panose="020B0503020204020204" charset="-122"/>
              </a:rPr>
              <a:t>决定执行时间和退相干风险</a:t>
            </a:r>
            <a:endParaRPr sz="96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60120" y="4745736"/>
            <a:ext cx="4297680" cy="43891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4712" y="4864607"/>
            <a:ext cx="91440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1984"/>
                </a:solidFill>
                <a:latin typeface="微软雅黑" panose="020B0503020204020204" charset="-122"/>
              </a:rPr>
              <a:t>运行时间</a:t>
            </a:r>
            <a:endParaRPr sz="105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984248" y="4864607"/>
            <a:ext cx="301752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24262D"/>
                </a:solidFill>
                <a:latin typeface="微软雅黑" panose="020B0503020204020204" charset="-122"/>
              </a:rPr>
              <a:t>编译器能否处理大线路</a:t>
            </a:r>
            <a:endParaRPr sz="96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5760720" y="4745736"/>
            <a:ext cx="4297680" cy="43891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25312" y="4864607"/>
            <a:ext cx="91440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1984"/>
                </a:solidFill>
                <a:latin typeface="微软雅黑" panose="020B0503020204020204" charset="-122"/>
              </a:rPr>
              <a:t>内存占用</a:t>
            </a:r>
            <a:endParaRPr sz="1050" b="1">
              <a:solidFill>
                <a:srgbClr val="4C198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784848" y="4864607"/>
            <a:ext cx="301752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24262D"/>
                </a:solidFill>
                <a:latin typeface="微软雅黑" panose="020B0503020204020204" charset="-122"/>
              </a:rPr>
              <a:t>大 benchmark 是否 OOM</a:t>
            </a:r>
            <a:endParaRPr sz="960" b="0">
              <a:solidFill>
                <a:srgbClr val="24262D"/>
              </a:solidFill>
              <a:latin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13232" y="5742432"/>
            <a:ext cx="10012680" cy="420624"/>
          </a:xfrm>
          <a:prstGeom prst="rect">
            <a:avLst/>
          </a:prstGeom>
          <a:solidFill>
            <a:srgbClr val="301256"/>
          </a:solidFill>
          <a:ln w="12700">
            <a:solidFill>
              <a:srgbClr val="301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6112" y="5843016"/>
            <a:ext cx="9601200" cy="204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实验评价同时看额外门数、线路深度、运行时间和内存占用。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6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13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9300" y="1244600"/>
            <a:ext cx="10414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实验结果：门数、时间、内存三个维度体现可扩展性</a:t>
            </a:r>
            <a:endParaRPr lang="zh-CN" altLang="en-US" sz="210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76400"/>
            <a:ext cx="10033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900">
                <a:solidFill>
                  <a:srgbClr val="5C505F"/>
                </a:solidFill>
                <a:latin typeface="微软雅黑" panose="020B0503020204020204" charset="-122"/>
              </a:rPr>
              <a:t>相比 BKA，SABRE 的优势不只是一项指标；关键是在线路质量、编译资源和可扩展性之间取得平衡。</a:t>
            </a:r>
            <a:endParaRPr sz="900">
              <a:solidFill>
                <a:srgbClr val="5C505F"/>
              </a:solidFill>
              <a:latin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14400" y="2179320"/>
            <a:ext cx="3111500" cy="19685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92200" y="2344420"/>
            <a:ext cx="27559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2300" b="1">
                <a:solidFill>
                  <a:srgbClr val="C53A70"/>
                </a:solidFill>
                <a:latin typeface="微软雅黑" panose="020B0503020204020204" charset="-122"/>
              </a:rPr>
              <a:t>≈10%</a:t>
            </a:r>
            <a:endParaRPr sz="2300" b="1">
              <a:solidFill>
                <a:srgbClr val="C53A70"/>
              </a:solidFill>
              <a:latin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2200" y="2814320"/>
            <a:ext cx="27559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Gate Reduction / </a:t>
            </a:r>
            <a:r>
              <a:rPr lang="zh-CN" altLang="en-US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门数优化</a:t>
            </a:r>
            <a:endParaRPr lang="zh-CN" altLang="en-US" sz="125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0" y="3131820"/>
            <a:ext cx="26543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40">
                <a:solidFill>
                  <a:srgbClr val="464646"/>
                </a:solidFill>
                <a:latin typeface="微软雅黑" panose="020B0503020204020204" charset="-122"/>
              </a:rPr>
              <a:t>large/qft benchmark 平均额外门减少约 10%；小线路可减少 91% 甚至完全消除额外门。</a:t>
            </a:r>
            <a:endParaRPr sz="84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457700" y="2179320"/>
            <a:ext cx="3111500" cy="19685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35500" y="2344420"/>
            <a:ext cx="27559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2300" b="1">
                <a:solidFill>
                  <a:srgbClr val="009187"/>
                </a:solidFill>
                <a:latin typeface="微软雅黑" panose="020B0503020204020204" charset="-122"/>
              </a:rPr>
              <a:t>5000×+</a:t>
            </a:r>
            <a:endParaRPr sz="2300" b="1">
              <a:solidFill>
                <a:srgbClr val="009187"/>
              </a:solidFill>
              <a:latin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35500" y="2814320"/>
            <a:ext cx="27559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Runtime / </a:t>
            </a:r>
            <a:r>
              <a:rPr lang="zh-CN" altLang="en-US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运行速度</a:t>
            </a:r>
            <a:endParaRPr lang="zh-CN" altLang="en-US" sz="125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86300" y="3131820"/>
            <a:ext cx="26543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40">
                <a:solidFill>
                  <a:srgbClr val="464646"/>
                </a:solidFill>
                <a:latin typeface="微软雅黑" panose="020B0503020204020204" charset="-122"/>
              </a:rPr>
              <a:t>部分 benchmark 加速数千倍：如 qft16 约 5652×、qft13 约 7396×。</a:t>
            </a:r>
            <a:endParaRPr sz="84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001000" y="2179320"/>
            <a:ext cx="3111500" cy="1968500"/>
          </a:xfrm>
          <a:prstGeom prst="roundRect">
            <a:avLst/>
          </a:prstGeom>
          <a:solidFill>
            <a:srgbClr val="FFEEF4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178800" y="2344420"/>
            <a:ext cx="27559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300" b="1">
                <a:solidFill>
                  <a:srgbClr val="C23556"/>
                </a:solidFill>
                <a:latin typeface="Arial" panose="020B0604020202020204" pitchFamily="34" charset="0"/>
                <a:ea typeface="微软雅黑" panose="020B0503020204020204" charset="-122"/>
              </a:rPr>
              <a:t>No OOM</a:t>
            </a:r>
            <a:endParaRPr lang="zh-CN" altLang="en-US" sz="2300" b="1">
              <a:solidFill>
                <a:srgbClr val="C2355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78800" y="2814320"/>
            <a:ext cx="27559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Memory / </a:t>
            </a:r>
            <a:r>
              <a:rPr lang="zh-CN" altLang="en-US" sz="1250" b="1">
                <a:solidFill>
                  <a:srgbClr val="2A2041"/>
                </a:solidFill>
                <a:latin typeface="Arial" panose="020B0604020202020204" pitchFamily="34" charset="0"/>
                <a:ea typeface="微软雅黑" panose="020B0503020204020204" charset="-122"/>
              </a:rPr>
              <a:t>内存占用</a:t>
            </a:r>
            <a:endParaRPr lang="zh-CN" altLang="en-US" sz="1250" b="1">
              <a:solidFill>
                <a:srgbClr val="2A204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29600" y="3131820"/>
            <a:ext cx="26543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40">
                <a:solidFill>
                  <a:srgbClr val="464646"/>
                </a:solidFill>
                <a:latin typeface="微软雅黑" panose="020B0503020204020204" charset="-122"/>
              </a:rPr>
              <a:t>BKA 在 ising16 / qft20 上超过 378GB 内存；SABRE 约 300MB、0.1s 仍可完成。</a:t>
            </a:r>
            <a:endParaRPr sz="84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130300" y="4465320"/>
            <a:ext cx="4635500" cy="838200"/>
          </a:xfrm>
          <a:prstGeom prst="roundRect">
            <a:avLst/>
          </a:prstGeom>
          <a:solidFill>
            <a:srgbClr val="E9F9F7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308100" y="4630420"/>
            <a:ext cx="42799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sz="1050" b="1">
                <a:solidFill>
                  <a:srgbClr val="007878"/>
                </a:solidFill>
                <a:latin typeface="微软雅黑" panose="020B0503020204020204" charset="-122"/>
              </a:rPr>
              <a:t>结论</a:t>
            </a:r>
            <a:endParaRPr sz="1050" b="1">
              <a:solidFill>
                <a:srgbClr val="007878"/>
              </a:solidFill>
              <a:latin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08100" y="4883150"/>
            <a:ext cx="427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20">
                <a:solidFill>
                  <a:srgbClr val="464646"/>
                </a:solidFill>
                <a:latin typeface="微软雅黑" panose="020B0503020204020204" charset="-122"/>
              </a:rPr>
              <a:t>SABRE 不保证全局最优；它用 reverse traversal 改善初始映射，用局部 SWAP 搜索换取可扩展性。</a:t>
            </a:r>
            <a:endParaRPr sz="82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299200" y="4465320"/>
            <a:ext cx="4635500" cy="83820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477000" y="4630420"/>
            <a:ext cx="42799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sz="1050" b="1">
                <a:solidFill>
                  <a:srgbClr val="B23669"/>
                </a:solidFill>
                <a:latin typeface="微软雅黑" panose="020B0503020204020204" charset="-122"/>
              </a:rPr>
              <a:t>局限</a:t>
            </a:r>
            <a:endParaRPr sz="1050" b="1">
              <a:solidFill>
                <a:srgbClr val="B23669"/>
              </a:solidFill>
              <a:latin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77000" y="4883150"/>
            <a:ext cx="427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820">
                <a:solidFill>
                  <a:srgbClr val="464646"/>
                </a:solidFill>
                <a:latin typeface="微软雅黑" panose="020B0503020204020204" charset="-122"/>
              </a:rPr>
              <a:t>少 SWAP 不必然等于最高保真度；真实设备还需考虑不同 qubit/edge 的噪声、动态校准与串扰。</a:t>
            </a:r>
            <a:endParaRPr sz="82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143000" y="5605272"/>
            <a:ext cx="9601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>
                <a:solidFill>
                  <a:srgbClr val="78697D"/>
                </a:solidFill>
                <a:latin typeface="微软雅黑" panose="020B0503020204020204" charset="-122"/>
              </a:rPr>
              <a:t>数据来源：论文 Table II 与 Evaluation；BKA 为 C++ 实现，SABRE 为 Python 实现。</a:t>
            </a:r>
            <a:endParaRPr sz="580">
              <a:solidFill>
                <a:srgbClr val="78697D"/>
              </a:solidFill>
              <a:latin typeface="微软雅黑" panose="020B0503020204020204" charset="-122"/>
            </a:endParaRPr>
          </a:p>
        </p:txBody>
      </p:sp>
      <p:sp>
        <p:nvSpPr>
          <p:cNvPr id="89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14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3" y="5733571"/>
            <a:ext cx="12192003" cy="1228924"/>
          </a:xfrm>
          <a:prstGeom prst="rect">
            <a:avLst/>
          </a:prstGeom>
          <a:solidFill>
            <a:srgbClr val="58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691103" y="-5691106"/>
            <a:ext cx="809791" cy="12192003"/>
          </a:xfrm>
          <a:prstGeom prst="rect">
            <a:avLst/>
          </a:prstGeom>
          <a:gradFill flip="none" rotWithShape="1">
            <a:gsLst>
              <a:gs pos="100000">
                <a:srgbClr val="901E68"/>
              </a:gs>
              <a:gs pos="100000">
                <a:srgbClr val="992164"/>
              </a:gs>
              <a:gs pos="82000">
                <a:srgbClr val="7C1771"/>
              </a:gs>
              <a:gs pos="62000">
                <a:srgbClr val="580C6E">
                  <a:lumMod val="96000"/>
                  <a:lumOff val="4000"/>
                </a:srgbClr>
              </a:gs>
              <a:gs pos="100000">
                <a:srgbClr val="AC2761">
                  <a:lumMod val="99000"/>
                  <a:lumOff val="1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66488" y="147020"/>
            <a:ext cx="1825969" cy="561818"/>
            <a:chOff x="9730702" y="211219"/>
            <a:chExt cx="2374282" cy="701101"/>
          </a:xfrm>
        </p:grpSpPr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1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81" name="矩形 80"/>
          <p:cNvSpPr/>
          <p:nvPr/>
        </p:nvSpPr>
        <p:spPr>
          <a:xfrm>
            <a:off x="594192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背景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594891" y="847934"/>
            <a:ext cx="8814880" cy="7858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5400000">
            <a:off x="10185210" y="-1080269"/>
            <a:ext cx="78589" cy="3934993"/>
          </a:xfrm>
          <a:prstGeom prst="rect">
            <a:avLst/>
          </a:prstGeom>
          <a:solidFill>
            <a:srgbClr val="580C6E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2"/>
          <a:stretch>
            <a:fillRect/>
          </a:stretch>
        </p:blipFill>
        <p:spPr>
          <a:xfrm>
            <a:off x="10261880" y="-20451"/>
            <a:ext cx="1763632" cy="823871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2520254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问题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46316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难点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72378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98440" y="963236"/>
            <a:ext cx="1184921" cy="246221"/>
          </a:xfrm>
          <a:prstGeom prst="rect">
            <a:avLst/>
          </a:prstGeom>
          <a:solidFill>
            <a:srgbClr val="9672A0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实验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24504" y="963236"/>
            <a:ext cx="1184921" cy="246221"/>
          </a:xfrm>
          <a:prstGeom prst="rect">
            <a:avLst/>
          </a:prstGeom>
          <a:solidFill>
            <a:srgbClr val="660066"/>
          </a:solidFill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1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9300" y="12446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sz="2000" b="1">
                <a:solidFill>
                  <a:srgbClr val="30153B"/>
                </a:solidFill>
                <a:latin typeface="微软雅黑" panose="020B0503020204020204" charset="-122"/>
              </a:rPr>
              <a:t>总结与展望：SABRE 的贡献与后续方向</a:t>
            </a:r>
            <a:endParaRPr sz="2000" b="1">
              <a:solidFill>
                <a:srgbClr val="30153B"/>
              </a:solidFill>
              <a:latin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7400" y="1676400"/>
            <a:ext cx="100330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sz="900">
                <a:solidFill>
                  <a:srgbClr val="5C505F"/>
                </a:solidFill>
                <a:latin typeface="微软雅黑" panose="020B0503020204020204" charset="-122"/>
              </a:rPr>
              <a:t>SABRE 将 qubit mapping 从全局穷举式搜索推进到可扩展的硬件感知启发式编译。</a:t>
            </a:r>
            <a:endParaRPr sz="900">
              <a:solidFill>
                <a:srgbClr val="5C505F"/>
              </a:solidFill>
              <a:latin typeface="微软雅黑" panose="020B050302020402020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117600" y="2311400"/>
            <a:ext cx="4699000" cy="1041400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295400" y="2476500"/>
            <a:ext cx="4343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2C70D8"/>
                </a:solidFill>
                <a:latin typeface="Arial" panose="020B0604020202020204" pitchFamily="34" charset="0"/>
                <a:ea typeface="微软雅黑" panose="020B0503020204020204" charset="-122"/>
              </a:rPr>
              <a:t>高效</a:t>
            </a:r>
            <a:endParaRPr lang="zh-CN" altLang="en-US" sz="1300" b="1">
              <a:solidFill>
                <a:srgbClr val="2C70D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95400" y="2819400"/>
            <a:ext cx="4343400" cy="3323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启发式搜索快速找到近优解
无需枚举所有 </a:t>
            </a:r>
            <a:r>
              <a:rPr lang="en-US" altLang="zh-CN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mapping</a:t>
            </a:r>
            <a:endParaRPr lang="zh-CN" altLang="en-US" sz="108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515100" y="2311400"/>
            <a:ext cx="4699000" cy="10414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692900" y="2476500"/>
            <a:ext cx="4343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09688"/>
                </a:solidFill>
                <a:latin typeface="Arial" panose="020B0604020202020204" pitchFamily="34" charset="0"/>
                <a:ea typeface="微软雅黑" panose="020B0503020204020204" charset="-122"/>
              </a:rPr>
              <a:t>可扩展</a:t>
            </a:r>
            <a:endParaRPr lang="zh-CN" altLang="en-US" sz="1300" b="1">
              <a:solidFill>
                <a:srgbClr val="00968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92900" y="2819400"/>
            <a:ext cx="4343400" cy="3323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多项式级候选搜索
适配更大规模量子硬件</a:t>
            </a:r>
            <a:endParaRPr lang="zh-CN" altLang="en-US" sz="108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117600" y="3733800"/>
            <a:ext cx="4699000" cy="10414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295400" y="3898900"/>
            <a:ext cx="4343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660066"/>
                </a:solidFill>
                <a:latin typeface="Arial" panose="020B0604020202020204" pitchFamily="34" charset="0"/>
                <a:ea typeface="微软雅黑" panose="020B0503020204020204" charset="-122"/>
              </a:rPr>
              <a:t>方法论价值</a:t>
            </a:r>
            <a:endParaRPr lang="zh-CN" altLang="en-US" sz="1300" b="1">
              <a:solidFill>
                <a:srgbClr val="660066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95400" y="4241800"/>
            <a:ext cx="4343400" cy="3323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从全局搜索到增量决策
利用可逆性改善初始映射</a:t>
            </a:r>
            <a:endParaRPr lang="zh-CN" altLang="en-US" sz="108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6515100" y="3733800"/>
            <a:ext cx="4699000" cy="104140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D5CD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692900" y="3898900"/>
            <a:ext cx="4343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C9123"/>
                </a:solidFill>
                <a:latin typeface="Arial" panose="020B0604020202020204" pitchFamily="34" charset="0"/>
                <a:ea typeface="微软雅黑" panose="020B0503020204020204" charset="-122"/>
              </a:rPr>
              <a:t>工程实用</a:t>
            </a:r>
            <a:endParaRPr lang="zh-CN" altLang="en-US" sz="1300" b="1">
              <a:solidFill>
                <a:srgbClr val="EC912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92900" y="4241800"/>
            <a:ext cx="4343400" cy="3323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思想已进入主流编译器
成为 </a:t>
            </a:r>
            <a:r>
              <a:rPr lang="en-US" altLang="zh-CN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NISQ </a:t>
            </a:r>
            <a:r>
              <a:rPr lang="zh-CN" altLang="en-US" sz="1080">
                <a:solidFill>
                  <a:srgbClr val="212121"/>
                </a:solidFill>
                <a:latin typeface="Arial" panose="020B0604020202020204" pitchFamily="34" charset="0"/>
                <a:ea typeface="微软雅黑" panose="020B0503020204020204" charset="-122"/>
              </a:rPr>
              <a:t>编译重要基线</a:t>
            </a:r>
            <a:endParaRPr lang="zh-CN" altLang="en-US" sz="1080">
              <a:solidFill>
                <a:srgbClr val="21212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117600" y="5105400"/>
            <a:ext cx="10096500" cy="584200"/>
          </a:xfrm>
          <a:prstGeom prst="roundRect">
            <a:avLst/>
          </a:prstGeom>
          <a:solidFill>
            <a:srgbClr val="FFFAEE"/>
          </a:solidFill>
          <a:ln w="12700">
            <a:solidFill>
              <a:srgbClr val="EECD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397000" y="5245100"/>
            <a:ext cx="9588500" cy="1862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sz="820" b="1">
                <a:solidFill>
                  <a:srgbClr val="B47416"/>
                </a:solidFill>
                <a:latin typeface="微软雅黑" panose="020B0503020204020204" charset="-122"/>
              </a:rPr>
              <a:t>未来方向：Noise-aware Mapping、Hardware-aware Compilation、Learning-based Mapping</a:t>
            </a:r>
            <a:endParaRPr sz="820" b="1">
              <a:solidFill>
                <a:srgbClr val="B47416"/>
              </a:solidFill>
              <a:latin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24000" y="5513832"/>
            <a:ext cx="9334500" cy="1097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sz="650">
                <a:solidFill>
                  <a:srgbClr val="5F4B23"/>
                </a:solidFill>
                <a:latin typeface="微软雅黑" panose="020B0503020204020204" charset="-122"/>
              </a:rPr>
              <a:t>后续工作可将噪声模型、门保真度和动态校准信息纳入 cost function。</a:t>
            </a:r>
            <a:endParaRPr sz="650">
              <a:solidFill>
                <a:srgbClr val="5F4B23"/>
              </a:solidFill>
              <a:latin typeface="微软雅黑" panose="020B0503020204020204" charset="-122"/>
            </a:endParaRPr>
          </a:p>
        </p:txBody>
      </p:sp>
      <p:sp>
        <p:nvSpPr>
          <p:cNvPr id="88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15 / 16</a:t>
            </a:r>
            <a:endParaRPr sz="800">
              <a:solidFill>
                <a:srgbClr val="6B7280"/>
              </a:solidFill>
              <a:latin typeface="Apto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/>
    <mc:Fallback/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17748" y="-15897"/>
            <a:ext cx="12227495" cy="6857999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24486">
            <a:off x="-135700" y="-4437113"/>
            <a:ext cx="10609201" cy="14974172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矩形 21"/>
          <p:cNvSpPr/>
          <p:nvPr/>
        </p:nvSpPr>
        <p:spPr>
          <a:xfrm>
            <a:off x="33890" y="0"/>
            <a:ext cx="12227495" cy="6857999"/>
          </a:xfrm>
          <a:prstGeom prst="rect">
            <a:avLst/>
          </a:prstGeom>
          <a:gradFill flip="none" rotWithShape="1">
            <a:gsLst>
              <a:gs pos="95000">
                <a:srgbClr val="992164"/>
              </a:gs>
              <a:gs pos="73000">
                <a:srgbClr val="7A1769">
                  <a:alpha val="50000"/>
                </a:srgbClr>
              </a:gs>
              <a:gs pos="0">
                <a:srgbClr val="580C6E">
                  <a:alpha val="78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1926153" y="1870223"/>
            <a:ext cx="106758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9600" spc="13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雪君体简" panose="02010604000101010101" pitchFamily="2" charset="-122"/>
              <a:ea typeface="金桥简行楷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70667" y="287180"/>
            <a:ext cx="3277389" cy="1008394"/>
            <a:chOff x="9730702" y="211219"/>
            <a:chExt cx="2374282" cy="701101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biLevel thresh="25000"/>
            </a:blip>
            <a:srcRect l="30188"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4303594" y="3658243"/>
            <a:ext cx="3887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  <p:pic>
        <p:nvPicPr>
          <p:cNvPr id="23" name="图片 22" descr="建筑的设计&#10;&#10;描述已自动生成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701" y="4616132"/>
            <a:ext cx="3360499" cy="225496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10435" y="3067050"/>
            <a:ext cx="787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Thanks for listening</a:t>
            </a:r>
            <a:endParaRPr lang="zh-CN" altLang="en-US" sz="3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21000" y="3843020"/>
            <a:ext cx="660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汇报人：计</a:t>
            </a:r>
            <a:r>
              <a:rPr lang="en-US" altLang="zh-CN" sz="16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42 </a:t>
            </a:r>
            <a:r>
              <a:rPr lang="zh-CN" altLang="en-US" sz="16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张芝源，计</a:t>
            </a:r>
            <a:r>
              <a:rPr lang="en-US" altLang="zh-CN" sz="16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42 </a:t>
            </a:r>
            <a:r>
              <a:rPr lang="zh-CN" altLang="en-US" sz="16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陈家睦</a:t>
            </a:r>
            <a:endParaRPr lang="zh-CN" altLang="en-US" sz="16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9" name="slide_page_number_codex"/>
          <p:cNvSpPr txBox="1"/>
          <p:nvPr/>
        </p:nvSpPr>
        <p:spPr>
          <a:xfrm>
            <a:off x="11350752" y="6528816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F5F7FA"/>
                </a:solidFill>
                <a:latin typeface="Aptos"/>
              </a:rPr>
              <a:t>16 / 16</a:t>
            </a:r>
            <a:endParaRPr sz="800">
              <a:solidFill>
                <a:srgbClr val="F5F7FA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/>
    <mc:Fallback/>
  </mc:AlternateContent>
</p:sld>
</file>

<file path=ppt/tags/tag1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3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4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5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6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7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8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9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0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1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2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3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4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5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6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7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8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19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0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1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2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3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4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5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6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7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8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29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30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31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32.xml><?xml version="1.0" encoding="utf-8"?>
<p:tagLst xmlns:p="http://schemas.openxmlformats.org/presentationml/2006/main">
  <p:tag name="KSO_WM_DIAGRAM_VIRTUALLY_FRAME" val="{&quot;height&quot;:540,&quot;left&quot;:274.05,&quot;top&quot;:0,&quot;width&quot;:685.9}"/>
</p:tagLst>
</file>

<file path=ppt/tags/tag33.xml><?xml version="1.0" encoding="utf-8"?>
<p:tagLst xmlns:p="http://schemas.openxmlformats.org/presentationml/2006/main">
  <p:tag name="ISLIDE.ICON" val="#370237;"/>
</p:tagLst>
</file>

<file path=ppt/tags/tag34.xml><?xml version="1.0" encoding="utf-8"?>
<p:tagLst xmlns:p="http://schemas.openxmlformats.org/presentationml/2006/main">
  <p:tag name="ISLIDE.ICON" val="#370237;"/>
</p:tagLst>
</file>

<file path=ppt/tags/tag35.xml><?xml version="1.0" encoding="utf-8"?>
<p:tagLst xmlns:p="http://schemas.openxmlformats.org/presentationml/2006/main">
  <p:tag name="ISLIDE.ICON" val="#370237;"/>
</p:tagLst>
</file>

<file path=ppt/tags/tag36.xml><?xml version="1.0" encoding="utf-8"?>
<p:tagLst xmlns:p="http://schemas.openxmlformats.org/presentationml/2006/main">
  <p:tag name="ISLIDE.ICON" val="#370237;"/>
</p:tagLst>
</file>

<file path=ppt/tags/tag37.xml><?xml version="1.0" encoding="utf-8"?>
<p:tagLst xmlns:p="http://schemas.openxmlformats.org/presentationml/2006/main">
  <p:tag name="ISLIDE.ICON" val="#370237;"/>
</p:tagLst>
</file>

<file path=ppt/tags/tag38.xml><?xml version="1.0" encoding="utf-8"?>
<p:tagLst xmlns:p="http://schemas.openxmlformats.org/presentationml/2006/main">
  <p:tag name="ISLIDE.ICON" val="#370237;"/>
</p:tagLst>
</file>

<file path=ppt/tags/tag39.xml><?xml version="1.0" encoding="utf-8"?>
<p:tagLst xmlns:p="http://schemas.openxmlformats.org/presentationml/2006/main">
  <p:tag name="ISLIDE.ICON" val="#370237;"/>
</p:tagLst>
</file>

<file path=ppt/tags/tag40.xml><?xml version="1.0" encoding="utf-8"?>
<p:tagLst xmlns:p="http://schemas.openxmlformats.org/presentationml/2006/main">
  <p:tag name="ISLIDE.ICON" val="#370237;"/>
</p:tagLst>
</file>

<file path=ppt/tags/tag41.xml><?xml version="1.0" encoding="utf-8"?>
<p:tagLst xmlns:p="http://schemas.openxmlformats.org/presentationml/2006/main">
  <p:tag name="ISLIDE.ICON" val="#370237;"/>
</p:tagLst>
</file>

<file path=ppt/tags/tag42.xml><?xml version="1.0" encoding="utf-8"?>
<p:tagLst xmlns:p="http://schemas.openxmlformats.org/presentationml/2006/main">
  <p:tag name="ISLIDE.ICON" val="#370237;"/>
</p:tagLst>
</file>

<file path=ppt/tags/tag43.xml><?xml version="1.0" encoding="utf-8"?>
<p:tagLst xmlns:p="http://schemas.openxmlformats.org/presentationml/2006/main">
  <p:tag name="ISLIDE.ICON" val="#370237;"/>
</p:tagLst>
</file>

<file path=ppt/tags/tag44.xml><?xml version="1.0" encoding="utf-8"?>
<p:tagLst xmlns:p="http://schemas.openxmlformats.org/presentationml/2006/main">
  <p:tag name="ISLIDE.ICON" val="#370237;"/>
</p:tagLst>
</file>

<file path=ppt/tags/tag45.xml><?xml version="1.0" encoding="utf-8"?>
<p:tagLst xmlns:p="http://schemas.openxmlformats.org/presentationml/2006/main">
  <p:tag name="ISLIDE.ICON" val="#37023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5129</Words>
  <Application>WPS 演示</Application>
  <PresentationFormat>宽屏</PresentationFormat>
  <Paragraphs>714</Paragraphs>
  <Slides>16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汉仪雪君体简</vt:lpstr>
      <vt:lpstr>金桥简行楷</vt:lpstr>
      <vt:lpstr>微软雅黑 Light</vt:lpstr>
      <vt:lpstr>Microsoft YaHei UI</vt:lpstr>
      <vt:lpstr>微软雅黑</vt:lpstr>
      <vt:lpstr>Aptos</vt:lpstr>
      <vt:lpstr>Segoe UI</vt:lpstr>
      <vt:lpstr>HelveticaExt-Normal</vt:lpstr>
      <vt:lpstr>思源宋体 CN Heavy</vt:lpstr>
      <vt:lpstr>阿里巴巴普惠体 R</vt:lpstr>
      <vt:lpstr>思源宋体 CN Medium</vt:lpstr>
      <vt:lpstr>Cambria Math</vt:lpstr>
      <vt:lpstr>等线</vt:lpstr>
      <vt:lpstr>Arial Unicode MS</vt:lpstr>
      <vt:lpstr>等线 Light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张芝源(2024010701)</cp:lastModifiedBy>
  <cp:revision>109</cp:revision>
  <dcterms:created xsi:type="dcterms:W3CDTF">2021-06-01T08:57:00Z</dcterms:created>
  <dcterms:modified xsi:type="dcterms:W3CDTF">2026-06-07T15:39:09Z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81907C837B7C473592253A54797DB0D3</vt:lpwstr>
  </property>
  <property fmtid="{D5CDD505-2E9C-101B-9397-08002B2CF9AE}" pid="3" name="KSOProductBuildVer">
    <vt:lpwstr>2052-12.1.0.26375</vt:lpwstr>
  </property>
</Properties>
</file>